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Ex1.xml" ContentType="application/vnd.ms-office.chartex+xml"/>
  <Override PartName="/ppt/charts/style2.xml" ContentType="application/vnd.ms-office.chartstyle+xml"/>
  <Override PartName="/ppt/charts/colors2.xml" ContentType="application/vnd.ms-office.chartcolorstyle+xml"/>
  <Override PartName="/ppt/charts/chart2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3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4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5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6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7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8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9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0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1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76" r:id="rId5"/>
    <p:sldId id="261" r:id="rId6"/>
    <p:sldId id="271" r:id="rId7"/>
    <p:sldId id="268" r:id="rId8"/>
    <p:sldId id="269" r:id="rId9"/>
    <p:sldId id="262" r:id="rId10"/>
    <p:sldId id="263" r:id="rId11"/>
    <p:sldId id="264" r:id="rId12"/>
    <p:sldId id="270" r:id="rId13"/>
    <p:sldId id="266" r:id="rId14"/>
    <p:sldId id="267" r:id="rId15"/>
    <p:sldId id="265" r:id="rId16"/>
    <p:sldId id="272" r:id="rId17"/>
    <p:sldId id="273" r:id="rId18"/>
    <p:sldId id="274" r:id="rId19"/>
    <p:sldId id="275" r:id="rId20"/>
    <p:sldId id="277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account" initials="Ma" lastIdx="1" clrIdx="0">
    <p:extLst>
      <p:ext uri="{19B8F6BF-5375-455C-9EA6-DF929625EA0E}">
        <p15:presenceInfo xmlns:p15="http://schemas.microsoft.com/office/powerpoint/2012/main" userId="5c6e57dd2037f2e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3D9"/>
    <a:srgbClr val="C12028"/>
    <a:srgbClr val="DBEBE1"/>
    <a:srgbClr val="DAEAE0"/>
    <a:srgbClr val="EEF0ED"/>
    <a:srgbClr val="D6D8B1"/>
    <a:srgbClr val="DF7A70"/>
    <a:srgbClr val="FDFFFE"/>
    <a:srgbClr val="FCFEF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83" d="100"/>
          <a:sy n="83" d="100"/>
        </p:scale>
        <p:origin x="435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rati\OneDrive\Desktop\sahoo%20sir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rati\OneDrive\Desktop\sahoo%20sir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rati\OneDrive\Desktop\sahoo%20sir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rati\OneDrive\Desktop\sahoo%20sir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rati\OneDrive\Desktop\sahoo%20sir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rati\OneDrive\Desktop\sahoo%20sir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rati\OneDrive\Desktop\sahoo%20sir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rati\OneDrive\Desktop\sahoo%20sir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rati\OneDrive\Desktop\sahoo%20sir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rati\OneDrive\Desktop\sahoo%20sir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rati\OneDrive\Desktop\sahoo%20sir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file:///C:\IIPS_SEM%201\IAIR7ADT\Book2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0" i="0" u="none" strike="noStrike" kern="1200" cap="none" spc="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IN" b="1" dirty="0">
                <a:solidFill>
                  <a:schemeClr val="tx1"/>
                </a:solidFill>
              </a:rPr>
              <a:t>Overall Prevalence of Domestic Violence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0" i="0" u="none" strike="noStrike" kern="1200" cap="none" spc="50" normalizeH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overall!$C$7</c:f>
              <c:strCache>
                <c:ptCount val="1"/>
                <c:pt idx="0">
                  <c:v>Percentage of women (%)</c:v>
                </c:pt>
              </c:strCache>
            </c:strRef>
          </c:tx>
          <c:spPr>
            <a:solidFill>
              <a:schemeClr val="accent1">
                <a:lumMod val="50000"/>
                <a:alpha val="7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overall!$B$8:$B$9</c:f>
              <c:strCache>
                <c:ptCount val="2"/>
                <c:pt idx="0">
                  <c:v>No</c:v>
                </c:pt>
                <c:pt idx="1">
                  <c:v>Yes</c:v>
                </c:pt>
              </c:strCache>
            </c:strRef>
          </c:cat>
          <c:val>
            <c:numRef>
              <c:f>overall!$C$8:$C$9</c:f>
              <c:numCache>
                <c:formatCode>0.00%</c:formatCode>
                <c:ptCount val="2"/>
                <c:pt idx="0">
                  <c:v>0.69769999999999999</c:v>
                </c:pt>
                <c:pt idx="1">
                  <c:v>0.30230000000000001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47-4659-BBE5-1265DC1C29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25"/>
        <c:axId val="676266848"/>
        <c:axId val="676268416"/>
      </c:barChart>
      <c:catAx>
        <c:axId val="67626684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 dirty="0">
                    <a:solidFill>
                      <a:schemeClr val="tx1"/>
                    </a:solidFill>
                  </a:rPr>
                  <a:t>Domestic Violence Experience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587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none" spc="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76268416"/>
        <c:crosses val="autoZero"/>
        <c:auto val="1"/>
        <c:lblAlgn val="ctr"/>
        <c:lblOffset val="100"/>
        <c:noMultiLvlLbl val="0"/>
      </c:catAx>
      <c:valAx>
        <c:axId val="6762684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 dirty="0">
                    <a:solidFill>
                      <a:schemeClr val="tx1"/>
                    </a:solidFill>
                  </a:rPr>
                  <a:t>Percentage of Women (%)</a:t>
                </a:r>
              </a:p>
            </c:rich>
          </c:tx>
          <c:layout>
            <c:manualLayout>
              <c:xMode val="edge"/>
              <c:yMode val="edge"/>
              <c:x val="0"/>
              <c:y val="0.2796110770563579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762668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cap="none" spc="50" normalizeH="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IN" b="1">
                <a:solidFill>
                  <a:schemeClr val="tx1">
                    <a:lumMod val="95000"/>
                    <a:lumOff val="5000"/>
                  </a:schemeClr>
                </a:solidFill>
              </a:rPr>
              <a:t>Domestic Violence by Place of Residence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none" spc="50" normalizeH="0" baseline="0">
              <a:solidFill>
                <a:schemeClr val="tx1">
                  <a:lumMod val="95000"/>
                  <a:lumOff val="5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residence!$D$6</c:f>
              <c:strCache>
                <c:ptCount val="1"/>
                <c:pt idx="0">
                  <c:v>% women experiencing domestic violence (Y-axis)</c:v>
                </c:pt>
              </c:strCache>
            </c:strRef>
          </c:tx>
          <c:spPr>
            <a:solidFill>
              <a:schemeClr val="accent1">
                <a:lumMod val="50000"/>
                <a:alpha val="7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residence!$C$7:$C$8</c:f>
              <c:strCache>
                <c:ptCount val="2"/>
                <c:pt idx="0">
                  <c:v>Urban</c:v>
                </c:pt>
                <c:pt idx="1">
                  <c:v>Rural</c:v>
                </c:pt>
              </c:strCache>
            </c:strRef>
          </c:cat>
          <c:val>
            <c:numRef>
              <c:f>residence!$D$7:$D$8</c:f>
              <c:numCache>
                <c:formatCode>0.00%</c:formatCode>
                <c:ptCount val="2"/>
                <c:pt idx="0">
                  <c:v>0.2712</c:v>
                </c:pt>
                <c:pt idx="1">
                  <c:v>0.33710000000000001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74-487F-8BFB-DB623BF025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25"/>
        <c:axId val="815484792"/>
        <c:axId val="815489888"/>
      </c:barChart>
      <c:catAx>
        <c:axId val="81548479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cap="all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Place of Residence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1" i="0" u="none" strike="noStrike" kern="1200" cap="all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587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none" spc="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15489888"/>
        <c:crosses val="autoZero"/>
        <c:auto val="1"/>
        <c:lblAlgn val="ctr"/>
        <c:lblOffset val="100"/>
        <c:noMultiLvlLbl val="0"/>
      </c:catAx>
      <c:valAx>
        <c:axId val="815489888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cap="all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percentage experiencing domestic violence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cap="all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%" sourceLinked="1"/>
        <c:majorTickMark val="none"/>
        <c:minorTickMark val="none"/>
        <c:tickLblPos val="nextTo"/>
        <c:crossAx val="8154847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cap="none" spc="50" normalizeH="0" baseline="0">
                <a:solidFill>
                  <a:schemeClr val="bg2">
                    <a:lumMod val="10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IN" b="1">
                <a:solidFill>
                  <a:schemeClr val="bg2">
                    <a:lumMod val="10000"/>
                  </a:schemeClr>
                </a:solidFill>
              </a:rPr>
              <a:t>Domestic Violence by Religion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none" spc="50" normalizeH="0" baseline="0">
              <a:solidFill>
                <a:schemeClr val="bg2">
                  <a:lumMod val="10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9.6428824732545229E-2"/>
          <c:y val="0.1461258124681557"/>
          <c:w val="0.90357117526745478"/>
          <c:h val="0.4676980090026225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religion!$C$7</c:f>
              <c:strCache>
                <c:ptCount val="1"/>
                <c:pt idx="0">
                  <c:v>% experiencing domestic violence (Y-axis)</c:v>
                </c:pt>
              </c:strCache>
            </c:strRef>
          </c:tx>
          <c:spPr>
            <a:solidFill>
              <a:schemeClr val="accent1">
                <a:lumMod val="50000"/>
                <a:alpha val="7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religion!$B$8:$B$17</c:f>
              <c:strCache>
                <c:ptCount val="10"/>
                <c:pt idx="0">
                  <c:v>Hindu</c:v>
                </c:pt>
                <c:pt idx="1">
                  <c:v>Muslim</c:v>
                </c:pt>
                <c:pt idx="2">
                  <c:v>Christian</c:v>
                </c:pt>
                <c:pt idx="3">
                  <c:v>Sikh</c:v>
                </c:pt>
                <c:pt idx="4">
                  <c:v>Buddhist / Neo-Buddhist</c:v>
                </c:pt>
                <c:pt idx="5">
                  <c:v>Jain</c:v>
                </c:pt>
                <c:pt idx="6">
                  <c:v>Jewish</c:v>
                </c:pt>
                <c:pt idx="7">
                  <c:v>Parsi / Zoroastrian</c:v>
                </c:pt>
                <c:pt idx="8">
                  <c:v>No religion</c:v>
                </c:pt>
                <c:pt idx="9">
                  <c:v>Other</c:v>
                </c:pt>
              </c:strCache>
            </c:strRef>
          </c:cat>
          <c:val>
            <c:numRef>
              <c:f>religion!$C$8:$C$17</c:f>
              <c:numCache>
                <c:formatCode>0.00%</c:formatCode>
                <c:ptCount val="10"/>
                <c:pt idx="0">
                  <c:v>0.32440000000000002</c:v>
                </c:pt>
                <c:pt idx="1">
                  <c:v>0.30099999999999999</c:v>
                </c:pt>
                <c:pt idx="2">
                  <c:v>0.25900000000000001</c:v>
                </c:pt>
                <c:pt idx="3">
                  <c:v>0.12429999999999999</c:v>
                </c:pt>
                <c:pt idx="4">
                  <c:v>0.31340000000000001</c:v>
                </c:pt>
                <c:pt idx="5">
                  <c:v>0.20219999999999999</c:v>
                </c:pt>
                <c:pt idx="6" formatCode="0%">
                  <c:v>1</c:v>
                </c:pt>
                <c:pt idx="7">
                  <c:v>0.54169999999999996</c:v>
                </c:pt>
                <c:pt idx="8">
                  <c:v>0.1153</c:v>
                </c:pt>
                <c:pt idx="9">
                  <c:v>0.28739999999999999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56-4659-8B54-F3435C149CE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overlap val="25"/>
        <c:axId val="815486752"/>
        <c:axId val="815481656"/>
      </c:barChart>
      <c:catAx>
        <c:axId val="81548675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cap="all" baseline="0">
                    <a:solidFill>
                      <a:schemeClr val="bg2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>
                    <a:solidFill>
                      <a:schemeClr val="bg2">
                        <a:lumMod val="10000"/>
                      </a:schemeClr>
                    </a:solidFill>
                  </a:rPr>
                  <a:t>Religion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1" i="0" u="none" strike="noStrike" kern="1200" cap="all" baseline="0">
                  <a:solidFill>
                    <a:schemeClr val="bg2">
                      <a:lumMod val="1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587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cap="none" spc="20" normalizeH="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15481656"/>
        <c:crosses val="autoZero"/>
        <c:auto val="1"/>
        <c:lblAlgn val="ctr"/>
        <c:lblOffset val="100"/>
        <c:noMultiLvlLbl val="0"/>
      </c:catAx>
      <c:valAx>
        <c:axId val="815481656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cap="all" baseline="0">
                    <a:solidFill>
                      <a:schemeClr val="bg2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 dirty="0">
                    <a:solidFill>
                      <a:schemeClr val="bg2">
                        <a:lumMod val="10000"/>
                      </a:schemeClr>
                    </a:solidFill>
                  </a:rPr>
                  <a:t>Percentage of women experiencing violence</a:t>
                </a:r>
              </a:p>
            </c:rich>
          </c:tx>
          <c:layout>
            <c:manualLayout>
              <c:xMode val="edge"/>
              <c:yMode val="edge"/>
              <c:x val="2.6779022268568483E-2"/>
              <c:y val="0.1285819568582315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cap="all" baseline="0">
                  <a:solidFill>
                    <a:schemeClr val="bg2">
                      <a:lumMod val="1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%" sourceLinked="1"/>
        <c:majorTickMark val="none"/>
        <c:minorTickMark val="none"/>
        <c:tickLblPos val="nextTo"/>
        <c:crossAx val="8154867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0" i="0" u="none" strike="noStrike" kern="1200" cap="none" spc="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IN" b="1" dirty="0">
                <a:solidFill>
                  <a:schemeClr val="tx1"/>
                </a:solidFill>
              </a:rPr>
              <a:t>Domestic Violence by Age Group </a:t>
            </a:r>
          </a:p>
          <a:p>
            <a:pPr>
              <a:defRPr/>
            </a:pPr>
            <a:endParaRPr lang="en-IN" b="1" dirty="0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0.16671792100681096"/>
          <c:y val="6.840304474340105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0" i="0" u="none" strike="noStrike" kern="1200" cap="none" spc="50" normalizeH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cs typeface="+mj-cs"/>
            </a:defRPr>
          </a:pPr>
          <a:endParaRPr lang="en-IN"/>
        </a:p>
      </c:txPr>
    </c:title>
    <c:autoTitleDeleted val="0"/>
    <c:plotArea>
      <c:layout>
        <c:manualLayout>
          <c:layoutTarget val="inner"/>
          <c:xMode val="edge"/>
          <c:yMode val="edge"/>
          <c:x val="0.18888231124857038"/>
          <c:y val="0.22303656555673299"/>
          <c:w val="0.79251968532763972"/>
          <c:h val="0.6421048568405962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age!$C$5</c:f>
              <c:strCache>
                <c:ptCount val="1"/>
                <c:pt idx="0">
                  <c:v>% women experiencing domestic violence (Y-axis)</c:v>
                </c:pt>
              </c:strCache>
            </c:strRef>
          </c:tx>
          <c:spPr>
            <a:solidFill>
              <a:schemeClr val="accent1">
                <a:lumMod val="50000"/>
                <a:alpha val="7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age!$B$6:$B$12</c:f>
              <c:strCache>
                <c:ptCount val="7"/>
                <c:pt idx="0">
                  <c:v>15–19</c:v>
                </c:pt>
                <c:pt idx="1">
                  <c:v>20–24</c:v>
                </c:pt>
                <c:pt idx="2">
                  <c:v>25–29</c:v>
                </c:pt>
                <c:pt idx="3">
                  <c:v>30–34</c:v>
                </c:pt>
                <c:pt idx="4">
                  <c:v>35–39</c:v>
                </c:pt>
                <c:pt idx="5">
                  <c:v>40–44</c:v>
                </c:pt>
                <c:pt idx="6">
                  <c:v>45–49</c:v>
                </c:pt>
              </c:strCache>
            </c:strRef>
          </c:cat>
          <c:val>
            <c:numRef>
              <c:f>age!$C$6:$C$12</c:f>
              <c:numCache>
                <c:formatCode>0.00%</c:formatCode>
                <c:ptCount val="7"/>
                <c:pt idx="0">
                  <c:v>0.2316</c:v>
                </c:pt>
                <c:pt idx="1">
                  <c:v>0.28079999999999999</c:v>
                </c:pt>
                <c:pt idx="2">
                  <c:v>0.30580000000000002</c:v>
                </c:pt>
                <c:pt idx="3">
                  <c:v>0.32019999999999998</c:v>
                </c:pt>
                <c:pt idx="4">
                  <c:v>0.32969999999999999</c:v>
                </c:pt>
                <c:pt idx="5">
                  <c:v>0.3397</c:v>
                </c:pt>
                <c:pt idx="6">
                  <c:v>0.33019999999999999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7E8-43A1-BAB1-A1CD625E970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overlap val="25"/>
        <c:axId val="676258224"/>
        <c:axId val="676259792"/>
      </c:barChart>
      <c:catAx>
        <c:axId val="67625822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 dirty="0">
                    <a:solidFill>
                      <a:schemeClr val="tx1"/>
                    </a:solidFill>
                  </a:rPr>
                  <a:t>Age group of women (in 5-year intervals)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587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none" spc="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76259792"/>
        <c:crosses val="autoZero"/>
        <c:auto val="1"/>
        <c:lblAlgn val="ctr"/>
        <c:lblOffset val="100"/>
        <c:noMultiLvlLbl val="0"/>
      </c:catAx>
      <c:valAx>
        <c:axId val="6762597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 dirty="0">
                    <a:solidFill>
                      <a:schemeClr val="tx1"/>
                    </a:solidFill>
                  </a:rPr>
                  <a:t>Percentage experiencing domestic violence</a:t>
                </a:r>
              </a:p>
            </c:rich>
          </c:tx>
          <c:layout>
            <c:manualLayout>
              <c:xMode val="edge"/>
              <c:yMode val="edge"/>
              <c:x val="2.3247504279737402E-2"/>
              <c:y val="0.2201864386924246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762582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cap="none" spc="50" normalizeH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pPr>
            <a:r>
              <a:rPr lang="en-IN" sz="1800" b="1" dirty="0">
                <a:solidFill>
                  <a:schemeClr val="tx1"/>
                </a:solidFill>
              </a:rPr>
              <a:t>Domestic Violence by Women's Education Level </a:t>
            </a:r>
          </a:p>
        </c:rich>
      </c:tx>
      <c:layout>
        <c:manualLayout>
          <c:xMode val="edge"/>
          <c:yMode val="edge"/>
          <c:x val="0.12058719914240837"/>
          <c:y val="1.950194789140946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none" spc="50" normalizeH="0" baseline="0">
              <a:solidFill>
                <a:schemeClr val="tx1"/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7226825783093028"/>
          <c:y val="0.11730421656682798"/>
          <c:w val="0.81788773099030365"/>
          <c:h val="0.735120295283036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edu!$C$5</c:f>
              <c:strCache>
                <c:ptCount val="1"/>
                <c:pt idx="0">
                  <c:v>% women experiencing domestic violence (Y-axis)</c:v>
                </c:pt>
              </c:strCache>
            </c:strRef>
          </c:tx>
          <c:spPr>
            <a:solidFill>
              <a:schemeClr val="accent1">
                <a:lumMod val="50000"/>
                <a:alpha val="7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edu!$B$6:$B$9</c:f>
              <c:strCache>
                <c:ptCount val="4"/>
                <c:pt idx="0">
                  <c:v>No education</c:v>
                </c:pt>
                <c:pt idx="1">
                  <c:v>Primary</c:v>
                </c:pt>
                <c:pt idx="2">
                  <c:v>Secondary</c:v>
                </c:pt>
                <c:pt idx="3">
                  <c:v>Higher</c:v>
                </c:pt>
              </c:strCache>
            </c:strRef>
          </c:cat>
          <c:val>
            <c:numRef>
              <c:f>edu!$C$6:$C$9</c:f>
              <c:numCache>
                <c:formatCode>0.00%</c:formatCode>
                <c:ptCount val="4"/>
                <c:pt idx="0">
                  <c:v>0.40350000000000003</c:v>
                </c:pt>
                <c:pt idx="1">
                  <c:v>0.35249999999999998</c:v>
                </c:pt>
                <c:pt idx="2">
                  <c:v>0.28870000000000001</c:v>
                </c:pt>
                <c:pt idx="3">
                  <c:v>0.16869999999999999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E13-40FB-A103-1E1D8AAD9F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25"/>
        <c:axId val="676256656"/>
        <c:axId val="676266064"/>
      </c:barChart>
      <c:catAx>
        <c:axId val="67625665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cap="all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>
                    <a:solidFill>
                      <a:schemeClr val="tx1"/>
                    </a:solidFill>
                  </a:rPr>
                  <a:t>Education level of women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1" i="0" u="none" strike="noStrike" kern="1200" cap="all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587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cap="none" spc="2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76266064"/>
        <c:crosses val="autoZero"/>
        <c:auto val="1"/>
        <c:lblAlgn val="ctr"/>
        <c:lblOffset val="100"/>
        <c:noMultiLvlLbl val="0"/>
      </c:catAx>
      <c:valAx>
        <c:axId val="676266064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cap="all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>
                    <a:solidFill>
                      <a:schemeClr val="tx1"/>
                    </a:solidFill>
                  </a:rPr>
                  <a:t>Percentage experiencing domestic violence</a:t>
                </a:r>
              </a:p>
            </c:rich>
          </c:tx>
          <c:layout>
            <c:manualLayout>
              <c:xMode val="edge"/>
              <c:yMode val="edge"/>
              <c:x val="6.5903717044362778E-2"/>
              <c:y val="0.1891010728118788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cap="all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%" sourceLinked="1"/>
        <c:majorTickMark val="none"/>
        <c:minorTickMark val="none"/>
        <c:tickLblPos val="nextTo"/>
        <c:crossAx val="6762566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0" i="0" u="none" strike="noStrike" kern="1200" cap="none" spc="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IN"/>
              <a:t>Domestic Violence by Husband’s Education Level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0" i="0" u="none" strike="noStrike" kern="1200" cap="none" spc="50" normalizeH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25"/>
        <c:axId val="676266456"/>
        <c:axId val="676264888"/>
      </c:barChart>
      <c:catAx>
        <c:axId val="67626645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Husband's education level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587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none" spc="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76264888"/>
        <c:crosses val="autoZero"/>
        <c:auto val="1"/>
        <c:lblAlgn val="ctr"/>
        <c:lblOffset val="100"/>
        <c:noMultiLvlLbl val="0"/>
      </c:catAx>
      <c:valAx>
        <c:axId val="676264888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Percentage experiencing domestic violence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crossAx val="6762664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cap="none" spc="50" normalizeH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pPr>
            <a:r>
              <a:rPr lang="en-IN" b="1">
                <a:solidFill>
                  <a:schemeClr val="tx1"/>
                </a:solidFill>
              </a:rPr>
              <a:t>Domestic Violence by Husband’s Education Level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none" spc="50" normalizeH="0" baseline="0">
              <a:solidFill>
                <a:schemeClr val="tx1"/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'husband edu'!$C$6</c:f>
              <c:strCache>
                <c:ptCount val="1"/>
                <c:pt idx="0">
                  <c:v>% women experiencing domestic violence (Y-axis)</c:v>
                </c:pt>
              </c:strCache>
            </c:strRef>
          </c:tx>
          <c:spPr>
            <a:solidFill>
              <a:schemeClr val="accent1">
                <a:lumMod val="50000"/>
                <a:alpha val="7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'husband edu'!$B$7:$B$11</c:f>
              <c:strCache>
                <c:ptCount val="5"/>
                <c:pt idx="0">
                  <c:v>No education</c:v>
                </c:pt>
                <c:pt idx="1">
                  <c:v>Primary</c:v>
                </c:pt>
                <c:pt idx="2">
                  <c:v>Secondary</c:v>
                </c:pt>
                <c:pt idx="3">
                  <c:v>Higher</c:v>
                </c:pt>
                <c:pt idx="4">
                  <c:v>Don't know</c:v>
                </c:pt>
              </c:strCache>
            </c:strRef>
          </c:cat>
          <c:val>
            <c:numRef>
              <c:f>'husband edu'!$C$7:$C$11</c:f>
              <c:numCache>
                <c:formatCode>0.00%</c:formatCode>
                <c:ptCount val="5"/>
                <c:pt idx="0">
                  <c:v>0.42459999999999998</c:v>
                </c:pt>
                <c:pt idx="1">
                  <c:v>0.3725</c:v>
                </c:pt>
                <c:pt idx="2">
                  <c:v>0.2928</c:v>
                </c:pt>
                <c:pt idx="3">
                  <c:v>0.19839999999999999</c:v>
                </c:pt>
                <c:pt idx="4">
                  <c:v>0.34439999999999998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E7-430D-A243-2C2C2CB0F01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overlap val="25"/>
        <c:axId val="676265280"/>
        <c:axId val="676261752"/>
      </c:barChart>
      <c:catAx>
        <c:axId val="67626528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cap="all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>
                    <a:solidFill>
                      <a:schemeClr val="tx1"/>
                    </a:solidFill>
                  </a:rPr>
                  <a:t>Husband's education level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1" i="0" u="none" strike="noStrike" kern="1200" cap="all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587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cap="none" spc="2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76261752"/>
        <c:crosses val="autoZero"/>
        <c:auto val="1"/>
        <c:lblAlgn val="ctr"/>
        <c:lblOffset val="100"/>
        <c:noMultiLvlLbl val="0"/>
      </c:catAx>
      <c:valAx>
        <c:axId val="676261752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cap="all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>
                    <a:solidFill>
                      <a:schemeClr val="tx1"/>
                    </a:solidFill>
                  </a:rPr>
                  <a:t>Percentage experiencing domestic violence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cap="all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%" sourceLinked="1"/>
        <c:majorTickMark val="none"/>
        <c:minorTickMark val="none"/>
        <c:tickLblPos val="nextTo"/>
        <c:crossAx val="6762652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cap="none" spc="50" normalizeH="0" baseline="0">
                <a:solidFill>
                  <a:schemeClr val="tx2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IN" b="1">
                <a:solidFill>
                  <a:schemeClr val="tx2">
                    <a:lumMod val="50000"/>
                  </a:schemeClr>
                </a:solidFill>
              </a:rPr>
              <a:t>Domestic Violence by Marital Status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none" spc="50" normalizeH="0" baseline="0">
              <a:solidFill>
                <a:schemeClr val="tx2">
                  <a:lumMod val="50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3122950116727811"/>
          <c:y val="0.14159537520668533"/>
          <c:w val="0.86877049883272195"/>
          <c:h val="0.5985535125969593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marital!$C$6</c:f>
              <c:strCache>
                <c:ptCount val="1"/>
                <c:pt idx="0">
                  <c:v>Violence (%)</c:v>
                </c:pt>
              </c:strCache>
            </c:strRef>
          </c:tx>
          <c:spPr>
            <a:solidFill>
              <a:schemeClr val="accent1">
                <a:lumMod val="50000"/>
                <a:alpha val="7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marital!$B$7:$B$11</c:f>
              <c:strCache>
                <c:ptCount val="4"/>
                <c:pt idx="0">
                  <c:v>Married</c:v>
                </c:pt>
                <c:pt idx="1">
                  <c:v>Widowed</c:v>
                </c:pt>
                <c:pt idx="2">
                  <c:v>Divorced</c:v>
                </c:pt>
                <c:pt idx="3">
                  <c:v>No longer living together</c:v>
                </c:pt>
              </c:strCache>
            </c:strRef>
          </c:cat>
          <c:val>
            <c:numRef>
              <c:f>marital!$C$7:$C$11</c:f>
              <c:numCache>
                <c:formatCode>0%</c:formatCode>
                <c:ptCount val="5"/>
                <c:pt idx="0" formatCode="0.00%">
                  <c:v>0.30759999999999998</c:v>
                </c:pt>
                <c:pt idx="1">
                  <c:v>0.36</c:v>
                </c:pt>
                <c:pt idx="2" formatCode="0.00%">
                  <c:v>0.65110000000000001</c:v>
                </c:pt>
                <c:pt idx="3" formatCode="0.00%">
                  <c:v>0.745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AF8-44DD-8CFC-2823E0937AF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overlap val="25"/>
        <c:axId val="815482440"/>
        <c:axId val="815480088"/>
      </c:barChart>
      <c:catAx>
        <c:axId val="81548244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cap="all" baseline="0">
                    <a:solidFill>
                      <a:schemeClr val="tx2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>
                    <a:solidFill>
                      <a:schemeClr val="tx2">
                        <a:lumMod val="50000"/>
                      </a:schemeClr>
                    </a:solidFill>
                  </a:rPr>
                  <a:t>Marital Status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1" i="0" u="none" strike="noStrike" kern="1200" cap="all" baseline="0">
                  <a:solidFill>
                    <a:schemeClr val="tx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587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cap="none" spc="20" normalizeH="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15480088"/>
        <c:crosses val="autoZero"/>
        <c:auto val="1"/>
        <c:lblAlgn val="ctr"/>
        <c:lblOffset val="100"/>
        <c:noMultiLvlLbl val="0"/>
      </c:catAx>
      <c:valAx>
        <c:axId val="815480088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cap="all" baseline="0">
                    <a:solidFill>
                      <a:schemeClr val="tx2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>
                    <a:solidFill>
                      <a:schemeClr val="tx2">
                        <a:lumMod val="50000"/>
                      </a:schemeClr>
                    </a:solidFill>
                  </a:rPr>
                  <a:t>Percentage of women experiencing domestic violence</a:t>
                </a:r>
              </a:p>
            </c:rich>
          </c:tx>
          <c:layout>
            <c:manualLayout>
              <c:xMode val="edge"/>
              <c:yMode val="edge"/>
              <c:x val="3.1464100242984419E-2"/>
              <c:y val="0.1636335466086253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cap="all" baseline="0">
                  <a:solidFill>
                    <a:schemeClr val="tx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%" sourceLinked="1"/>
        <c:majorTickMark val="none"/>
        <c:minorTickMark val="none"/>
        <c:tickLblPos val="nextTo"/>
        <c:crossAx val="8154824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cap="none" spc="50" normalizeH="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IN" b="1">
                <a:solidFill>
                  <a:schemeClr val="tx1">
                    <a:lumMod val="95000"/>
                    <a:lumOff val="5000"/>
                  </a:schemeClr>
                </a:solidFill>
              </a:rPr>
              <a:t>Domestic Violence by Women’s Employment Status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none" spc="50" normalizeH="0" baseline="0">
              <a:solidFill>
                <a:schemeClr val="tx1">
                  <a:lumMod val="95000"/>
                  <a:lumOff val="5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'emply '!$C$5</c:f>
              <c:strCache>
                <c:ptCount val="1"/>
                <c:pt idx="0">
                  <c:v>% women experiencing domestic violence (Y-axis)</c:v>
                </c:pt>
              </c:strCache>
            </c:strRef>
          </c:tx>
          <c:spPr>
            <a:solidFill>
              <a:schemeClr val="accent1">
                <a:lumMod val="50000"/>
                <a:alpha val="7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'emply '!$B$6:$B$7</c:f>
              <c:strCache>
                <c:ptCount val="2"/>
                <c:pt idx="0">
                  <c:v>Not working</c:v>
                </c:pt>
                <c:pt idx="1">
                  <c:v>Working</c:v>
                </c:pt>
              </c:strCache>
            </c:strRef>
          </c:cat>
          <c:val>
            <c:numRef>
              <c:f>'emply '!$C$6:$C$7</c:f>
              <c:numCache>
                <c:formatCode>0.00%</c:formatCode>
                <c:ptCount val="2"/>
                <c:pt idx="0">
                  <c:v>0.27389999999999998</c:v>
                </c:pt>
                <c:pt idx="1">
                  <c:v>0.3695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CE1-4107-BA62-AD883812CF5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overlap val="25"/>
        <c:axId val="676271160"/>
        <c:axId val="676269200"/>
      </c:barChart>
      <c:catAx>
        <c:axId val="67627116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cap="all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Respondent’s working status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1" i="0" u="none" strike="noStrike" kern="1200" cap="all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587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none" spc="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76269200"/>
        <c:crosses val="autoZero"/>
        <c:auto val="1"/>
        <c:lblAlgn val="ctr"/>
        <c:lblOffset val="100"/>
        <c:noMultiLvlLbl val="0"/>
      </c:catAx>
      <c:valAx>
        <c:axId val="676269200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cap="all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Percentage experiencing domestic violence</a:t>
                </a:r>
              </a:p>
            </c:rich>
          </c:tx>
          <c:layout>
            <c:manualLayout>
              <c:xMode val="edge"/>
              <c:yMode val="edge"/>
              <c:x val="2.2222222222222223E-2"/>
              <c:y val="0.2369444444444444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cap="all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%" sourceLinked="1"/>
        <c:majorTickMark val="none"/>
        <c:minorTickMark val="none"/>
        <c:tickLblPos val="nextTo"/>
        <c:crossAx val="6762711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cap="none" spc="50" normalizeH="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IN" b="1">
                <a:solidFill>
                  <a:schemeClr val="tx1">
                    <a:lumMod val="95000"/>
                    <a:lumOff val="5000"/>
                  </a:schemeClr>
                </a:solidFill>
              </a:rPr>
              <a:t>Domestic Violence by Wealth Index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none" spc="50" normalizeH="0" baseline="0">
              <a:solidFill>
                <a:schemeClr val="tx1">
                  <a:lumMod val="95000"/>
                  <a:lumOff val="5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'wealth index'!$C$6</c:f>
              <c:strCache>
                <c:ptCount val="1"/>
                <c:pt idx="0">
                  <c:v>% women experiencing domestic violence (Y-axis)</c:v>
                </c:pt>
              </c:strCache>
            </c:strRef>
          </c:tx>
          <c:spPr>
            <a:solidFill>
              <a:schemeClr val="accent1">
                <a:lumMod val="50000"/>
                <a:alpha val="7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'wealth index'!$B$7:$B$11</c:f>
              <c:strCache>
                <c:ptCount val="5"/>
                <c:pt idx="0">
                  <c:v>Poorest</c:v>
                </c:pt>
                <c:pt idx="1">
                  <c:v>Poorer</c:v>
                </c:pt>
                <c:pt idx="2">
                  <c:v>Middle</c:v>
                </c:pt>
                <c:pt idx="3">
                  <c:v>Richer</c:v>
                </c:pt>
                <c:pt idx="4">
                  <c:v>Richest</c:v>
                </c:pt>
              </c:strCache>
            </c:strRef>
          </c:cat>
          <c:val>
            <c:numRef>
              <c:f>'wealth index'!$C$7:$C$11</c:f>
              <c:numCache>
                <c:formatCode>0.00%</c:formatCode>
                <c:ptCount val="5"/>
                <c:pt idx="0">
                  <c:v>0.4078</c:v>
                </c:pt>
                <c:pt idx="1">
                  <c:v>0.37640000000000001</c:v>
                </c:pt>
                <c:pt idx="2">
                  <c:v>0.3236</c:v>
                </c:pt>
                <c:pt idx="3">
                  <c:v>0.2651</c:v>
                </c:pt>
                <c:pt idx="4">
                  <c:v>0.19620000000000001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C79-445D-8BE1-1C7DF5AAAAB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overlap val="25"/>
        <c:axId val="676269984"/>
        <c:axId val="676270376"/>
      </c:barChart>
      <c:catAx>
        <c:axId val="67626998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cap="all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Wealth Index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1" i="0" u="none" strike="noStrike" kern="1200" cap="all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587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cap="none" spc="20" normalizeH="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76270376"/>
        <c:crosses val="autoZero"/>
        <c:auto val="1"/>
        <c:lblAlgn val="ctr"/>
        <c:lblOffset val="100"/>
        <c:noMultiLvlLbl val="0"/>
      </c:catAx>
      <c:valAx>
        <c:axId val="676270376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cap="all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Percentage of women experiencing domestic violence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cap="all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%" sourceLinked="1"/>
        <c:majorTickMark val="none"/>
        <c:minorTickMark val="none"/>
        <c:tickLblPos val="nextTo"/>
        <c:crossAx val="6762699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cap="none" spc="50" normalizeH="0" baseline="0">
                <a:solidFill>
                  <a:schemeClr val="tx2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IN" b="1">
                <a:solidFill>
                  <a:schemeClr val="tx2">
                    <a:lumMod val="50000"/>
                  </a:schemeClr>
                </a:solidFill>
              </a:rPr>
              <a:t>Domestic Violence vs Husband’s Alcohol Consumption</a:t>
            </a:r>
            <a:endParaRPr lang="en-US" b="1">
              <a:solidFill>
                <a:schemeClr val="tx2">
                  <a:lumMod val="50000"/>
                </a:scheme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none" spc="50" normalizeH="0" baseline="0">
              <a:solidFill>
                <a:schemeClr val="tx2">
                  <a:lumMod val="50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drink!$J$12</c:f>
              <c:strCache>
                <c:ptCount val="1"/>
                <c:pt idx="0">
                  <c:v>% Violence (yes)</c:v>
                </c:pt>
              </c:strCache>
            </c:strRef>
          </c:tx>
          <c:spPr>
            <a:solidFill>
              <a:schemeClr val="accent1">
                <a:lumMod val="50000"/>
                <a:alpha val="7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2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drink!$I$13:$I$14</c:f>
              <c:strCache>
                <c:ptCount val="2"/>
                <c:pt idx="0">
                  <c:v>No</c:v>
                </c:pt>
                <c:pt idx="1">
                  <c:v>Yes</c:v>
                </c:pt>
              </c:strCache>
            </c:strRef>
          </c:cat>
          <c:val>
            <c:numRef>
              <c:f>drink!$J$13:$J$14</c:f>
              <c:numCache>
                <c:formatCode>0.00%</c:formatCode>
                <c:ptCount val="2"/>
                <c:pt idx="0">
                  <c:v>0.23699999999999999</c:v>
                </c:pt>
                <c:pt idx="1">
                  <c:v>0.4708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BA-4C5A-B24C-05BFC8DAEE4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overlap val="25"/>
        <c:axId val="676263320"/>
        <c:axId val="676271552"/>
      </c:barChart>
      <c:catAx>
        <c:axId val="67626332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cap="all" baseline="0">
                    <a:solidFill>
                      <a:schemeClr val="tx2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>
                    <a:solidFill>
                      <a:schemeClr val="tx2">
                        <a:lumMod val="50000"/>
                      </a:schemeClr>
                    </a:solidFill>
                  </a:rPr>
                  <a:t>Husband drinks alcohol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1" i="0" u="none" strike="noStrike" kern="1200" cap="all" baseline="0">
                  <a:solidFill>
                    <a:schemeClr val="tx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587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none" spc="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76271552"/>
        <c:crosses val="autoZero"/>
        <c:auto val="1"/>
        <c:lblAlgn val="ctr"/>
        <c:lblOffset val="100"/>
        <c:noMultiLvlLbl val="0"/>
      </c:catAx>
      <c:valAx>
        <c:axId val="676271552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cap="all" baseline="0">
                    <a:solidFill>
                      <a:schemeClr val="tx2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>
                    <a:solidFill>
                      <a:schemeClr val="tx2">
                        <a:lumMod val="50000"/>
                      </a:schemeClr>
                    </a:solidFill>
                  </a:rPr>
                  <a:t>Percent of women experiencing domestic violence</a:t>
                </a:r>
              </a:p>
            </c:rich>
          </c:tx>
          <c:layout>
            <c:manualLayout>
              <c:xMode val="edge"/>
              <c:yMode val="edge"/>
              <c:x val="2.521512272021538E-2"/>
              <c:y val="0.1658037670739778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cap="all" baseline="0">
                  <a:solidFill>
                    <a:schemeClr val="tx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%" sourceLinked="1"/>
        <c:majorTickMark val="none"/>
        <c:minorTickMark val="none"/>
        <c:tickLblPos val="nextTo"/>
        <c:crossAx val="6762633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Sheet2!$A$4:$A$40</cx:f>
        <cx:nf>Sheet2!$A$3</cx:nf>
        <cx:lvl ptCount="37" name="state">
          <cx:pt idx="0"/>
          <cx:pt idx="1">jammu &amp; kashmir</cx:pt>
          <cx:pt idx="2">himachal pradesh</cx:pt>
          <cx:pt idx="3">punjab</cx:pt>
          <cx:pt idx="4">chandigarh</cx:pt>
          <cx:pt idx="5">uttarakhand</cx:pt>
          <cx:pt idx="6">haryana</cx:pt>
          <cx:pt idx="7">nct of delhi</cx:pt>
          <cx:pt idx="8">rajasthan</cx:pt>
          <cx:pt idx="9">uttar pradesh</cx:pt>
          <cx:pt idx="10">bihar</cx:pt>
          <cx:pt idx="11">sikkim</cx:pt>
          <cx:pt idx="12">arunachal pradesh</cx:pt>
          <cx:pt idx="13">nagaland</cx:pt>
          <cx:pt idx="14">manipur</cx:pt>
          <cx:pt idx="15">mizoram</cx:pt>
          <cx:pt idx="16">tripura</cx:pt>
          <cx:pt idx="17">meghalaya</cx:pt>
          <cx:pt idx="18">assam</cx:pt>
          <cx:pt idx="19">west bengal</cx:pt>
          <cx:pt idx="20">jharkhand</cx:pt>
          <cx:pt idx="21">odisha</cx:pt>
          <cx:pt idx="22">chhattisgarh</cx:pt>
          <cx:pt idx="23">madhya pradesh</cx:pt>
          <cx:pt idx="24">gujarat</cx:pt>
          <cx:pt idx="25">dadra &amp; nagar haveli</cx:pt>
          <cx:pt idx="26">maharashtra</cx:pt>
          <cx:pt idx="27">andhra pradesh</cx:pt>
          <cx:pt idx="28">karnataka</cx:pt>
          <cx:pt idx="29">goa</cx:pt>
          <cx:pt idx="30">lakshadweep</cx:pt>
          <cx:pt idx="31">kerala</cx:pt>
          <cx:pt idx="32">tamil nadu</cx:pt>
          <cx:pt idx="33">puducherry</cx:pt>
          <cx:pt idx="34">andaman &amp; nicobar isl</cx:pt>
          <cx:pt idx="35">telangana</cx:pt>
          <cx:pt idx="36">ladakh</cx:pt>
        </cx:lvl>
      </cx:strDim>
      <cx:numDim type="colorVal">
        <cx:f>Sheet2!$B$4:$B$40</cx:f>
        <cx:nf>Sheet2!$B$3</cx:nf>
        <cx:lvl ptCount="37" formatCode="General" name="yes">
          <cx:pt idx="1">12.380000000000001</cx:pt>
          <cx:pt idx="2">10.380000000000001</cx:pt>
          <cx:pt idx="3">13.390000000000001</cx:pt>
          <cx:pt idx="4">11.82</cx:pt>
          <cx:pt idx="5">17.43</cx:pt>
          <cx:pt idx="6">20.399999999999999</cx:pt>
          <cx:pt idx="7">25.510000000000002</cx:pt>
          <cx:pt idx="8">26.079999999999998</cx:pt>
          <cx:pt idx="9">36.909999999999997</cx:pt>
          <cx:pt idx="10">42.280000000000001</cx:pt>
          <cx:pt idx="11">21.039999999999999</cx:pt>
          <cx:pt idx="12">26.27</cx:pt>
          <cx:pt idx="13">11.039999999999999</cx:pt>
          <cx:pt idx="14">41.170000000000002</cx:pt>
          <cx:pt idx="15">11.029999999999999</cx:pt>
          <cx:pt idx="16">23.010000000000002</cx:pt>
          <cx:pt idx="17">20.91</cx:pt>
          <cx:pt idx="18">33.840000000000003</cx:pt>
          <cx:pt idx="19">29.559999999999999</cx:pt>
          <cx:pt idx="20">32.259999999999998</cx:pt>
          <cx:pt idx="21">32.229999999999997</cx:pt>
          <cx:pt idx="22">20.920000000000002</cx:pt>
          <cx:pt idx="23">30.710000000000001</cx:pt>
          <cx:pt idx="24">15.76</cx:pt>
          <cx:pt idx="25">17.719999999999999</cx:pt>
          <cx:pt idx="26">28.010000000000002</cx:pt>
          <cx:pt idx="27">33.310000000000002</cx:pt>
          <cx:pt idx="28">48.100000000000001</cx:pt>
          <cx:pt idx="29">9.6999999999999993</cx:pt>
          <cx:pt idx="30">1.3300000000000001</cx:pt>
          <cx:pt idx="31">12.42</cx:pt>
          <cx:pt idx="32">39.359999999999999</cx:pt>
          <cx:pt idx="33">30.039999999999999</cx:pt>
          <cx:pt idx="34">18.329999999999998</cx:pt>
          <cx:pt idx="35">40.329999999999998</cx:pt>
          <cx:pt idx="36">27.690000000000001</cx:pt>
        </cx:lvl>
      </cx:numDim>
    </cx:data>
  </cx:chartData>
  <cx:chart>
    <cx:plotArea>
      <cx:plotAreaRegion>
        <cx:series layoutId="regionMap" uniqueId="{26738ED6-9768-4BEE-B2EB-F059FA399776}">
          <cx:tx>
            <cx:txData>
              <cx:f>Sheet2!$B$3</cx:f>
              <cx:v>yes</cx:v>
            </cx:txData>
          </cx:tx>
          <cx:dataId val="0"/>
          <cx:layoutPr>
            <cx:geography cultureLanguage="en-US" cultureRegion="IN" attribution="Powered by Bing">
              <cx:geoCache provider="{E9337A44-BEBE-4D9F-B70C-5C5E7DAFC167}">
                <cx:binary>1H1pc9y4suVfcfjDfBpWg9jx5vWNaJC1apfl9QujLMncwX399ZOlxa1ily1fj97EVYUjOkoskEkc
Zp7MkwD7v6/7/7pObrflmz5NTPVf1/2fb4O6zv/rjz+q6+A23VazNLwusyr7Vs+us/SP7Nu38Pr2
j5ty24XG/wMjm/5xHWzL+rZ/+6//hrP5t9lxdr2tw8xcNLflcHlbNUld/eTYwUNvtjdpaNywqsvw
urb/fBtt07R587+2af5/3sTbKkjD8u2bW1OH9XA15Ld/vt0b8PbNH9PT/sOENwlYWTc3MJaQGeNC
MYZsdf95+ybJjP9wWLCZjQTn/PEwf7z06TaF4Zsnth09b9udZdubm/K2quA+7/77g5Ps3RT85ujt
m+usMfVuXn2Y4j/frs1NuH37Jqwy5/6Ak+3uaH16NwV/7CPyr/+e/AEmZfKXJ6BNZ/C5Q//ALG9M
tP36OFcvABOaSYptprCY4kNtLpFC4h498njNe3zOn7XjMCSP4yYonOtXhUIQpltw0eRNXm5vbqvg
cW5eAA97pjBhnEuM7j72PixihgnHNgFo7j4Tt1k9Gnb+vGGHAfrnGSZQrc5fFVTlNtpWdbA1L4cR
5jMmKcFEPviG2seIzCREPSxtcY8Re7z0vetc/opFh8F5MnSCyuXmVaEC9DZsDQTZl6IbrGa2krai
MNlPaYbPCEWYIvoDf3nejsNIrB4HTnBYXb4qHOrbZGv8F0XCFjOYa86ULfehUDOElKSK0XtGgcP3
6N+7xdWvmHIYjCdDJ3BcLV8VHMApkHv42/IlGQXNBFaEUcnvw9GEUfhMSMRswR6CGd2Hxfklkw7j
8nTsBBhn9R8NzOGM8Gmw2vvFv5kbYzwjDDOEH0keTz2FcMIFIuweMUjNnnrKQ376Y2sOo/EwbM/w
/+xkt6nrbbmNd0/g4wy8QIaFZjbBCEPt8T0OPWUMNcOIEazk/VE1Ye/3v2bTYQj2Bk884v3rKkSS
7Q0g84KwkJmykS2xeqCHSVIlIOdiNgUmv/eJST1y/Kw5hxF5HDcB4/iv/+jwtGctVPLXQbCt67B6
WebA9gy8ZMfYB2sRiWeI2lhAHHt8DO6Z3PlFaw4jsj96707/fOtcvSpczHX9Jvv25uY2CcLHOfp/
j2BYzjglRCFQT+4+E0YXM9tmVIC73IewSY3oPmfNYVwehk0AcY9fFSB3jPLyVTtUhHdVu23fA4L2
EZEItDAOlC/JPSKT4HVHC29+u2SfDJ8g9P511etfQ6gNX9BX2AxUSHAFRg75ioTDSHFO1SSG6efM
OOwkD8MmEOjLV+UkVRjHYfqCGAB3gxRCEEYPOdVeuivljAooUQCDe4gm8erds+YcxuJx3ASMd68r
z8qbmwbaBmU5vBwgtj2TCtscQx5899kPV0LNBOiPAmST74ef1h/nv2TSYVCejp0Ac/75VXlJGo5Z
uX1JNyEzggSzEQFl5ElFovBMEo6wQg+Z8YQ9Tp435DAW3wdOgDj58qqA2JaN+R9S4zFELkWIVIDK
3QdY4ikyfNfEIgIo5GCm9dd3y36b2w+cYoLWX6+LXOLbcptsXzCWoRmlSgohQLh6go3gM4ok5tDF
+g7d0yB29Kwdh53mcdwEhaPXlQebrQ8ovKSsAikw4rYERetgv1fRGeXQEQGt8f4z0bROf8Ggw4D8
PXICyenrgiTdmjBvypfzDExnglAQEsljeNpzEAVtKsiMgXD+7mI9dZCT5+05DMj3gRM8TqB//orE
R1glAXC8YKTCZCYoQ1Ao7ktbyoa/YwEt3YdsbKI4Xj1vyGEgvg+cAHH1uhij3qZh8sZsb5qX8w3I
gJHNgdTlfq4loBZBAgoVNolPV3dGnD5jxA9weDJ2CsXr8onutqrffL2FjmHycliAX0hGbYYEzPkT
BpdipgTmij6IJlMl/uPOGP2sMYcx2Rs8AeWjflWBKr31YSnKdnjJUMVmDDqGNhGPc7+HDEQsLKBE
FOihhQIBbY86fsWiw7ic/D10gsrJ66LzCGSsF+5cgaNwxm1oTT2gsh+7QMtikO4SzB9aV5NO7uZX
LDqMypOhE1Q2q1flK9uqetGSHZaXMAr1of3YLdz3E6jcoT+ikDqs+/71nDWH0XgYNkHir3evCons
JqyClwxZoLHbBFFK2EGREeoPDDQDufB9/TFJss6eNecwFo/jJmCcva4U62YLq48fVgLvSsPyTbBt
b5PwMay/QM8Kuu5YYQortPZcRBCQUBDFTDwkv5Og5d5ZBpXqm12dV75ZPWvXYZx+dJ4Jbj/62Suq
W9LtTTBs/wd6XLCgm0AFz9hDCW/vAylnWErFCXmo/6cq5b1Zvy2EnUzGT4A7eV1dLr+JYGVL/YL+
hWdcQbce6stD4U/YIGQKWNfC8P3hSXmzfN6ew371feAEj+XrWo+abiE5gm0G9UsW/LaaUVg6IYGR
7jln4jE79Vgqgh8XvEwo6eTXbDqMy97gCTYnryxnMzcBsFP+/Ir2f2+His1mEMwYpG6PPrMf0NRM
8V1d+rggaRLQ/ro367cD2nT8BKS/XldAi7el2dbb+AUzOhv0SxtSA0oPdynBfaC1D439w8n10a9Y
dNh5ngydoHL016tKsv3sJfFgM9CSQb3EB4sdQWeIgVzD8QPFTMLZ8ue2HEbibtAEg+XrwiDZxlDo
3HS3t/nL0T3ol1iANKam+iWAQLECaWYy+8e/ZsVhFPYGT9A4dl+VR0AlsYVOy2OtE15nX6GqCKsX
1DNtSMWA77FE+6XOXR/fBnXmST/mqWoGhHBnGpj45vTBsHW169JVP3twDkP205NNIPzr/7MI/ePt
kd83lLrAJfO7nahPdkj+/OjdPMBW2cnQB2HyYAV7P/vrmz/fwsrjXSMfKP77JtfdefZUzR/VhofO
cgt7zv58C8Ut7NaTyLapoLBIYLewYyehwxEMq52hbw3XhI0ZEvaKvX1jsrIO/nyL0YzsNAwJybrN
OAZHrrLm4QgCdQ/KZXi4YOkOsb/vDz7PksHPzPcZevj+xjTpeRaauvrzLayqyu9/tbth6ETB+lEQ
cRVkPzYYghAcv95ewhZk+LH9v6Ooxj3xEm/e5ZGOon7JabCwK+zGPV0+macDl7Khuti7FkeMK9uW
cEGbKJiK/Wv5qZVnOau8OTPZohXt5ZAWqyoWC5OxxaiKzyliTt19VGRhifHMT0fkBORT4mONw/6o
T/IFNxjS2u/oHbIKZvKfVkH6DQk6mAcrnfet8vIwUzwtvHkeDPM6LtYJ72qnw2Jh++V85LkjrNTh
JV/I2Gjlt+7g0VR7fr5ktUNxfvFzgyCt+adFErYVQk7DAROGJhalgcgthXxvXo1NsMQRXfuG0Uuq
bO+sDwKkc2YlZ3nSNqXu+biB7cypU4+s0VHc0vUYmC9WadiFV9vJEWmkd0RpuM6FWeR9U7rEdF9E
f50Mxm3rWvPMnPBWh3Gne9nqwTCNG18rbs1JhRwcKF3J0Cmy0S0C5hjMTlBhuSqPFjk1bpTQExU3
iyYIN9y67HB2OXqpi33q0qJ1mBzmFmrcrlHaILzxubdsiuy44hj2oBpdlJ+G1FpbQeGM7VfLHHHR
JJp2ZJMPOsF0FasPbdN+bJs41+VQBU7eizWtP3hds5ZD6yRttiRl7aZV0uvavxjpJhTRaSKZM6LR
kWyYp8LbsKB2Y+pp5SXHA+vepa3ZECIWfUVWPPZTp0nrRRHJYWF1qcZYuJDkOFbQ6YaWJ23AFxX5
1ovOlRSumXTzPGsXpMh0xT6CEr+JUuYIE6/thOkmabQdtgu/TpyIZauy6hw/qWB64DKKunnRXWYl
uwA8dWSRVVPzVI9d6wrWaxyVrl18DcQZNsWxGWsdhtLprFrDvrpNTsEzWzlHUepY4bu4y1ZWeTrk
YsEViHmRN6f0a9FnX6rq2pSt9mWhY1+dVR5y1HAelmYl7dZJpViEae/4XtWcIsXyd2HtffFFap0M
BSAnmvjMyqPuEo99Vjs+PFq49tS5l9Ls2ieFF+o8h0lL2zwKdG+S22owwQUeIRVVJBRcE7ZzGo/r
0PaCtejoO2E3+D2PcbuuOr/53LUm0w1R/rLrhEo0T5D/Ic1j4yQD8bTtmbHQOLZpqD3WpO9kPDQL
m1fCrcvRItp0/VCCFbzfsnJIVoalDdV90fonQZuHx6QhZ6ys+EU5tuKyxmmxuPPTB1p6iBz3ofQ6
y4cy9IOHty18//qvqyyFf3c7/f/+4+5lDX9/O3l8y8NPf7W8zXa7Jqrpj3bWfD8XGPNg3Y6V9r78
gyV/wIP3L434wcFfJEkKa3ifhLR/MOQ/944/4cb7wQ/EuNsLCgQHq34h/CLKoYH4QIzQxFJUUhCF
CYWVKbsjD8QIb5TAUK7DGkkuJMYgdn1nRgKcuWtIKoiboCTvDj3e6R6ckB4cIAbg6EkcRgLbsBsJ
qn9YrWGDar3PDFgkY97JWi6N58EbNUQ1FLpSVqZzayiuaU3KeYQC9aErmFzyXdxIqVe7oou8NeYF
vkHlaFZxC2ya4fqsSVW6pGkdfUlKIL0MqAXrHhjnuqhRrlVVVE7SDf6p5VX9pVSBtYAXU/gBxJK6
vFHGG5Z9UInL3GJhNw9QTq+9JEupNpQHi9ZKF4NqTsKIJkcU2N5tOl6vi9Ffcx5SPdgGLcJcnaEm
LFa58ptP3C/UTWzxhuggGLxlaXnNghibSCeJkv7GD6n3pWFesxmrCLuM9/VyrLJgBXt7h+WAkVlW
fdG4Pk5O1BDKM5J43XzAUbbKAmS7xdBw3RUUrcKmGs87HgdzFfWBrVPCh6WXmGjUoxfm79sxy27D
IuQnNbLIppDN1Vgh9RGPlTwnoqC2xqwNYVYzj2gZZlWuk7osxdwLqmHUQxq1SzkMvVNnOP5UNQPa
ENnXGxPj69JL2xMvDsPjMODVIhSyepfkebAmQyUcyxsR034sQoi5vfURe748KsKKHvuy8r7mfZv7
uq+Y9a0deH2SDrL9lEU4PQHA4T5Z3WqvMBAiET3tmFcZF7bkZM6QJcncQ/JbT2Pjch40oU7aNt0U
cZ7oMiHXXdqlvh4T2SxCgj0HHngKE2WZdzTF0SIZPeUGskGfWr+IdMGTYqVYm7l5E9snJAiqVY7D
wu2Iglv3sdCRXzPdtqzNtd+R6IhZ3gdZjp3LQju9oiipdVvlla7HgHzuhzxeNVhmTktFehYmSSSc
UgLf8bb2dYm71BVeNe9igV3c8XKesuAWw5R4OjQ5O7XtNlo3hdQAOjrOa5Qed9moblhO/fd9a/uN
7kj6YehxspGBx686Ywqk+14Vx7K1GqfLEb6oCoKMYymLujyjZapp2eQ3Fa3OFC0tx278fNHkET4d
yZAuoo73p0GfNIHmGJ7aEKnkfSIULtye1+PCSmHOVGQjF/Kf5svIguzIkjK/bNJcHI1hLhdDh0pN
+uimoJXmdlUu80GID3HeZzpOWatLyz8CQoncjsXBsvdC896WgzoN4O5qh1ntOEdeZwe6CCL/tM6Q
f05Gm7p1QEgAXjYqH7ipRMuKdK1mHhqcZohsR6TMXMsxrpSjmFWsLFbSRdlbct6X8fnYZNeV3W9k
7EWOhToXo9palFl3krYkX8mi9B3I5K8CyLx82+B1biIeQ3LGLajMf5YPQ/mwnw9D1MPQQIW6Yrdz
jEoIvU8rAk9EossqCAdh6eNAtywbIePMjQngcTT5cZ9k2OlSDNmh+ZT0CQnmWVGWp3S0Q6J9zzRH
9dh237w0aFwTmORItQRyhRBb8XHmE/MpK5JyUYkuJHNOAprO67pEnq6HMb5Ud/4c3/k2CSpC1wb8
gq+rXVzo2NAMTtcSauYNtWJYwf6zWxcUSvO9WgCWTcC7I2CtEYNKDchnEvEHq4bVxLGPljbz36kk
1SKNyTtL9l+gGou0ncWNw4RfHIuyEb5jAcYL2fY5PA1lboS2fFbaczYGWaKH0euXEWadW0ZJexuT
xr8K0n5Yi6Jb0T5ZF2Qsegc35RdZ1YssKIslM9UGJ1g6sDXnuoA8zoFnKz3vG1mubaQKNxmSZqPs
KtjgIk2pU8VtMY/LmKxNWxLuoBjVc5hH7HhdHLktb8MlU3163ohOfcmggvkytKhddDwxX3FKmlPm
D8Vp4pfBIujsdJnVnfiUWaW35inxzoc0bC/hq1iUYxN+imwSbPq2G12lajkfU86WXZOPy4x35BjL
blj7gawt3dHag/wX+++GxIpa3Y1+5YDZnUOiOFjEUMssy47xRQwkO09I3NTAQU04Lyuv/FBjZrs+
UfmHiETKLRJDv0Fh7bthHcdHTRdVus9ZdJSzxOdOU2H2waoZPlOjtN6RqsMr31M+cItE2W0RZf0H
bmX8AxOZOQ+8ojyXMWs3aEztFbFpcOwVqFxhKJ3SUrp1G0hXQJXuFLLqay0au7/AXddd9F0an7ad
aQodJHa4DGhrAJGmd6OhKN81OFEOwmO2DDIbf6U58a4yj2bK8ZL3QR11ZFekdaOuqzH9kqK8OxkJ
ro9HEASWKKj6I+NLfpzKmCwkT8JjwYaq1KWQZFHa0eBpP5WBg8o2PxZ5551VVpdfcNGJYtnb/rBi
KU9cWPxg5mXZNXPVjvF50wXZCe/H2g0q0+rUJ/mmB0H9IthFkaTwIF0Ra4snTpmZswEH7xLV6KJL
0qXlDyd9xa1lJEXnREATzgChqtrFLJ9D9PJ2cYz4dnCRjpb1Te4iXLuLdUmpnKwrsaZtWGtTJWw5
3gXG5i5IQqSgbrOLnOUuhsoygDiThHiEQBCg2sG7eDvsIm+/i8Elpv3GdBnE3BwXwyfjtXKBuwEi
up0Vl60osqMR2c0X1nHkZokQbmyVeJHeEUO04wixYws7setAxzsOKfw4tFYCjyZ06jsKQioPoOi1
hrpzY7sQVwPK2FmVJ9Rz+x2vhWVAai0zO2bLCslyY7V5vqh2PNmU0Qh18I5BTe7LryClgDLA4Jkm
wFNhfpQnaQsxtAa5I/PibukFMgrd8o7SR1QBsINVBa5hUDTaaSFKPVYAkbjLGoZdAmFBJjHuUgp5
l1zEvIsc0wjmBru8A0H66CkooXka1EZ7iZRzz2r6ozSxczdRVr/2mEl1bdJ0mUPq47YyjdZR0+Ba
NzKgrt0q6pg+a3qtkjg+YbiK1qTO6pPIT/HHIOP0tK6YvDSD7aW6rIJqgYNS3RZjjs/7pGPXbdK0
52E1hO+tJqrfeSTsK9dHjVjXfmC5lldavZsiGp5xW3USytqAnHKLNKvSKuITyOmGEOIG5qUGhmLn
6ZAHm9zL09O6aRUUnJ0ov/Zl+wnxPHeVtIbAiQlii9ST9lL2bXAlfLjxCKqGdWnlfqeDiLdXvpLV
oPOKkTmJqXXOxoysBe/puzTK+HkPEpwTCqAuOw2zqzxr/FBnqEzWxAoj0BXCwBgdtDIC4s0bJ1F9
VJ3w3Phz3nZqBYkl+tqrsbkmmclhjsc49CEh9cmi60aGNOe+KLRvwzQOImTLOIIZd5KehxvB8/io
K6W1UUXbrdKo7zeRsLjRNCwV6ATcvwh9C322e3k++nV/RZIydfrMSpah8cJNMNpVD5Mm+UUw4PhL
RLjnjghWAGhSpvVXn7X+l7ypqzkSNJmrLPaW8JOvKCy9OVjE5nVq+BHOFTz8lqgToHIUXlhFUmhD
kqzSGYMsUHcDp+ch3IYXR8ZhPHJklnOdReMtwpYFwksWZhpiIrHcHEXZQoZ1MYf3a6BPWRXTTTtU
zQkjYQfzIJp5F8YRDBbjWuAghhswsphLSNjnJdQAOlF8A9vgvqWd+jr0GVkCgSVQIHmZWYuSSfD2
DpJyExX+ZZCSYQmRBxJrL0Yfoj50eZylH2ya40+0sJtV2yT5x46x6KNXofI2Bn93lRVVq7YevxiF
PhCe8AS0T8bXjGYnmHdnEUi2kPT3jdP0PZ/HErgC3Cqosjlqe0VAxsk4Oipzmq8lr4F3vZhtFEnI
aqzzaG6XbPgcWvCcopHio76zGjcPuHeNy5AufS6jzhHZLq0fTQ+Jct+MTh/Qm6YJvKWihbXg9oCP
wzINj/IB+8NRY6zsklstvgqgfumdMOvr2zbOIV0kcSWPTWEg2rQ+id6ZvOMV6EkV3FQapwsR0XxZ
ZoRBapyrFjyR8dAVquRw1jbcJmFLtSfycoNDk4L/VHDvbeKtu0ZGR8YGNVTCjQ46jKxkTqEcOYt5
FaxMKcZ5p5JqmXtjD4UTIbqw4mHdK4WXIYPr9ygRn1LIBMO5Nw7qJFVmWLCcZAtiN+JLUIT2Erdh
pD1pxY1OQd7uQOVDHMrQIKp1nlXrKKk+K685GQX6tusVzFvbs7d1a4kzVXhAj/kVaMjU1xj0m0vs
l0O67MJwvInICG4QyA9pbSCpboDbR2xst2vLbilRUekhIP0SNTxywz5BH2q/L5j2QGR0i7ItISS1
tevvFN5ceCl2gErg+U6MrK9AnhiveN7kuRMj2TiwYOoYxUHe6gzu+TwxGT6JoGTXlufzE0J9fNF0
Yc1dWpfSLJVQ1jsGVH1ObNN9o/FXrxpd0+U919gfA35m8YGuyjCGtMgyJ6mMNEUFd8sq8YQ2SbTk
YVNAFMFQY/SV5absZuBpEi1UZupOW0NinE4J281b77juovEUEsKjGrenDDWfZPwlGy+HwHcwrW1d
GBx9i5h/GsepWcgyRxeCecVneL6AvPhQn3Wj8I+SwOSfUNt2vg4TUCEcC3h2qcCjP4+s6t7zVJHP
HopBEY144dSoouvKQtEGmCA45olnOTKIbN14STo3FqiiUeSv6zIKtRKh0E3fBBdhlPPLAXnDFxbk
o7akn67LkXrOGHG6k1hZspKyZCPwqeg/NRDynNxkNnEyhIOVT1m6TsKhmFM7Gp3RUv073Hig1VvZ
uBwSQRe9yKIVzRgUsgFkskPiDfM2tPsV5JAo1jSTnOqSIO+cJSZf06LpF37S0HmM7eB9GULm1+Ka
OaVqipWkpVr5SRIInYWDrUMPNQuwAbsF9C/mbV5Hn4p2YL6ue993TJhe+gaCqK4ya1y0O8KVPCiW
th2/T6wh38S0apaxl0NCFgfjohER1PyU0ytVmmo+Nnm2iSBmtLoaknzOwkxgp06sjjtpFYMHxgZB
wB7LrnV4A54FpmROrVIY0dZp7QyeIR8GE1aORUdxnfuGrIIYIoRH0sqtaj6Aq4TpymAMNhtTalvG
EQjVGUSzritAyo6ZOzSxd4RtzzsxttFGBV8ZCDNRjNZ+BiMC76hMvRj0257Mmyz4VKeSOoHo0Dxh
47ABhc+4kD5cQl3uYAVyeozTPtbc8tKTIMa1k3atcEEnGOdhzwIok0IBtbmMk6NAMgFT4Nnrrszs
m7FpI0gYKvMt8Lpe806Ga0kGyyksz8418epsY0wU3+Akiz+bkJaJLmLsXVKrVScGEu1zqFXqIxqy
Zo0GDsoS4xX5EFkg9Nd+mH9OOUkdnCfZUWQFEdR/ebTKOyRXiITJkrYlyPTEVKsq7KA5YRzURyLR
sN5rXIwispfgYeR9DeXaeW2BWm5aUc7DFLSPQCFtI5/oOoqPMsw2fbUaJMxnY9TnqmicqAjkJTat
WkadiD5wlNB1ESfJsQgr2YAMydZeF537hHcN7Gb5WS2MD5XCjFKJ4f2V8EoGNWlCdZHBngeL3pfW
MFRzRiN+XfotD3XBjFRalVD/kqT3r3xuTKzLWHWZGwS5dZF08fCVizEv5wllwXwIo9HW/k6vBE2H
QEdFocZ27GCkljZ3CifiDcu07EEgHDIuNyHLaK4rqBAt5+6+Xlq1/8/T4/fWHj+uBLhrWts/7Vfv
vSbu++/vBXglZtS2BTQ+YYcoFH1/C/Bcwos0Qf+BdwIq2D8NYtDfAryYwR4teLMjh30/ux41PDkP
rWl4iSBHsFFLCixgxzXQ/L8jwO8/gRbetcthad5uw9dTAaryei+LQ8VXge0qqMFaWGT6s0f7R+fd
/f1Jq1vhsOXQJBTzmgVJoMdxGD4GGKrB3zs9oPL09JC3x0PXGzEHIacsLzs+InCOfsy+/fz8+12J
v6cF759fpWMsIeryucKsGi9yO4XwEZCI2RrEqRSKbVKA6PLzi/1oriZCWAXYR51v+Bz6oxIUd0T8
UmcDl89JbmD038sP/r6ZyVIAoQqUR2rg88bO6YltdzR916EI8eNB1qZfQv8f6sB0KHLYYvEb4E9V
zVyivBW7C7aJEv0mCxqvcYBqITP9+QV28uiBO9qtyHoKvwzHDtUNYaCYV6LbcGhiYiePKxwcg4gR
4RO7iZvYKarCDEJDJLeLBTJBW65+fv0fPB7TZQypajsWNb5YpklVeJciTYvmAylGhTa1FShxAStH
CF///GL2/lKF7/jJ3VKPJ76UC0g2WDWweeP7beHA0palIPa3PCZFF+vC79pUN4OwjrPOt+N5g7NM
GpBHJU5hg9/vALqbhycWJP6QtgnrYL4lZg4ps2+CdeEzk/mDx19OQlAGYaGTQ83mwH3iE8qGTHtt
E539numTQJSA+AMZRsnmMQnDWwT/j4BjY4UgLf/e6SeBKLM6lsNKDTZPatF+sKEBp3tvFL8X5uQk
DJVJF+Ugw4FyAAks9EJ6qy1dnmeZ+E3zJ6EH9z70W5IIQk9Gm8gZOEg1uijAb93fmp/pMqQEdHJ7
gBwN+p15t/RrmybaJ9K/+a3Ty0low9FgGehPWkuTDYKfV7ABroYStLa+/db5xaQ/U0nUoK6HjvOY
2el88KkFq4DCuCqfmf/9dVHfXVtMAhloRDRpMPR/MkuO6aIr7bydQ1/aDt0iDKj6zctMIgihmSe7
3BLLugYVcmVgGRKaj8ZO+nke1l3/e54sJmGiyNrCI30qlzmOx6u4HIIzaCipq59j8aO5msSJLu6l
3UEKtcRWH86TqhTk2KdDVnz8v5x9W5OdqPf2J7JKAVFv3Qe7O0nnPJnMjZVkZlARRRQPfPr/s1Pv
RTe/ZPotbic1bBpZC1jrOcg0l/sLS3XLC784Wm4SN09TXZMLLfNM55Xp2XEfARb3thAJ3jH//Uf8
bnj6fPixbo8Yi8Mrm01kL+NuZ1+5G/UlbHgvYdg1GyEHw3m19vgCSy/Uhdko04Gz99KFbelw9EeX
V2xeJb7Bke9ROcdH6wJ/wItnWUTpVOxY/QKl+eFeJ+mwXQyKl9u7oAW6XcKfft6MHHROop1Xxdy0
f6C6N7/bWzEdYfPnXqBlh4GGKJQuKk3Z0t4tju5F2Ui1xWEhdgPkPJ3/jmILX4jJKjkLjYqPImte
doDNvXQa3zLPL/Y/96LsEJ2I1YZPPNWHNudOAAX0TkVu5Q9iqZW87IIc6EWrnP6F5+Q2BN5yuBd4
eN3W2eg2pMI+7/VDE811hoeDLHBrzFFUY2huLZ1bTwCWaHWVuxPZmQO8OH5c44XbwAX2AvSoeZTl
MqorlaGOjCp6VuVZT1/YH8ktUn61vOT590vXZW8nMhUVjZ0ZLy6p1+WS1s71gAnR7HgrZjX+qyO2
qTvm8iF93CklwxuS5XmHUiKKOS9M5TeZiHuxnA9dqscNFXLUW2d64q74R+/7NoXl0dQLNJsYFN47
gQK83vOvKY6fR8AKVFieS2+798mFdKJi6KIoK6q0x0vmZJNcudK2wKy+sA1+EwY3bZqnPzC305GS
3eTVcmw1uUfl0aDzpBOEBBqo8VgOrUUDigBXJn5o5WYSuG5egNNt6PGVDa94XiuUnSYyq/IAACMw
xaZegDvm5GQ50Fx2SpMLP1Zxdnx8Cdnym12VelHM6yJGq2h31WwFAGxD1pXc6O6FJPG70b3gBIqk
iXa8swD1aFEmXJLuXB8jCdxUXmziITLmSYvKNcG7sYyb5Msg2Es3vd9N3Qu3BE1M4FCEq0R2LG/s
McQ4P6cm6QL3jXdyNp1dNDWHq1DVLe7JustzTfOXaAW/mT3zopnqNdWLxOhLTdhpo9lczippw+bO
vGjOB+JyIAsw94Xc+swon3N0mcISHfNCuYsjE29o+VRT0vbXuRjEaU2Zu/73heIWNr9I6MyL16FO
G+eSaKu2KP0HL0G5Xtki9VAB28MD/wIvZCnoGyiq11tFEbgfimVE05ONMuyF/BOn9SSXLgPuKpvj
WzUydGUhzGkBsRkC0w3zQjZZVF/nrrOVmHv2qu1V9kbvfeDUvYjFSVpLmdClmsauTk4GSIpT1qCy
ff7vj/u7be8FbVqLWUYOlRc9tPuDXMTy2tZ1X4WN7oUs6qPRmgC+cTVWbPNHijZHDxg9WlRh++Ym
gvf0EJPgRUxiJTvubOh5S51+PYpjeGHj/2ZtbkSrp4OnXSRBs6rXy9QDZExnS8qpAJwpaG2oF7RU
d4zUXb5i5aOvhuACNhR7HfZZf2LRn+x4qZ2Jopn/v6kzMpEyXXno1P1oTfMaoJNkvRQbisbkNvoc
vjC3z/F07vGq637G6HtXNCebo5PPOekCl92L1oalOTq7MUZn5J+pZf1VtCKw2ES9aJUAluStwOAA
8KgKUGKDpxHfw+4GP6G2TxZmX2hW94dcL+lSg12VrKRMdL2EHVHUi1XVaDKMNLaXYXVDuTXtP/bW
aAva7MSL0xmgRD02QBEq2bCSs/RrBB5D4OBenMZ1aujRRMslm+LhPO/tt9m6OXBwL0ynGQAt3ITt
pQMlquRd25fWAB4fti7e2ZrRLhJtVGDqhU3ezGiPvKsz0Ye1qG6sz6eRtFtGBoaRAZc0AF85tKfT
c7RE+Ry2Z352fZ/sSDLtQAJosVYHU2jtR1Snld7I8iNsdbxYTdqamHFXOFnruX8oujk5z7I7LmGj
k+erY02tqThSWy0F/Svp0EFn9H3Y0N6pus9Hpw7Av6u2iR6RHr8eYP8EbhkvTou2VVkyZAua+EAW
2yb9BBjeGPZBEy9OBzlHpsitraJ2aUHbyV5nBDSLoFW5Wfk93Y5oC2963vPoMoANBHTLF5Iq+CoE
tG9+coWfbMS83USE8/qoMOy8lI7MDS+PmYqw1Jt4cbqCsghUi1kqCCHFf7IFeaCcW5eE3TQSL1Dt
1JO4r0dbqdG487hn35tW14HL7p2ndd5O2doaW6WHOU5KaUxdvtR5/c0d6QYeePpNi4GzVkdqqYBw
L97ks0je9FGtv4R9Vi9EyUIWs5gW27Gpm5Kq7c8MeJywsb0YdUDSd3UjbWXSFWjdfP/aT/m7sLG9
GGUb20FHwdgAhn5i9niTsvlN0NCxF6HjVtdioWIBbSiKTlFXv25dHFgf8KniSaJ15iISXUCPeKuO
7GsOLmxYaom9gzRqcE83YLxUwP29H8V4BY4zLJPHXnQyvR10R9H7Mrr1zmzkFUvDTtDYC0x9pAsf
Nd52XInX+bhXg6nDOp83XY+nkdP2y95Yi0lr9dmtQGdlf4TtEC8k+6IzGpSd6MIa+d3sxfvc8bA8
dfNoezpnO61yP8ADrY65Sz65YyFVZ+l8Dpu4F5F0qPeha4ulmiN098kg74q6+DNsbC8iZd/OKYSh
IkAccbuNYv6NFTTsYIPy2vNlwcaepj7Gkdy0fC/TmUHPoMjWoMCBOs/z0fN5zRaWrtFl4h/NeM7R
Xw5ZE8h1PB+4Ec3EpuZYKpsDX7FRYBWTiX8KG9yLyQ3gkeMYQPlMGn239Wi3TxT8h7DBvbA01sYy
6jF43qfvqNU/Wgb2ftjYXlyC0HfEU17MF6PouxRjAx0bOrYXmsnWZpTuCcrGhMavbS66h4ntPHBV
vOhsZrb2uM9io6SOly7uPve8CbpggU/3fK/shWWbLBD5Oz2W7hSzmo9nghtQG5RaWOEFqN5AdgeK
YqkE09+ibf2C5sPnoC/qg7VWSmPDKdbFWpGeJyvbkkJiOegegYLQ85UxzQo0fwEuu9j3d6ChgdA4
BUaoj4vqVBazrKFzBRLfGxAr+AWeNSRsxXMvQq0wwFzadali3b9nEcRFTBN0SWE+4Mmk0XAIAMAr
MK9u7N7EnBLW/Rv2Ob0APdBRmHO1zEAA8K9i3iHQkn4MG9qLz90stcwJWAhH0m9lP2bTdVBdGHQB
WOjnO2VMt6FYga+p0EICPcONjxkFlyxs6l6AWk1m2SSbqUbgU/pytiZ6Fa3x8SFseC88t4giKzKL
L7oef8+4we1z/j1oaB+BtODgaTQf50py8WHX+j5WKmwf+uCjtc4lh6KQqdw6NRcwTcg56ocfYfP2
js8WLJLZ7HKuiga0HXY8qvyla+ftHPvflgvzYUYb+Kb9qjNTNWqFWI7JePdm4hrUto6Ash42f+8Q
TeWwD3JMTdW39K++YV8iLT+FDe2F6A4QYs+z2iD+VzDjZpOUycrCWnXsJrD29BYKGYG0NZRg4iz5
otYI/MZI/xE2cy9Gm33S0oA9XaWkZdvFUXtAESXvGxl2SGdenLJGiNzmPbbkHr0Hb+NTO4W9xVnm
xWjfphMezBi6Por3S9y+rSkPakP9lNZ5uuR9ftQKvCNTUTDXqigny/tEbG0Q+BaWXs8/KMnWGHIs
2Il17I7ygHIBZYGILuYDltReRwsIY6YaVh2X8Zpdp02EVYfBeng+88Uwa1mBJUd6fLUe5FWf7mEx
5MOUig0kMVBSTZXVYigzd7wqTBvWNwPf6/m8C+ySeCfSVMm4vqPJ9NrES+C8veg0LboTfIumaub5
lzYx73s5BT3iGPeCs96ZkkJ3puJYmbIALrycDpWH5UMfLrTQboq6sZjQtwH33RD53kZF2BXUBwnH
Md5ZQxpPlWip6kqIv6wXG0c8bGF8KFLXFYCNQTWiosWhTrnl/EPfxi7si/pQpBVU5hpguKlyhSGQ
3WBQrYAcRlDC9WFIECjKx3QfsV3GgoEvOeQHpG/LvFhlUA0HHf7nex34WWh97APWXjQbNBVQPKvA
RZvC+gjMhxsd0kJPRYETmkeznE7rptW/tsi2wEejDzgCrz5mWxGBdN0c81kJ3pVYofQatv5euGbZ
vufxGuvK9pycYg7gN6xpAvNj6kXs0gMbP9NBVzPLxFImjshv8tgHEbh7vNN0bw032461GZtuLNtF
fd77JOzMS/3jlIybijKLdR9yfXfM8XzdesiVBa27jzda6UoP3W+66urUfYnHWtyxLNcybGF8wBFF
nkzJgc8K1vg0XzObUwb5qJFPgT/g3X7RjJMQqFix8lDIuTcm/9xMfVhtnvmQo0wqAhCw0VXGlo+t
mN9vcvkYtu7erVfUx0b7XkxVNhR/DeOWlA3sfwIXxTtWJ5TM8wjqYJAQ7fK/MjQV7qxUa+CW8UIV
Wnb74Wg6VojUouSAvoCYH2WXsIUhz9OkOSL06HuMnq6HLdME3PHhJRTTzyvoLx40vvbh1O6A1+Vk
rFaoo9YlusUdkk3W7vIkVCHkndLH9tFCdfWezjTi1dI0U/oJFLdsegdR29l8LDLF7yT6kuNdJ6FR
WGY9ZEceIbKQx1vpWDeZz9tEIAUXH9Mgv41NE0HCBhdLck5S1NovmYYkwLlPUCU7cXSpdwjORXlX
kQxiGff12G3HKYlRTfgzArL3uCa0gz4ohYwf5OX6FopwUDhsZrDtiLNXRcjuzvOq6PDXDm2w+t3C
eNR9n5N0mqrcEQjpmR1/71lDpwnSjmuanwZoRMoTPzJh70QyiuI1zwdQteLJkY8kL7ZyhWLNvW5n
46p4LCAgu6l+ZefVMJFeViifooTdNyuDBKxWI+6zRXGcctPSrFRja5JX21B3xX1Pk4VVDqu9nVIq
13vnIvVohjWGkC5EF1zZ1aZ2H/ukG7OwW4iPfpmGdgG+vRirAsW2MiXd68aJMNYK88EvkJhJIHqt
x+oYNQSBx3jrqh3qMoG3P+Zle7Uzy6WlY8Uh84eSVQTlDFqE5QUfpkZZfeAW3Ouq4eqfmsmPddYG
Lnr+PGxXtJH2nmDeqa2ruegf6jQJq2z6CLUUEnBHgvJXBW+GvayjQkLNKRkD18S7lhkoFXCJjmMl
SNeVu5z+5Z0Ju7FSL8l34OauQxaPlT2sfgT9q70b6aLC8jD1snzD29gOhM+VMJK9Zrh8g1dgl69B
eZh6Wd4osa6rhgy1zIX9w+STQycCIjGBy+7t82RoE+gd46NyodL9AqUL68osSuV0Dpq/D/WCKtlW
R80yVmhU/btp9pBGcxjlAt57zze7tptZpyODJF5cAEe2zNnen2jRkX/D5u5datZ0cnS1RFf9BPG/
EppKFD12KICFYTGgPvb8D9j00CfxDq13GieshIpid2nbNvCC4OO9dLbVnRM4wtGjMScgyqBlE21x
FbY43rbfYrCX03YYwUTt+wdO1xRq75OBelfY+N7Gn7tBAMg0IpNBiu6hGWj8F960R1gpmHjXm2xX
k1Mz7qsoZUG/jtW2yuIlC9z03juE0N4W7S3Bd60Sp3mbRGkXpcJilvgxa5Ld7ngnQzxloP80QJv/
4xQU5sMW3gd9pYQOXdNJiBrxbI3uZTEkUCDbtvSF3uFv6P3MB36BD1rXvIdQlesTaj5p2a7jqc4G
AgkgCBd9AiPsMYqKvjvjFieLkyjwGL02UZqOYV/fx4eBSMtj2+H+uR0QwTlFqoMAhYIAVR/2jPYB
YjymDm+WW2aCTUL9SrUCjPBjOpY48CN5R5qLrQEllQwVvBJbWe5btzEoJLE18I6SeOHNoSJqoNI0
VIclgC07+wXo/R9Boe2jxPpFHUth3VBpqE6ddkH/dUsaOnEvssUE1UJItqkKd9trT+QDIXNYCeAn
x/EJrFBFUSwg2Q6qC1vnk4wYWg2b+xC2KF5UL01vRALfgqqGltzFNhDIUmkbeFT6OLEtg43HgC8K
3eU9+q4gF/vDRDhugubuA8Xmjg0jGyDwi+vKY7a6V/0kXtByue23XzwVfZyY2NFn5FCPhRg8aR6S
3uSlaMct7BDzoWKb5G2+SqoqKvNRlF2eTw9NZocmLEx9wBgrIDDJh1hVWQqVwKnI7yRLjrBzwIeM
QRNaQIm4heAfa7bXs4Fic7Z06/v//qa3TPKrhafP7yYFdLbWLcH53js24dYcz6K49HEyjhdo+o9D
0B2L+npMEOSoa72YvnIm+46H+huVNV/++y/49daBJ9Dzv4CtkOxLQccCQ3CsoYY52/WfjU5h2gC0
8BaoxV15aOqhrwqd16juzPk9FKttUEjBEO/55EfS2d0ZTL6Gvu0lTYguofkQlg6oj98puMuOdEax
A/qbyXEeWjR/Tx2U7NagxyI0AJ5PP1+3GiLyTV8lDT/OuYjjdyPIU0G5EgXo56MfvMWLfPupVi92
SBbCeeuREA2NvZCdAyus5+PnB69zTsUI+U666BK7qLvl+7gYz2E/4F0QVdTOE2SHkTBT8tEu8QeR
1EEbh/meW5AkWfLYYO4o+aZniLx2pbOQ/QuZOFwxn6/MgAwZSUBVL0lm6g/rEemPQ5OGUewg9fZ8
9L4dEhuTub9dDPL3WtG0Wto0D1p06gMcNUpeca1uAdugVDZO+fuIQY45bGG8p5w9lgH2AZBslBy6
YicwYqevri/G9YXxfxYr/jcfUx9YxhklO+cW2QxyhurtlCSDvWuh0G+ueIhZcoWWHp/PU9rv4+vo
wKvgtc66SX0lCWVXywn0kFl0pGXhagv5gyOS8q0a0p2c1DQd7cmJpnbfx/po7XXQOHNPNu32H1Qx
9gpOTMvD0TZwparthiEgUtGUsWqZ+9Qk4Le8lzchiU9Dm+v5jAcbc/hXs52aGMjPx043kYPYNZvb
N3AjGdegiyT1AXHANU7kRki+iDrpHtdCFq9JC0HjF9b8NweID4kbIwmlyHiVFdnjfziZ4Kkl3gVt
Fx8Sh7cmjMn4JivqgLOFFdk9GeeXlC5ue+5XW8U7+KyNlHDzLqtJQ0zj3syu384FlIfNecMLAZ49
Be+br2F/iXcMJlORcramsop0xC9Mbv3V6V58DhudPM8IMA6yeCNSWa0jayAu7b4scL144fv++ooD
T7zng0MdtbXSWFnx3rYfgapmb/NG7N/2LoleKA7+7ie8czCui0wQPcnLvFPJz80yQYS8XA2K7fft
BkbbC4/q33xyHzUHeIKwK+/FRdxcLK423ROgw6Co3SqXkxMQ3WFVJeqD6AR8jFRteizaQCIA3fgX
JKLAO1XmVdwiCI6gEDDIKkE7boH/yUKTD/+9k37zJXwQXUaB5XTg4J6lmLLlHsri6XXMC/T9uVj7
OAhdAOfN51sqxdi8bbMIMh3Q9gPXXfxZTFkYtZX6Wl3zUUxte5iuyrJ0uQJznZd1k4Q9Vn46lT5F
da0tSpHUJk3Vspxd9Xqoc160Qe84uLI9XxjYKiR9n/U1zCDahxhyzmzkgWvuhfFB434eFwztHLvU
xXRVLQl6H1IfQ3dAqaydC1mfZUteZWn0auJhVTzqC3MBVngTwm3rM5wQp4dunpcqSunH/97svzm5
fAhdnWbNetAImz0R80VrA4u2omfXsNG9KI0Laeo0jtoKStH6FVCvXyZxhInDUh9DJ3gmYERg26o/
SH+1xTLcxVMfBkWlPowuOnb0DZVpq7brJrgm5K+jzMyXsHXxzt29iyc707E4L4q1+5WQ7bM2UoYV
FSn3TtpmLJapZ0NxHtbpUfZj1Zkx7BD3oXRHs+9CCVyk+gVWcpDNjk+uT1/IvL/bjF58wg1mcWD4
IYjmdSyBGjtpDkXhsDX3DlgHkZ55XXQL1pI6ToPQI3xEzFCEAdIgSP08bxXqAOdCpgWIVqMjZd7X
5tW4yzaMB0l9NJ3lQz1kEy3OanNoe74HCuCFlflZqv3FNdDH0jHuEohTiaZKjoiur+JWpSAYCYht
foJS0ggTjQIeFtm0qvTCUV3bTtMC6ypIWGp+XCcIqU8XpxNBvqksJWtV5zBfDarAU+adk32xwD8j
T+dLm+3mmtYLZH4jGdZXo77CD90Idb2EMQ3dVAOUxfIJlMr9hXX9zXb2BX4sDDlraFrNlyNLXClj
aU6ZDMxPjDzfbrB1gmnRtMKLQUGiYVuOf2PThPGH4H36fPDIaThR99ReBBDz52Jr4PdFQN8KikQf
MuEAfa7bFck00+T7rOhH1ZAwSiX1ERONwot91Mxe2tjA5lGT+lLXgM4EzdyHhO7RlEAEZrmZH5pF
3LcUpiuXZpaw2wz7AW+3Dy3MWfKkyc67aThOy6Ozw6lJeUJ/hP2Ad/KYRVq31tre7DD0BXYY21kX
LKjtQVPv3MH7IaWaKntJbiJ0WzpBNoBlQWB/6kNCdbayuV4w+Gqh7d3PbCrHnoQBTmF2/3zHswb2
O60d7IV0iYaXUQIzoKH/Hrbo3tEzyjyPY1iAXFbSqDKPIrAJdxaHXbJ8RKgA8DlmEV0uI2Be5SiN
eOwzuvwRNHcfEMo2rWnCp+USFWjBMenEpT3SsIXxBehasyUjUAHLBYqm5N0A75XvPHZZ2J3cR4PC
d3WbYNo2X4YBxoJQNoc8EYNv0X8vzC0kf3Fo+ipffSInIkeaX3ndp+u7xqoW1secwFSUGY1T8L9/
5jeHiA+mqldaw0IICS0leXReSQr3nt2Ggamor/elmzpbFo7RhRjacw4k1akYj7/Dpu4lM9nhCwDP
aC5618epVVN3nlUdlmt8MFWhWbyoNDWXVdr1qpqcwCypcGHJxgdTHXCG5jAvMpelcf01meVnl3Rp
4Cf1jm7XKOZG1HouOm+yk+r37gRIahjsH13955lsyI5syfJaXyIVmVPn9FBSfYQpN4EB/Xz0mrEe
JqBcX+Cs15xcqvpTDmn5sOPPx4DZBG611oj82nWD++Rivf/RxcNLWu+/CSUfBVbTbUsswMoXuOOC
j3LL8ZokL9UIfze699aFww3K1UdRXFmE0vka/Rj74VNQIPnoL5nA4gqWFtkVOl91X64OAL+l2ec/
w4b34jTpRwpzZVPAEk8NwLB2O4dPWgKHubBY9eW+NFyicHHSxbWYk7IryEMfBx5+xLtyQIhrWg4Y
R14Vw1X4hocYwgCJ1Ed+wUChrZtsKq7uJn0kt4SdWJNvLxwfv9suXph2cd8s7hjZGSpc8DDU72Ie
piYId8vnMRqnABVR2DLDy3yruiF6zYb2fdBW+R/IF2SEGkMHdibcKniKaTjY3zebsp/Dxvf6eoNO
pq63Y3ZlY7JD45zN7OFG1XtJT/AWjL84tH08VxtJzfKt5lelo/luqddVPc5ZLMQFPNWsvodZ3ta8
WVz9//G4/vk6+NWP3krxT9BA2UHqYe2mHi+FfRv2U9K3PdEXKRF1/bWpdwkvuFHBQQZupxPO9r07
zJDdj73mjbriYd1JVfZOrsd9Ux9R/Y3SDbC7IQakVZa0O9y2wYXe6Om15Emu36wzvOH5/R6xbIIp
mutF1JYxLVoqSrNkGo+ikePTlWkxjeKbNo2ySclk1qp76iTkns8HHvSZOB/TupmTPGi3f4SE3La2
ZSrhugOZ7wN+ikOZFDaCUWFxQLtd3iVacmjTK9QsFwUrQtNbTHCG4/VnTRTujl3W5f8qrfCfjZ3Y
euaA+1J4MQ6rPMHTkbSVg5U1XJdkDGf3byOKtpktd5PEyVamORfNzT1PFj+UsPDeAZHTjQZ+t6bt
jj9vIL077dSxlwNEo+bTtrVzImEuPbr64tCyIZeI1Pt8glnv1BWnlW9Hqs5khUXuqyRfeXFtU+tg
QN5M43EHGf/hBHvclb/pYtvm57il8M9uMvhKDnuu8nOuIIBb7pPg0wD8Zjc24rwUeGJlJ1RIdjFi
ZhMsSsuc8Ay8ERih1yzDtRG5hCv7gK81Ni0sBXGzK4sk6uHjrAby17Qoft4Ot2c/bOsOetVmTOWj
MyTnfzQTybJHusDq9LWDi7MV596Bo8KuxWYTKCI4ntn+DRgaOb6XbluNyYnYFcJeY6ga4zam4tHJ
u4PTffs+5bAcFqdxRTEYzrZdXnxK9gxihCc4nsNJTOTRTQayt/2wRWCxOIC2oKCT2dVeDnzLcbwn
KQpp5J7LIYe3NZfFlctmOI0cZuUGD1gYS6+3m+U6v4rtLC+bQY565KOw3ad9J2LIsR1GYq8dTWEr
O4qGEajENkd/Ro2jyb/mCx3GV8XuUASC2bTdTblpGEP3JYyTM4Ib1LJQSk9FSmn3PpG54VcIrEi4
mZMtQVU7XqCt5tBmXlYB7lZ8zHwBkpNDZC3u7XfSR+DMmDVj+mOWqiQ/N/Wcdt9RB8l7BI1i43qe
u3ScH6WNBf8EeNakrh28lMm5GOHS/eDSiMjXSbNJ93c79KMFY8ZEI3ucELTNZdDwRr7XKummL02k
8pggvUnB0zJTrNCP8bLI5Dvr6jo/yloUSlTbtq7pQwyz3vHPbuNHeoLmfQw2uthoUkDaOeX9j3rZ
hBSlnGT+PaV80l/ALnfNCd0lnF2gSozHG6D65hz/8xixH2NnVneviD6OT9LFSXLSDSLpB+x5V34n
JHGPSxGLa0ymvHubG5vxS5y3uvkwyWZ37zZwJEiETjR0A/LzTYmY388bLDr/lejcNK/guQov5HHs
+rqaSJGYV3Yq4A7aMcrI15zDkfLvZJP1Iyjk0QPaSO4H2CGq7LZUwKib1dF5b12+PcDkYXV3EA+i
f/ZFy2BE3YPp+D47mn54TETdwnpzbO1xiaam2++Kw8S8gqO2jL/EvJb1h2YqhD7pY4mgiQjX3Bk8
FMVh5Le6OTVv5tgt8T3VXPef4axRj29tWmTNNW7kmJ2XvVuRO7cUvvBX4KcT82YqVv6jhybAcKpR
pdneNntskEqacd8uPB0XI84xulXrK9lB4PhaC6vBUImyVXxq8rlg9wqu57xc6sjw700DH+STGGa5
dGU+JHUMcyBG9/u5V/NyXjYSR+dlHkgCo1236a90KTCDcxqLBHKGO2bRRmI2ZbdH83AZbpI8cMhG
+n6cNhDTLqk2218kPjYOxzMBz+ITrCD4G1yXxD81Qjg7dX1DFNzat3T8ckzwZ4TAkVKQPCupdK69
3xawZD8d8KczddlMMLpFvnd6G8eyW3BMbyUq3uv8Y7MrTf+AR4bBgSChVlN86DHK7UPqxZoLTBzR
6bwMG1FpCe7nkFZ9kRTyssIpuj/gxr3k7tW2zwIVzB3WT8UdnHdxRwSTrWnuZxifRfCSbdvoI0+l
IeeGcRud53hNinN2ONf9YWJHu5uX9lZUVo1RfZ42Uh+vKZzn3sXJ3LUfUUUmh4RncL8UV6jGi+Wh
kHjBPB6oQuRXJlucd0tdpxNw3qzZXysRd/I0OpMsJ6ZNFoG3YOYa9uExdlDyYYmlAhljYMvyrt3j
jNyNaBl3jyOU7tqpXA8GhxvoipfTZorkPqHFvLxN5ykavpF2z3t4EdMZe2xoVN/8TfvcYScoSLbN
l1Hk7XrFX7Z3l1TBjPczl2tTP8yi7eg9SLS8f2MNgSnWBemoh6GzjWj9j4NUMjTN56ZL7+axFQLY
ZpCYsEdy6Cg9wMv60He6UxSYYQIMcXyZNVwPYcl7DOQjfjP/Y02aZf+rh2g8OOkFaUZ2miC/KE4R
8lN92mu9f+wIX+hdXmhwXdJhAFhVrSaPTgc83uHyZsZtB4FkzeCuekR58w7TTdO3+3aI9i4aCEPn
qK1lZD8p5cbhAdDdxuFWNLj9B06NGT6ucxvHyftbp4bGJ9pMmXvj4oKpGZnYHfV93uHTQ2iWwxHs
9YaEPL2F+8Vs7uOlKZa7feFFeju59waaAALLOM/lUiDKY+jVCWfFaWq343hPi70vSjiN5fyaMYX8
Vkq6deZtvCT59M2ZWbOu7Jd1T+8PRuP9kWH3N3928w6PGPyRdKzfwii42z7kEov44Ehn9vNAbbrc
4fyPYBC/LkSt/0fdly1JbmNZ/kqZHuapqQEJYptp1QNJ38Jjj8jI5YUWmRnJnQQJgCD59X08S11V
yilVTcvGxqxNMqWlItzDgySAe889yw7R1QKJ1ayxw4abiRDb/eyboHsnwtV29zOu2Xw11mDg3dVz
VVZpXJeD+bBoEbGPXSRW2SEOHUbVGleKtsXXHp6p5B6u9bF6HeC80nwaWyQKo7+CISJNuzqqxbET
1qyo30oi+ZCMgVtxFLYLjg9Ue7CM5QFDwLGBScOwgjYqgs9wlV/jlOBQr0+bG5tn4fB87xriW55W
y4b5Syf6+D2LwItI6SoR/Y5eNBYIKRyEO0StYHxO6EK68VaXYwnJcQj7zr1WdTvc0E77oE04FFiv
9TDaZc/CKp7vwp5M8N/FnFU9x7L35X5ukZRzP0Yl/SANUl4yE+eAAmQVWH679joXezLVPrrD/In2
j20jzHYO634csGHGWBugxYOoJg8NTFSnm7xrlV5SGcfF/QrmS5AuvOrmR7P5EYJo6F4jn8LGMG9S
ocJK3zUGGFNSdkU77ugKXW27h0Qt3Mmc9n02kTzCnajKNryJnb4kuXJzKX4k2L4INFdyZlHWuZGE
Lmm2ZX1fyxauScnWQfj3rCFuoy+F4cP11DtUXGlZ1EEa1nCFW1Ps7nMiPKf2feRge3AsuNc478WC
xOKEQsCrbbLSOLAnxICX5MEhbR0J1oyPWbOWrj80C5b6R0aQv72PRNOGSCaZYHkWxhWVGW3BxEwM
Dbe9wmHkbTKxvDa3DtQp1acd70R73Zh8vZPrJQB1mzZ6NlI2ZCeRYLPgGEXJkSEPHdu+b+egODW8
Z/bZtXk4P/YTcpUBS4/RJ6SaIwE892V8RLmGIMsGKpoBU7dkWuryWFoEb/cxdNU4bGm6bVbpZEAY
Es/sRKJjgXrgve8EPRewUuoSrurRpGUY8QKerTpKhgGJ0FfSF+vXGOqf+ibC0ukOW202dTMG0XRP
PCxe0QJRe11wGW2oncJ4up8DDSa5XUTKISO/AYQOsTbyRCncyKHkvVknGb0bfFAgErzmTdJ1iz3P
TavuCg8H/azBY5yyxfk0KvPqGMexuna8WK+KcGk/rcVcPynaTmlF+EPLpu4dq1WvLvHTBrQT1zbN
mCykUt4kBarddb8i3m098jkqXni46Ctbr1JleJyRqL65bdn3U82uVtAX43c+kOKpaD1YC1lkexEc
807Mvk1yPLkSMvm1JF8rm6/2HWOcr8lcdYsElTOc/ZpVFz+AU7suG2xT5BSuGsm642gi9DEVHeqs
4HMYXM1hDEEz5NOeXE1lmKtbEyzG7mfo/MnLxtuIp2qNZ3t2sWbFJ1Su3bhjNgqio650FV/Xy9wi
f7Xo5zbxoZ7kC3WtJncjdVTvYNOw9rAkMLw8DQhBbz8GJbKEkWy+VqzKiKlLmzhWoRRV1okqnVrU
KD7JaUBpm6xsddWXRTI6Xs/LMG+fEUrlUQ6VViLWHQMiPjCd1BAM1Tu46OTRYZJtVT8sIXr/3dDH
tNtbgX0nQ0dTiNN4od/tRtFF9A6impqdwZ+lYRaqhalTCNnU8q2CPqC7c8ZKTdJVFXN5ZUZDCU9g
KCIxkdrqqF0f0BqLCF0wKJvb2ZjWYF8oe+HDG91hST41aFb9x4Y16hQPmEpQ03nxMTS0CT51mGmh
TV4GhpRCgNBliqcDxVKSuxm7u5ncks1dMcn3HJp++yI99vYPxowqqjMmxgDnVd6zYH7ifquXIgmi
SCDb3eZTl6qcttGt2eSyfosh92+/ThXUbDtZI+rvcW3LRcFwgA3TPTKeWbPs+hnurgdVBdFwz7HK
sCMSOo0S21O5CICFZQ/5/rGmpPRH2pQN6bJ4m1ACJC3nvIAN/ID+AxVfPabrrC+1CGJcrH+o7TQV
/qCaopleWhMM836oA6tOxijHcMc25adsjNpl/tQoBi0SLxtlPlnfjPNeF6QLUtW48FyNRc7TEbNH
e73WdVzglogKYkADlD2d9DyiKB057GRe3AaXXBgBjPn1UETjweeLfBxptFpUB2zb9N3ati1C5BeZ
QBRWOIp8MVkP+9VLtqYFIkjdaaMGDVqpnEiM9UOgE+usNw8i9KL8NiPaRO62hpAy4/5yriaFQcbE
MUeZfV3BmgtPHQ07epXXyDQ962Id3iuJi5BRa+OwTUiFKfOLabc6QJW6kuCwbHiuD6gDQnFlcQTU
r97T6oAWIFQfB1icizJlqiDVo55ZWcISOux45RI8ZIymErvqim4ugHBuE2VY3craky2dsODfNSHr
dm1e8R5LLXdXAwGCcQO8grJ72S+8ufLzpD4DifmA0sNGHJEqHBTwARkx0WMfFfkn+FnUVVZ02BSr
empurCWozDYYjPhTK2SZ6m1F4AgY9ORYiYm2N6Olpr2ZcmfOTuuhfkVms30LxsaYbHEBbmO8iJfG
xZfhTiNxti+xf+GoJWxWbCNqdfCa7JK0XnR7iJUVT2rtC9QGoC3MCLuTC/Ba7IQG+I6tbz0I/YhI
lBekB8Lv6aVBMZZEDAz0E6B0Za7pKMfgngqQ+EAKEn0xn2ZeFLbFTXErMVB053W1WwiVtdjVklcP
xYhs+F0IocD4bZmjZk6DEsjVJ9gdIEF2YtLEu76M1giPZhU9TRX6kcPa1yaJamygOpndhBS7InLl
F8k6E71Q78o5XTsTotsRcTsvST3LNvhYVWH+WV5Kk6NcoDJ/t3L9ZpvWxih31RiimO3ixh0VMkFk
qvjUvQ0MSzaRiOxIEQtC4l2rYvkd/Gvohouwyh38LfMYrQxC1fdLJLz4oItAQX9cqRzIYKA6OCMZ
DSuODEVJ568YH4YvbbvQEPtcXNb9C5zaVJ1GU+npsbbx+hWtc7GdpzbK37qy3RRDJPc6R9dd6ePx
XZATzt5CRGawr2gtSyAjdcGu1TA12DtIuaZREY7+flK50JAaYbYUF7wg91XAOdBslB7kzDwMRfdq
nniULXYjdDfz2cxJ27nlCZ7IYfxeT2p+CILYvJe5CN9h3G63w5BDb3EMBjTGS9st847HEoa+Wz3r
97jmzbkPG9DaeI1MbHicxMNpKJUaU6b7zic6yJsPUOouycigk9E69vw8LTq4F9wvN1xtpdwPOSxG
di1bl8OIWIlDqFtyipFjjD2vp+alVAVb73QxQD08z/D7SdjocvvkHSxeP8GDA82ZWX1cfgA0TEXC
5xXXIfJ1jW1B0ZAOqDgE9MeS2HflwlEkUkAJRYEqo2YB7GHFFmQTaPBsx2QB3MQj8Rw5JWLaqkOk
iX6B/XrdPEZygAh8QQLDY4UPktBqDrVLsW2v1icTsDF6p5tSxCnV+DjvhiH3w74e87pMo1ho//nC
dT0Nfdt150WIrcXPaALz2ISxb+9oITwKtrWieyl1MBxBoRT+AVB0v8M20ff7ibHaZFE5tyHockhu
3Q2eYBOBD8wV7gXgiFyzQaPd9iAtz+tqH01Q1nPaMxe2V0Ewd9sB9mPb14AhNilpEQ15LrZhwfLJ
JS5H48muUbFLx9H6KzqEKDjLqj+vumSPYC+PUAjA3xE4B4waaCzyD8EGOvleQiGzvgPOtMw4iAwJ
v1o5FZFABk6zAR4wrdP9qceEovpUbqPpUtwpCN5lU6Iyx47Zzl1ajrmGfznMi9QNLNKkSJXn2p2W
IR4RUI/cbGSX5jOXVRIw2B7uvaKXRRjUc1EgXXFEx4TNp8nqzSh/shBlqCQaFttiGWPe9eZwduYn
PVlSZDMctQmYmF0Uhy9DjAotm72aylTEM4fWx/K1eak4nF4yAr/56kMLQCNOut6V5TuybNg9iiDg
4RUXYcfSTkVtlA1Aw+Z06GdAWwl0eUuR1dBxkbtYj5N8QCBINScrXKD1zq05G5I12mJUMEqH9ksw
IVUhYZB6qAdk2cziUK7aiy8cv5R/b1Cg8mtmwlakcSua6L4tPIFpskZTUFam6x5XCPibfVQb0q0J
g9h+BoBZ9luBRt0CcsBDvaAoRK55PiKMWpn8phxItZ3CmCz9jdLAaROuqYdfui6nN8JoVd5GW96D
CpKTpj86OQfRPSRqgmNNTXTzmP/0q94jv9FPe5CLdJdiqsLc5953JkBA4mblKWgBp3wgbXe5QxyN
TxZOStfQ/aEB624d8MMmhb7CGpfAcyiMzoRHDM0ls0F/rMCzmD/7aFUmyznP7cFjv/bZxLRudi2l
cswiJNLYJhmnbi336AZbdc5j2K+BfNle4sGQljZkdVmp5Sq3RMgUOpFCsQxODAQLqso7zLMxCh2K
Kz4vdEPNYnV8BEgwYFo/orZLgMOGTQJt3lZnIx6Ddh8vLhzfRMWaNkDvEMaWIokeJibfdNO10HM1
mJBZHKYd6sQ4DdpJHXiko3U5NaGk8gWe0Z299mjtF41fvIrrGDXIQoc7Jqp2eR/gt1FBUoaWDm5/
cbNGQzrLbY5v3aWDPufB0CwovsCXhcHUmhfF3dqFBs3K5CjHAo8bYFYixayFoVslplP9l2pFdw06
1So68jbZORhRDAiGhmmwkNvOSKsZpiujBifvGDaPAqWirLevTYlpxKe69kOzj4u4DzyurqY9wpL5
VD3EKPexliMlYrbXKI3Gt1LHzMvEhgpuzV7ETj6HwOcqxL8A/7ef1RS75kUHbgjuhwIDn4f50qjC
sWCVbZSKeYSvMWRzempPZYe5Fx6SWNP9JND48B1yFN14hii1YD7dMEMa0OlWk6hERhi38uw1JknX
qK4lv0ZZFJunvq2b6UoU1A+nwCHM/BMlJCcpv9Rsezd0gUtaEfngeiAweHoInHEV9jjY0KcKlXG/
W10np9vKWAhdOkbE/Ly1YJGlkhgMeSra9rCYmYrAfpHc6PyZeoPNv0e+QT1vV8GGfG2UrPA1bE9e
F3RFPYUM6jQUi3XHdegVPU5A2f2hbfhGXoAqMnZVNZgEppp0IADsIN0kk8zwbG7Ati6IWrAfpyhy
KeVdHSRYczdcmzXGrJHBHmNPQlCrx30VhJj38B4jnjVpEbEmk3VcNMumUrD4aBentqOOl4D0sHSL
vFPA9ApkpQ1OhfU1CydjXpiBq/qbKGLXXaOwrcS+ZaVTT95jNJO1hawLqBNBTr2v+r7l57xo++bJ
S1yY8xrJxlwRh0idmxmfNULk+Lqx+9qJrrha6kk179DoVfmcEodqeczqQXaArWN4tFUkdVjMOkjh
/cFXnWEOKKTaN6AGXyyMxUc4GBITpkrBALPbdRgFGXdCATbhwlpR6+ke53QP4BlkHIzSULup9Yni
skNcpVjZbO8wPcmX/YyVvFfbJq7RRPPgHAW5QmHHCdzrossYT0YHUnOuD00tRna9tQNErmG0Dvaj
r5yCaUXjYB2yt4Ve1jIJPWcCM84IpCsyGjmnHMCG+dTNsKy/H2C7YKL9xeo1BKaxMKSvy2lTc52q
zvsmW7vpkihnDb9lUx73pxjicn8ce+1oVsyr7q8jA58aQKQE89ZhnYTbVwDxwyQwYRjsMaO0VdbK
QqHt1KPRqJBoV9HXRSDm/ZxvRb08wpIhtsDey3zavtKe0eKzbgbSngiF1PFEgPqONxBoT/a5hSU1
apuexct1GAdm/baOrNbX61oEBgDfEsl0UyhHEuDLDrOVyhiQ/UYb3zjSGZ/aFcGhpwkfoc7cFkVN
Cm48x8w8ji+MxlnuFcikt+2MZOB3xDeFuZnsFvZXArF32+VuixxaB2VXRLcbEdefAfMFNKuZDLSB
WSv6mdT0eNq7HSrrBgckNtJLm+8n7e9UMM00XYMgnLBY5DhBLqHZ5QoqDbgKlcTE1J0RcxtA2V2J
6qu7nI9fhYNSHfYGrDiNg1rDhGC/a5/oNEUWa69g3WgTLQ2E/oCYEBQlSlKRjEYsAL2GFmN+G5XC
+j22UXghzm1fzW+2XvRyPWyiY++nxfEYzctYu6t1FdvyXopOz3cXD0d6NJ3Lkw5mN2OCarS4gOV6
mXHmYoB5L9dViStTQmlwi0FJBw8G1MYboK2xAWrFEFwZM/sK4eooEwiLIr9buG6A2k1j+QiaRIiK
aEYo82MNZiPORWRswLtRzTJXL0ITBXJvTzDPmg99Po2DTSro/eJkkOAR0BSz78m9AUgqAN4CsCH2
FWjFVgUJtyhf64Rhl7XAENsBao8EJvXoO/cL5KEIB+qXmJcfobBe3ZQ4jxCb8dDNllV16kf4h6MO
JXxhYTbRElSO7N/MZGHPGzB5wKSK2pSAEWSSQNoxT2GUTN9RvDo4z74s9EmVF+y3QPu96MueGed3
Q2SmHdCCzYHXGuTB6d9yt5BlNXF7hFH3smSE14NLtrVkdxhY9S7jOcTff4zB9GP4HF/jvht60+6I
+lDHz3z+Y3zmHw2FWEtnjGvwvrR6lAAtKvYHJTQ/2gkNMDxUeSXEHsckAYikZnJjsFubf6Hh/R3D
KowMfsv0ARQWWTDSMJkIsP7GcqjsufPBABtBM2kATtFcIxZAqDG6XwygWzRYdUDSIVhwn/45herC
KvpHbKMfiGUFRjRLFUxiPyDNtM0q6AhuQB4cU9RrGD9iFidP//wn/R6Z6gee2TQaPGrgFO9hCDCK
J7sOuct0gTo38ziZ4E4KR5IWVemy9v/iCv8Oa+5Hd6Ia/DCcJhHbc4lMDgvbmd0IrPlf/EK/9+4/
sM80Ev2MKBUDc6T73Ezhi5c6/2PSEfIDPRRl+tjpImf7FbEfSTmtp8q19A+++Q8MMxuGth8cZ3tg
0DsMUqskD4E8/vPb/HtX5Qd6aL7MlWWq4vuCBAZn+pwnYYnT/4+9++Wn/h05Lmo0BTsI1yXaOnjz
WoWUyW14+udv/jtPKKG/fXM+hZ3XS43HpRQq+mqAKfmU8DVCrpCMOp1oBzb2EboSpv9QPB/90RGm
lIUXsBFie8ShsvfxOJnbOgS8+s9/oe+b6z9Y3eSH1S3qlQIWKuJ9J1UJBFr1q8dwBf+8raHlLzEq
b/yfPg57fqh0/Vxv1XOIJ40dc1O5Er1KUe6Qzvh1mSmimxMrUJL95dP9zy/L/yrehvu/fA7z53/H
378MGs1+Udof/vrn56HDv/9+ec1fv+e3r/jz4W24fe3ezI/f9JvX4H1//bnZq339zV92qMvt+uDe
pvXxzbjWfn9/fMLLd/7ffvFPb9/f5XnVb7/89Pq1q/oMTc9UfbE//fql09dffgrZd9umv0bKXn7C
r1++/Aq//HT12nXuT//jtdP/+0/nV1N21fQPXv/2auwvPwn+swCqiuA8GsYx+35M+LfvX6E/wwEJ
fsSCcPzBL94tPRJQy19+ouxnEERYKAUVeFbVRQZuBvf9S9HPkeARup8QFARAoeFP/3klfnOv/nbv
/tS77n6oemt++Sn+Lm3+P54tgl7pt6ulj1wROme2A2wbSBIE4JCCKAeDltJV862OGz7sVJ7DliIM
fLklzsTNjgTjeF6XOT8NRTHuV/Rgtzhey4ysi8ja0i3Hlg7dLrB50YEwAfdqmE5gWJAbjB99Tg24
r3YFIQ1TqtaU6/sFjgsHYUuQU0ZSHoduGu9CFzXviymfQCAdykMHN6rUY4p6VoVSp37zFCDmpVvq
y+mqq2bUZuCHvEo18TMYeqICUQ3HfWYGyjIJqtuh6ZoOLRJGk4P2HArKgtZPw9gD+xAylNfgiAR1
CvzLvhUCxXCKkVr0bPtgeLTrWK3nEVzO82VMfK2jJdjncsgPaxl/jettS7nki0uCHoSeoYkan4It
EINUyvMvLWvmiwFBdB6BPWfg0G4fg2audzi46RFEfwa8pVyfXaMEOZvCgMyh2tIMO+I64B0h7xgm
NLFLyqh1yRD4/MxqoT9DmzXD2lYHcNEKwrS2I82UIdPbUPfNe8FW/b6olDuSWEcfRNlg9k2Arl1V
Hfh6cCByNtW2mr446vILL49Hh1Jg5p/Au5ydPELBBswuquA5CDqx3ADwy/E616pva7htx3bZwCqq
2mA6c1Igi09XDUsi2MiATgUGSUVakuVbjXcBmVAXqaMT2qRpCY79RqNdufEw21qYgJWX76T8QtaC
70r0yCPXfRs97kIWTVS/NFW8YHKtRl28M9TjKOqAbG7Jxg0oRy1iwCYARrK467gAWaoby3sWdVB8
6AlpwIMG/wCXbRrWdHTlep8X+YK5at3uYrxldD/hI766GqDYjgWWZD3awikB+wvj0AA4eL6JFkxt
/JRTCZ8kaI/C/NuqQTxMgEuxdgcKlQKXA49Kucv9GD0KbvJXRVwDulQe4D9LGEG3W7E6K9Wq+J6O
YX+dV9ZkRAzTwxBBRQb9u0ZKots0RizRVj1WcVt8Y6MuQcIa9G6NqlWnbAh7DLsngAOJ9htmF0q2
zh1rGZCvOQvW163cwneYE0iWDUFIvxHlJZY07H7HbIa1LdAvKsllCACYB+w8kJ1uurmXNGubWKOJ
bzHCzZYZ0Ipi3Zzvo0DI+L6sNl1l8TwVwJIuihGUu4CUd62c2BPk342H7CiAla1l4DDu6nCUbRIt
jryhAwdoZauQJBaUcAx5i15cslVzdgU8DRlLYXthEC7Ll4jM8WkNB/Yl7rf2SEhrH5eC6evFFU22
hWN8j4uiYpzmkAoBQC9eY4qk545PzUmvgFinyFFw57lVd6JR0VOrDSza6VZGoEj5GfdpyVsL3tDm
h+zvcW0/bZiolUHxpCLtwBDX6m2KBpDJF4uxuxJV+bnaav+5yOt5z8d8vd104QEXmeDKYtR4XyvG
bFKAAgyeZLjGn/4CjFtBuz7pNjJct7hJme+G4hPepDvWJczv0BPHqY/Vp6Zv9K6Fv9b1hhYb4TyY
6lSYB17blbJPMi5EDf8FIDbC1KB329xVO6Qwb2lVakwjIW+q1nSOGDshgwdjFVrpNpPictesiPJr
zGQWEMAruSunjujdAnPCX3H5KYCRBkBoYfQOV4e8Mh2rd5w64BAYzz8OW/uw9r1PEV2JQSb4Wntg
A2ufLMg9feZsVudOt0taxHH1ZYjK+Mqxbd2R2ZEDjZf2NNe02jGMAlK6Dc0xqqCIBf7md2wcPZib
YgK9B3t6vzYiA+ASXPFiiT+2hQFbtCoRzMc8VZAltNVtgH3vpiM8vFMIoc9Kls8ZGSbzyLDP34/F
nGf9NMglnV0zHjioSPfcxc1ziInSW4g0jzJZ4Y62czJS561b6iNRpAL1n/lDHxfBlVYlO8Y+AtsB
5N8FZiC+q28Ak/hmF1K/fcbY1CBboqseOwypTn6xD2obFDqfGms2UVA8fcS5rc4YdJo2YWzlD9C2
mWQ2hR9h9km6KwmeXn8X5xaKt2Uov9Xgpz66mubPkb7oQwLi1efCmzoNzBSD/hxNr77r+HuHoXu2
kA24brV2ICJZzLbhxAzyABdxmFSzFw/dQsV1O208azHruJ6nIL7lYwm7obgO86uiwKh3g2XtSUVV
tS/KjZ5scBlGsdDavQjq9pEJ08FzHC5CF5beX4cq8HB9DSQF5GdBJgesCI5bWtNluS6rGqOlNQ+S
lcj4Ghjv/BHUlnpPYuLSDafYYVYd9CsYgqAjqnIw78Iw7q/GhurbTXIkuW1olN/oPPS3pcT2C5h1
UCkBoyEZnTRf8k0OICT3EaiUY3C1yc29dRJb8hCa+WkqcAxhkA7HMSoKeVWMRQPirYqnpFdRcVeA
FYkpTztV+5GBKFEg7PXkAK/jNNDCncHXCc9zR+CIFhB30LSuDgCjsdNhAlKBeVc016CSLJgjlQge
QW7uFXrrEVfTju9y30+wy9MRGN5rfmyWwTx6Nm37ADPpZ1MrKIZnjM2hVcF5jRL1LAN+W5KwP5k5
wIx6A2CfiJqLawgris/f24f/1wX6TfUFwo7hm/3vUKGTEESmi5fE7xfp2VtbVr8py//6ol8rc/Ez
LCNYyFCfEZgAXCRcv1bm/GdQpGFjKUIVIeX3YgH3a2UeyZ8xKKQgsYcKE0YeoUH+tTLHl+AJilcR
TsMQ7xj9Vyrz7xa3fyvM8cvJSEQqjkMOHxRQlX4AXKqeQT6iQFyqJnBNQCsfQbmcC/+hnO18BynP
swum4LGnFqA1KKn6DAo6FjEUZA1A47r92DXT/ArcszrljXI7TDYYWJfKJRj62X0FScfDwsnyiLcv
Ac96fV+AhvGGKcFn7wwUSZtCTHSN2TQf4uFeK58/jxEYjJjWmPd0iLvXQSK6JgDtIzF509yvA3ts
hnY+w8IdYgjK/QutOdmResuTAjSqTIES/TQM6gPOb5zkHpqpvhmXHQ8CfyA9lD5LFFWZMRqw6jo+
kY6WFyndgALDqke9BE3mnB2f4g4hN9hhuh02SrBfJsuO4JmPBzCS/HvAXyDFR3n7DfyW/nqmRflZ
8m7EANHYz66X5rl2UYdcrRz85ZjDaSeeKTqHuluCEAyyPPzU1CCp8BjevZeo72sfgtOeItRnAE4/
gjaPjL4KJo2KxVUCcRv5OIRCJSTXHhIPeIYMyTSzG2YRjZesopEvMmjNuRzDDkig3PSMHW+Abeb/
39X+mxb+v1PTDrKPjLBq/tme8M4Cw39tytf+6292hr+99i9bgwx/JnEkJd4RGDv5+61B/MzQyUeQ
SiGZ62Lk958te/gzYkOjSEmM1KniF++Mv20M+ILkChsHQZ+PV/0XWnZQMX4D9uIchxI/DBlgAxFL
5B3+gNFBYAbwEi3ToaghyT+IFuRPdHdDcACXir0a0F8fwhWtF2JqSVo0G2SopIFbxZ7G4PR6Jvw1
5o1V2oDhkOQ1RtSlfgfnfViIzVsqYGyVlXxsT8Lq+XNZOXsidUVBvLOQlqZq67G4Z8m2UwC1bpNK
UZHHHEt+39txu4soqp12jO2x7h0+BXdgxNYcWhUwdSAJ0dNbMc1rChYRhkOqq1QGgZCEJs5V14WM
QnQ7IBkGwoE8HWH5x7ardsbW8lzTUKWq3KZ0DOvgUNZUfa07DkEZ7GcIrBty9N2rI09iq6q7RnMk
uOEgyTq6NCKJrccwO4SGD/IwAwwS4RIp1BVDhe56em2BBJSABtr60Mkx7hLMKdHMl/EMRiNz8sG3
mBNDczfczzLWnzHYHm/jhlzHG/8EFd0NCIVIXcQ8Zlvb63kW542tD2XgwHKO3b2Ai3mAO5dBPmH3
FGZzGy+mkwfNwu6HgLctuDmdvtFy8TYrm5w/WwZRC4xv5pxkIPM/REN9/s5X1RKCbxB/MfyUg3T7
slsVmi81gT3RgzHzGtBgBa19yj+pGmqWepP6HkMhN6RbFPDnFhEaV1O9muPCA3KzlGU7psRSjDOl
BQgAJV9z+g/2zqw3biXb0r+IBTIYDJKvZDJnSalZ9gshWzbneeavvx9dhcLpA9yuvi+NfmjgPPgA
liVlMiP23mutb6tito8j/tpjHg3jK6kvZXh1ZBFPnteR2JhmXHGlaKdKNNrPjoSqj49YINArSD1D
OdnvxEgEmUwOOdIZWP4Vr0gQyiL5ShS8DZ2nkraroiGsGE6wy8wqvxOlUA92RXiHLTjpj7auvvXY
Pr65LqwYuyizJyJS461bbPVWJYiFNaGIa5k09pU0ebRrDBXv2m6+hhiHriMi6L5lQ8/RRZQFmy7F
o63lmKjmpMB0JlkW51tZx6glHO6dMs7uMKBiIs4zQXjbLozrsjI9oDhO7Td6qVj4+LRwsTMWesZI
PZ+KqTNuwsgHCUGrHj9NizwjBkRJv9OlhzFb++9TEU7XEEPFkTmP+dLpjkZ6ZKqmB1NL2+85SjPB
HSxgrAadNau5d/UsZ50WQPN2Jw0bUyoploC4ktMwZmDVpNZn86FciWPjk1PTbVSqYCCstZPXMX7z
G0Y+MRckZZSHsbu6rFHR+GY3Fmc7BZSlJbrzwHHBhiEolsl9GqO+OavMb1O/9lfC0fqN7IMze4Jp
0jM9jnGWwNN6T4J3+KlvRbXeE89k+JZSkyMQBcls661nGrZ2KbiKWYhnTJXBNy3TB7Ga5V04rtmt
a6ch6MO5DPrcyHdMOucjcSmbq1ub6kennsIHh2juNS4wFI91P4deZzv4C60Fyz+Q4uQq0lDs7WpR
RHC7+YLCHx90U/TXUq+nOyJ2xXeLxZkr8csK3VwsrzUuTxeDJ02W0RbihyHW6sDAZmssm/bZKut5
RzaJgXFubAhLg8/WMhXZPWaQ6dEZjPlxsSz8SA4jXL92bZv0DZ5guz9qjd4e7WqMr5kV6kc3s8Zz
b2vNDbdycUss23proDq/4b6tWDVQsxZ3nStxpKPRnm02qTyMnbDeEMk1i7nVlF76Ceswi/LSi8Va
2l1TmubvMgudXWVM9ZtV6cZOq+f2LWFYy0ORYViAoroGprGofSpd4yDSjHBrB70PgEjnN7JNR6wV
InqWdhHuY1osJiPOtJyqrDSvUZGsh4VFBQfH7Z3ASImLRUZqnNJ2cD/KTWEkMzI8NW4b3vhfDIk9
JuJkYrsH+YR434uyuReqG+7hDZc/Frsf99IQxXeYne531ymK26DIwzM9TXbzmgmedtUHRAlNBePP
FqcWaHlAzJp9FVaexWf6/eFcj7LZTazOPcnVKG51M1d+miU/RTs7uIK6M90pZzy3WhFW32tzbXCF
DvYThm12RpJ8AboTvYCZGH+VHc2das350LdTmXv2IBojUMta2Phj4jr2WjlNpH9NFfk9o0dA6Vrv
r1JPt7h65DPs4hOpi/JopYnjMdHzpPnRLu3ZGhLtjoTzsYgctnAn0d2ste2RozowFqq9Ii2aIz4N
CEOtgRo1M+kJmOIli2fgV8zPGUW87vGeFF4MBM4hZzTMe7LCWMjYYs3vYjB5a2fMyXHbftfpXI4j
vlTwiCSeaJ11a3puu3XZDVKsgWgma1+6BN5MrcXzP0SVe5yNeoEBB1TBW2YXDPQTBmKem2Lobjoe
yB/1YGbHkAHYj8ZZivNc8/KUPPMvDKJNntha3sVdbe5Qfuud0ZXLxcDlDrFxJck0rwcSv/mHMYdf
GZdWXoSfhEa6I5spYQqU2rGHKtBL7OtWFZ7orSo8yZr51AE3PMu00p8lwADIAFo6P8R2ufSecCxC
GRaqxA6RwSBJlRC0ISn9ew5bdTZE1b7x+WiurMQdjibQT66ZofoqerDWjqgJUIh6/WxjK8NoW97C
zGi9PF/WIBqL8Jk3oOA1FfjRmqx1PnGv94HsmpiBy5zu+ItYlbrZONT6Wt1ys9SvXZIUHyRpx2DE
pqH7usYWvv2Ee/VISnZmeq5093dBZskP2VW1n7JMNl5rtmSGImdKAsMplYSRncQnaAvak020LglI
VI7HcmZeysAHfNmBWEH1RH2RlHfQPDQQ54SGY49jwI9P+MVWZyeaJsUWRAz7jAM4fwx7M/lVcOIQ
V5FqYnqFaaYzVfJqFkUapJS7vpMZxsvmESIDUK49/2+bxyKMk72ZYnvGuqAHSFbJFrBJjnD8RcD2
ufqpm6YHDZ9iSXhsy32f2mqudsM8MpjXmYTjZDHoicgNt900f03JPP+eaiTYxGq/2/n4qeoR/ceS
UYWRKVLHYR3642oniV/iqL7aZssEstbHC0pJu2PZgO3byG4sVOV66vTBPBPaeBHrVFw6wSRODBo0
AtZE7WJUAOzEXbSzchZOxAxSLmwsmR7wHGGSJ9T33GcF7luLPXdSlOpOYTn9Iqtj7vmMRoeS+Rdv
w1C8JFal7hLTiW462eBDt479XksLw1dxrp4jO2qvOG9F6KcCN60l+7zGFORGZ9Iv476zYUS2s938
MNJxDjB1hTd0Q5rHqbJ9pqu9V2FVJnaZZLhqQzOIGi3abeDNxJ8c4oJxksxWsOYmwbps1CpfJJMd
xKEe79PeDtFQskk7FW4lLzbCfGC0szwWhCCew95F5q11624AeHK0FpkdMoLub0AKKrBXnXnM1Did
kjysbvaUYwMb1CpaEopa8gH1sz82MGaedNPsd7NIogeZlFBM7FUy+7ZzPn+tQ3eAszyQk5OdE6Nw
jnbYQ5aM6vI322mdO9VZ+euYlcVB9YRimi0iv2bSOrnNIvd2GuqncqyNncxCl6uGkTJsq8wkoVjO
107vHy12Z1On6tfMXlOQI+070jrzYRnfj4v2rcQa5bF9xXo1mWR4ymnbXVLRtNTK7vxa6PO5tuI+
aEM2WnnkHaZg6Kreh12kVR4PhspxouXTk55Z6gWl09otUR/yG8y214Zd+B+442Qh/kOf9jejhuY4
SAZ6Eh9n1EtPMy1GJSOOt9l1kr2wUszdMFZeCfPNL45huB+LM9YPghDOxVlE8w34QBrIkQKf6ICI
DpA76pfZdNe9bmmEf+0s2eGz1G7l2Ir4T/Qoo6AtC913JaWEForkg7C4plHUlCRz8SAd6tGWgSyz
i0O4+mcElWVnYkh6YOzbHYtWvQ1NZ6DY1FYQNq7xIYbBvvSG1ftpw6Ibm5/dLzPLupfEWvHRkj/Z
FY2znjDk2t+p1KMDVODUI0P5WY3WbeiHZ0mF4i1oHDvXFcvOWuPlcRw2ESxbr8mY2VTgRH49HYd9
RFcax2qfzy2uST1qrS/RNwnRRhn1W+SDojAYNaN6XwXxyV2dOKRr21iN19C2YSY1VLteHwn1WFXd
+PDPbN3McXC3xJn4ZQ168lWH67irJWuxpz4WSBzZ4npaTNQpVKYegK5RF9kP2tESUN67dK1wVDmw
eYKl0udfYzd/dCRC9iWR1b1kH9PemhtyPhG9k6ot9GlCOHchPJER2z0QJg9NBA29gvYgjTV5WLOS
GzouBcnAQt3AOSFLmphvnvigu6fZnSdWf0g2MutU2Ig73e867ikFcdfOLzEQD80fqBcm32nYq+I7
hlbhqKXOHv+U3Pmf8ltslTi3MEU5mbku4IUUe51enuAhmN8Hc6vkzT9FvbPV9xjqqfT1lEW+w1b/
Ez3umUjTE2Rbd5BvfcKQj0J6eMWdB0aGxr6u3O6l2BqMLTojSfHMvEHt1oKYf7qRYWtMiq1FKf50
K+HWuExtzGWtJnZQEHglc49NOcBA1nnun5bH+dP+kEIp62NPFJ7l1aRWZjyuwSLrlDc848F1M+TS
iKTkZ10iR7hOWnqiHPubnNmGsDDrWznE6LfWZn2Gdo8iotVPGrLHsdZ4wUytrp6AYUm/SqiUtaWb
Na+iFD4DP2kuY0yTJtuwV96QDrWP3ceIPIf3gQC/brwLlAR/cEzz5jqT/dbwHiyevrWM2HdnP/vT
R2ZbTDLOeiYFNJmyTDGI/uk81Z8u1N0a0tpglUmzNanD1q6ixkfXhg623lpZYqS87Vt7yw+5Nbq0
vO3W/KLYjje1NcTO1hpbWuR8K2Xzbe5SyKpbAz1srfS6NdV46suD86fTJgi+HOOt/QaxkXyxzICe
PN/a82Jr1MetZe+35n3e2njQ33T07dbcl1ubv24Nf8ohXYRbjnZsttD3n8nAtmrkddjGBdY2OMBe
7O7+Mqv7l3nlr2aVP5bNv47E/zn4ojZkMg706u+eFbftItKii3MoPPt5/TA/mk/to3ma7rtHjGTl
g5b/J18XPpv6b9/R0PHuYN0BPaTbf3PJTMwLCvgu4YEAV/gjr7qk91uZLvcZ2CKW069VfWlJaSmf
qXv8w7DWPqhlmP1eDWsmULwkIbneaUnpoikQgzU0uZJEVdv6YcUe8N71tXpReIAyT5XVZLA6BRtG
AL++Pc5N1VzNos3OClrKiYuZjxvTAY8MwRN74Bw0NS2idy7SfQ6hio1PU3NxCJN/V1ManropRH1t
sBz3S669FsnUXoe+zB7jgnwMfhJjveBUrp9jzPmfckrSbJdP87QjIN6+ycjcPo6FyN//92/jH1r5
//KiSgG+xVCKKapUxEZ50f/iAuxcl13zTaMdlt6R5zJLTr0InQBnoBsIQbslXNO66bJnEo+xR/hW
MqAfCtv4RrgeFFJb2dHXMg7TucjlctEco7s5DGU/qO+qN9OprwPKfDDo7lpTA09PbdETkS60OuOj
mZrE2ewlO4KP6ejoetJuOxVpWNGdqKyCfuGnYvXeSIEcruUn3oC8oXRQceThYLC+sj9XU/rnmlr/
XFkYULi+4u0mc7c77f/uSP//QYudxHFJOfTfq3d3nzGT+i7u28+/Tur/9XX/mtLr/3B14eqo6ZbD
XpRNpvuXgCf+oSw0OCb3jN03ne7fc3oh/qEjE+C2M9HqbKn4on/N6Q3rH8qwLJdPuhBoeI78n8zp
6dTF304PRAApbU4tE4XRkH9fLiSGxZlBZMzB0sOIPqoNdTGPG4tujeXvKGPdrd8XtmvuZndcW1Sj
sQG6xd1ycTVbSwIHgKKXlZ1VfRSoe+49portb5Sd+Gk2ytB3Ceq9PUusYuRL2O6U06bEXkg1Vz9a
QLTeNWkl0bO+yKl6ZC1a3hHcZxmUz2bWaSSqrEKiSvlEMZ3GtUvubVVkk0hZh8n24Wfi4IoCU8vC
piTb5y6JbmUfGb+NtJKQK5RwGTUO7qnJGu1JZLEm7ge8acUONp6EyZEYTfYwtfV0xWYCwtHKdTw/
ZTudYQfAlGutagzvw4JsHal9wrxPTiY+iJ0txmHSdIx1jS22VEVIAGwG+IJXauYIvqLXGZ2Pkkef
KLIZaxHVlWSdapTGUIXAyuzp8GN9hwHYXv1pTJP0AXyHzjKsWbyqpjOvmm4u0X4l3pQfNcy82ZmY
9wDdJwIowjErie4vZLU7KJ2OfBS9kS0k2rDjkVqNd0gSEWTCSDzY7Bq6Gq0TQxyJ6m+dof20WkKX
HvvWqoHYz7ZMA/4LTeCgHM+VefLOv4bNeozaG9YtpzpZec3VvsJ/AzOuR/KJ+eIa3ZVROIU+u8gA
jAF/M7tTuazavJ8qVUH/wFq63klS39o5so1a+fq0Su1IpZS+t846DYcBJ/p4F7bzwvwzSTqxczDV
35g3GJNPQLcrr2TM8WaAZemZxNOkHa2e4sDv8Mq4J11miMvZXLBR2sEXNAZWOZVHMTt9vyOnLqog
WgV/7kdzWThvYy69JctGclhL1S0BpBdEndiuFRaUqJ5fupiowDGdTfmjZvL9WpDo9RFD2q+qC435
zFMH2EQvwgUoRNv3884yKhrkVh9OUd71CNCrjQika85YkKEJ1TlNdfNH7Ro4UGMDlBgzlaij+OZi
XfyFNvhMQhjJNWH1zhVHcPzYJvamyajXrmNvOpaqRjtF7Lk6O9Nk615nFPW7U6bGkzbE3ffVXdTF
tbLjWFFFwyvVHPEcIvDiMcyTXrwQn7QV47yMVmHQ6+U5Kc31q4iL9W604MD4IPRi46EdIhsYED7R
KWAGU49HrDjFHbYhmvBZVlmz09Ox+NZra/Pgprbe7EgdkxwM2a9U+eyCki/NEm9oFlEo5B/8OAC7
aCeusmfnJpEMeDTEavHeXgYSUfhbokLetbUBonKKqyWHIVskCFaVmAN7kTztRqQR5qyJOu6qJiYW
7Ojhm7bCdFxtSK3FXJVfhBhJmbbMiqJQzu/uyMeu6VLHPhgEmL8taESxV7tA72jRW1/KorqUej6+
dJFKYy9fmJYkOVHmRErz1gJ5wbfpgvEbRgzDZWJQSKaE1otjw27nV6PIugt8hOi7lYnYDdaeVV6P
VF32ZmGMx/BAOH7aDwJhf661ZvFSqPBI6rox8HjkzUuC6eM0rzbqvMxLKBvUvOwXC22VfzEoaM/0
aC5zutlZ3wbGqz+bsRpdSGTmTKvNjVPvisyOfDufRrrwaLqHEqudQik29TOq8um5ZlXfH+DpLHdw
Ktn+3WJAJV0vwvo8gpocDvOCmEzIQa/TXWZKlflryLPqW4Qq30eIog/lKCofh6H2HcylXb46abcZ
BWc+KB6rK7HRahUrW22uQednwXiaPmw1D6RteTzjd/Jq+o9+yGGVIQ8GMsnavTvEDZMxR2kc4YWJ
apDwLdlq2hyVhHlAkoD6hkkMVMSGEF75Us2DiR1D1mvAxD18wqikv0RLxiuqxGSPQQm5bQrQDdNH
fQjp8wZdjEhYFOnaRQLC+1QjUssxSnC+3kkzXH0n4sghGm4WQS0SsEnr0A43ev7oxXA45nZjNBs9
50XCXMGwGp5EOH7EF6G7TK/uQtPGeWUkqD+88kmw1lI9MtbUhJ8vJWIWKzzqeqeWkR9EWDF8i0Zg
4+ZsIP8e1wnc3lijgjglGAew5hWJCkpOMxddL5kvWZ/oRx7mVTsNpRGd5rmqEx+QASqd0JI23PeN
5R5JXydfanab93Joq0dt7BME0CZZf2YSb5hX2RY03zkdnGrHt+gLvIcpeIJSZtmRmRh+G7bzbdtR
GLlJzyF0eAvRRGnBsyK9ddm6UCC0pvnpNCsXnVOW9ctSOd1dpdcTo7dszjrGOhytLs2m6412VNzP
qkqeTCce3yZscoglkWsSRNPWp7TQ4ZZHDmneu8xdl5dx1R1WfKYZ1xHooaZG9B2cX/Ykl2NhRsY9
xDaoDnjLK/zxazY1Xkkisdo5o+0we5jj8EHi+l2OcsBXf1scNaIlQWm408zW/aasxXpMBVvwMM3N
pHqKp6Fwk81m28eo1MhpJofcLoxG7cjsQfecYf6R1jlB2JozU+hdZn4nXeyggIvVeadWN393NdGj
WM7VZ6atcEGqZsxO+sw2GM4Y4q5JlD4vMh2IrQ7I8gsbjZFORfKkNaV9NhpbF4fRLBWSAE10nqet
hzMqYrYNn9cb1sjNUTJRc+0GeWC2Q6wBzRq2jJyEepK5VmTfYRhEVzViAlBVvB7nQideXrsJpX49
mbjP+aEPaVSBC3AM0R/6OJouWjxFMBXV1AelnSw2Ylpi34+N1v4ccxl9AZOJv8Xd8qIZXKyY7COZ
+PbYVvsEiWUHpVhfKT1sYJItZ1FL5bWK8STLXv1otLjW2YKZC5BtaXoy5GIdRBs6j8g+mCCyxHjJ
lVl/t5BFq3szbcbf+FHKidogE8WD6uM238XppKm9JdYMYZTYcaBvM6NjJbP5RyQi92uCIT++wYEp
k4OqjOqrsUy9fZxCmvJtZ47tnmUBJeKauAYvYwSMb/Ekm4a+zCiHr+hKaC+nUM8lNFrKOZL7RlW4
57I0x+cGSyf0qEwrnieXiMapmlWxPgEaeyJhm1Vnq23GxTPdaXlcbFQXZPT4ziDneEwQgHU/nlus
3qwO9vu8L2rfBt/KsLwJ+ZhQiINnXdsYHzQu0DLVEiStyXzQpYxxIcDwCnqEFh9TfR64eh5xl1OD
fLXSnF+tEskcxUPsbJBhVNGV86ZpZbiA2tWd/uQweC4/lxJw4YGD1n1ZklR+DdAMay+SbfkAXqp5
G2bgmanJ/P1sImJeO1HZuQ+Dl4mRLo03Ra123/VWdHDzMWInAFPX4mAVSpKuFUwN5qWukeqh1//k
gsx3XFm4bDRHM9/7sPsUbRMSCxjznGwykTrAHU3zbiRWrdEuxzaoQvZqMM5KlvKtiYboBfiFw6J4
hb1liyI9T00+Ww5PciM+1kmCfm3AzvzsJV51qUlO4xD+FTX5pzGvyh+W+DnNBFNhYXLy9zP5qXPD
/nV11FdjXK+ZkWdEI3LglvcJejuQ7EnDsa7JwUyOou7UuudPm9DKXcJ6MaN0on3SDDWySWPOl2F1
+pcOdpvlJyISz0wijGQnJFd5TO7+qV266Ilnfz2u4wojOXO45nflOgy3BAKJj5upvrDv0ySvQFWQ
5PIXgweBLFC2gGZaJ7VOXdot8Tsu3Rg4uagJhxQ1wDhvxWx1V5vNcJPTjNCW1t48IKs3Kp7POnJL
gJ0bHkoHmm6YErgj3QobN87t1vXMmEl4M7v908QW4kOEd/Gj5rU9lVgZM9gWZQYRSXM1tQMfnCSB
rmIz8+Woad/iHq7xOdVqtJ/BLOzXyRwVCZQUA5hftCMmi9yxGVBw0d6DEKE5q+wNxs8AZX5OFrIM
+ypxU95Ca/0G9Wb6Lvgp1C6FEmjATi0ASknMWAdptvN3nJu9TjuWyYckNvUXClxO2BR6/Z4Me3xm
MjX/KsJm2avFzk+tEa7JcURtuqNpcEJwtbX4kVYIwLlBO7OjyFhtH3Lf0PprNs/fZ7GEKGKk1QXv
Yhhgj0pq3GLj2uNeMbM04MMMTmxit8EPPr7q2oE1Ix5r6NzuoyyjY4gRqd6Ncb6f9IaIGLih4kHo
FEOIEXpiAHiJ2edAR6yjzSZaSldFe4OyZ+FfcGUmvls9F5i/9gP9KxQ6ido95DA9Q8hxyys6jyHx
zphuuk9gt36NTWudxngwvhVz6ey62GqPWc0xvwosWh7ufc4aPKtBW+KDLSBtMZ4qaNP9ZR4w0hd4
Hr5LrQkfInu0Dspo47c2cXJnBz8xzvZhmuP/bxG/z00l8HF1bqhCkO+lCpxidlNvmKKUglJE1DVM
aecHpybt6Ud94n4lruk8m130Cp0MidRKleuxQ6vg0V3tPX5V/UBmyzkvHVxn4sDlCehifYNBo+/q
Vilo3IuV58GSDN1Tu0X8TBDvUEHLpPuZ9rHq96QPe9wrPXgvWvb+q+7X8YHxOWDdQug2qi1RPy7p
edE/MdDpO7xTxm9AZ+vTGHPBU42qqxxi9ZjWEaipOJzuAHReItu1cBcA9iJ5hR6fSfWzGyh4MhXZ
XiLK6TLFdEmi0Q9dSgZsGpX5vq7xF48bpqPNXjGo5CsHZ3oiFlfs8oQAQJFSIc+GupdM886F1fED
jVV9A+HCBYre+Z2aoqg8Dj/1LLNPnUxMkPAcUeiXiI2LVQZ4D6xThlPoOax7/cA6BjwZbrxDLzIP
Bsrn15BrxjHUWwkxPjuupUPYTQ1ZumO5VblPi9Z8bg1judiro29AoPICIXH6HNo63DH9LQoopotO
GDKrgNdySE4/10ExXS8zo/G70HLOfYYRwmsEv7s/TlrzaWXKWYJVAWdZBrM9AjAwgkyZ9iFFvDnW
4UK7P9bZDdDkcq8sSU7NQsu9ToR7sW5h2/q1pB3ciowKEsth4bwsllLXRaCSwCuW9MS540+YQneC
Sv5Xrs3toe1Z7cRl8tFAniHuUVnDXac4RHtwEqlfA4oPD0XlRsfeWA5N7mSHEgS0Z5g1w49M1f0r
5W7DgGLpan/+03PMNZ4ljB2/HTN2T1ZbrU+MwNdvRh6ppxKD5owfI8WVJOTSeSWsCx+nQOYzuTlY
FYwhEdUHUFHqYWDzAr/QDG9cWNBbDgJa+94cqtCP7N66jjn96WDL5oMlExfo2uDEdQxXTyAQEbWL
dn4EiMjgSMdM5qNAfjS5qX+EelHv8qFt7ycTyrMsF7Gvt+XoeceKRPLUPhWNdYsbSwVQrZJzjbzU
mAsuk9m+Zxv85MvGlpfFEgaFlLvuhIVsX4reokcekytKhRaMXMZ7dDTKOxUVVw6qlOBj77yXWsOS
oaiF01CakHiFEb0sLCEfD4k+zi9QP7r9hHbN8+EO1oNDJlV5UaqWuynXpoATd/EqVPD90kfNeYU1
JS6zkdaI31Z1WsK4+6aljv5iqQaX19ys3es6QisTUWa+NywkxkeZ6byrq37EIxv7bRn1gd3hbz03
80QZMsXTbrQsizpnzewfc5l/YhRN/LkymBf0a/ELXGF44HyonhoW0lAOhdo91gUnkOH03qdcrANG
912Es6o6WBCCWEAwP8VVbt/XFuQyJNoR+5FLNJXDebKSCytTyxNapfNL780bDMbJR49bKcjC5aYk
ZrtZ6xff6ACXbYMTViFUhxj29UnNK7OppVrVmxKF9c0C+I33jZskwg5iN319WOg3AmDnZXIfztby
Y01y8zXLZv331A4a/YCLVA04MVVIOPe1hvP3Lh4xhfFvxcdizX82liG6QDO7+UjpvfyOnbS4ZZ0l
js2Ic63VC+LrOstq5bCU+9FBcUb/6WIqqdWKBOUwlkBcb8mKaEvT8qibZHFB6htcev8/BPB/lNwX
fJrAPvz3ssJtKNNP8lP//Ne2sP+/vuSfigJhfSYf5OqFyU4P9Uc3+HdY3wEv7eKPk4gG6Ff/VhRM
8Q+0Btt2bWcLEYm/JILcf1hSGDpfiFNbKfgQ/wPj/z8jP38VzojpK0uYwhXS4r+/r+eMoihTSSnK
wzCM3bE1suETTw69h2OGNzPXugvsoQWRWzJ7G6n2raLcTElOemHls+EPlkUKBU/fF07xElOore1t
9M8d2NH5omVlHDA7Vl7LmU+Hh+kCwMynGuStwpBvDjRyai4umoYjCPKx7UHKHbzWTe43Zj5O0+QN
08JXCIrTHK3inHVgcHBpsBDZ1LN539RYFZgyJkGS2sZrbiXko1k0k5/NVZZ3dbasDyWe658DFC+f
2Jb6sWD5O/L9pofaXbS9kBodW61k9Cb00fJbbax9CRycKWmYfbeArUMN5ruGTDYKnM15/TXqJu0z
q6/eWSkxnTQsZzsbOjq22uKR3DoThiXuzylWzdPUOvMD5jKH+P4m4HYdq8m8jPHYLSajfNRA31+q
aBqewMhaMxZUHIlxn4rXhRACAy8K89SM7rsY2q4Ix+pAfP4mZDm+bnt2fjXsfvzA+y4fC53sRaU7
Lh0MNHwg2mzoVWHyPKaFIJq5vKWUcbeYCdizSa1w4s4bLn0RJtcxdso3oG8614VOu8iekB2Phs99
Ai2aq+Ueey/dbpNgKvIqWq5n6abFvV3Hv0IJMpXTcvC7QTUfitLI1+RS/1QruXYw9ACD3fk9FvUR
z8d5AMUQJLVhPI4UmkHipNkNvKuLrWiur9Dk5QWBektSrvkXWYiNw9hSn8Jzt9jbYGr3zLidzkNj
t37W1tAcqBqo5+Z48bIYEahgB9D9lJfNEZtZ4feGw+6UUhN3zWL/Yqm6IT7MlO+sG6773GlFdc4t
yNHgPW14A7gygjVagOJSDZarx5tQ3PA0ZfeERLqDC2zxVay58VBy2ZNQruiTccne54sbsn5o1CmO
mnEHraf1TXucdgPr2lqoC8K9KybGfV5c1d1Rj0NzN2As8XJN/R4m6dz3g90HjdiWLvV4jmOG6ace
a8G9cu1XJjoN5hRgr0liO3uWctgvbqYBocoLLtJYazzVJQRwLKXRC2SREaQtWIpmXZb9Wmrk1Bei
Ghrw450aKj2QK/J1xBTxrlBsKhPNYB/yVC9OxcoAmSquMEvSr4TK7kInlDsrdXwL24q9zPVhjUYP
VrbXpiFU9qX0J1H9sOLlYKBCXSIL/nk96NljPatkz6a8FsIhQg2N4p52RsErg6XrCN35lgF3GjEN
luOjkTTTkyrrb1IVP6C1BtbaXbvS/pmOpbqtYeZgsWnlHihPyOGz/YtFy1YCEgE5kPCnqZNPDr4m
r8jbftcwlHuO3ARG75SVXsj6WJ98xpdpVfdtshIPxF/uG4PSnirguu/xRnXQjWylN1M6aZG09yvW
Nl30lJH2f7F3ZruRY1my/SImOB0Or/R51BQaXC+EFFKQPIfzTH79XczMTmTX7S50PfQFCriviVSE
gu4k99lmtowx3t7AvXO/W0+FW6dwrEvdWdxMumtsYIL5T5ZrclVHTqr25I+rhjc42mbBmmJOIeQb
05BzNC7H1wjE8MFyJawDiOVbTkTFcUSapdy9b3Z9IacDIegxCoymcQ7NHM27sAvney+axTZyAZ6E
EJI5yE7jGjoAIwHg6ZWYOfMbWtzulE9VoBa62DSnzt6ZHUr3kkf8LKWBH21SxYRcxXE+01vWEaoI
X6ec1VdfqPLc+kN/1KsxP+bp4O3R2fLPQeQtJytTX3m+0h+5yRliktgNIahXDhOcOVjPTlK45gpX
CI1CFAz3QUjZ5ZWZ1QMQkBC1kL2knCl0oq/Rz56toaK/dkp2WmqwywOhltq0ZvHCEG99rj10zXCd
OICH1MPEfYJBo58EZgkqht9qWhZZBXhyJSdSpzTNLM5d0MaBXI5mVh03LDQ67v+WyrOGff+uzQVo
BDelhwbfZAzrnR1cT9eNe+6k6FadRecKYsoJXx6bcd97yud+PAnCqDbzlN0+xZqDNbIbvpSHp30o
ImMdooHGVGNKC2KZkgioNI5R2dHo9rYthnkHCKXcWYInOFGfGVIEA32Xzf23H7UPce8+U4Tbsn3n
D4C3UE5v2NAwmkZhRv9S74T2qpntkBQVZ/w0rMmh4j6bqbZ6R/YSj7pDLJY/nRhBvw/76NYqnvpp
8sOy3KuZUXGiQZnMoLsSddN0dPJQY9XZxGcADfKIYmgfSIhXK8ph7VeR+datseSwTipPHXhL7PM2
LOkJ0erdBGicIEnfU0FE4UP5hgoWnWhFaO/cbCpPhea23xkWUVJX4/IanBI+1CzfNsKhYmsG+tA4
Cef/sds4evfWmf0Vm+KpG+R8NbLoUtSxyWsWUEVIFw0OgSop0KkkD9XR0NmjV8jiFqR99J9sREMy
45YOImntCsJ1nJyBgVSSpakGmGcNbRmu5oCzHOOOaXOq5P/6NpoJNhv7M65i2pj1kwU+4VyiW4zW
8Ctxp5C9G4yVIRTmSbT4k3f9kLQOp/ih/Zh5DX1LhA9O7Hp6b6BgLwxrjkJrF2/Bjyxn4ah039LW
/qTAxQxpUj1Mvd6up1LUBPWoORZtVgtWFRNE284BoFyG2MKrHH6QOZFWNnMYNsuqpxtquZqM2HnS
aM1j9UyoZEc/TBivrbj5USKpjk3l3XkayIwAaMELGu28KgtGlEgvv9NyHH+U9PBg/3edbWenvL0t
K/MfYOC+jG5/D50bkTSPrzB7tqg39FBY3ZvR1s81VJfAypX1YAi/IPWRT1tee/4lDzPOHpOeum9S
QKIoGCsI7/2Usb2zimg/N8kJFO5+aIduPbDyj9aznYFtUhaCLCQNLrvcFLQgbg292rMXuEcUfFR6
/JMX2stQ91+NsHecF8W1XGhQkWH7K0fSWCim2eC9yxQWxpgFHHctnZlikMbWV2FDdNGa7Ooaihj/
cBjFiJ1us/Zju7uysJsDt6R6ibCSLKGj4t7k8euRwlsYCe2CS2CEzw8G3RYW1nC9UMmJrho8zgti
gbOu/sAUNz3RSThv7X4Q9wYJD0D+lAYxwGaj3Z06PuhVlXaEAZriqMWow40QLNgaEypPyXob6/Ri
bjDGvQULaVXU2oekiWE/VWl6HrxpQclUzgaGfR1UjTOuizkWZxx3xj3jd3X03N7cAx/iQB3KU6aN
1Q3KkPvS06G4Nun8sgI1LTDqtvUe68or7/zQwPEiiw8vzfl9/brcDLx9kKacQ8U6i4BF+1Y59Qc6
tVjDnrSDKYNx0ip5DHVDexVJ5r3RX6BtEkT8Z2qx1plTRh0fR4JMxqX7HrUw2zBROg/0oUWrUeYw
wv2sbo5OpeCIVtWeo4WzxyvhcFGz6BxGGvtEj5cUivfaavPuFSNyBWXYq29FUhhrJaql0NNZ/HyV
BTZ6UM2WLBtUF5mwJwfSD+DU17aOi/I6s7fCg96Fz/kUVw+Ibd66gqGP/lNaVycBfsoMNjwWZpq/
1hGNixZmkMVuMz2y+9FpN2rTryIz3F1FkckvIMfhbhxKGyM0E3TpSvtsGvaMkUbLsw8cy/FZ9DMR
fIPK3VOhT8lTFDHl0fxUJS8NGhWP2hLYVBdGVwNU9S6yMv1q0MG2BrdgBU7cNIdwzoy9TlfIOwBr
g5W8a64Hbci+7Krzr5pXipcJbHFAOQzRBKtrbihB0aMiefZUDKN5HDxv8SgYSc+lp0yp5CSw4Y6R
q6ZZXq55/NBIezvXImZgg1ndxSGL6mYcrq7V4/8ZqvxKers5Zey38JGG30M+1L/zWZxtnk6MbqMV
btXseDdjrCnRyjPrcZidZjO2RnWKGukwfzpiPwHnfufIWm3mLPK/yxYHmM8B8BBPXnHnRElyBWqV
7Em4MJDbeXUsCAXx1rD9LbZozyCYcq+0ISc6sZSEIQIewXRTwWf6EvJ+fZfpMazBUQC9cVtwNzNS
OzEU/0AFk3UWQ40/thYEWf3SPcE/s4lltUUYsM38JcL5Z5spCur0OlqVgxetCbqAtqHtCo0RyAs6
U3gK4+hKXwyTo+FfzHKCUeGxY6JOInlFF5iAV6S3gk7RFUKxeyk7yhbFLLc5NQMrWLrDaTnkx0Gb
f1dDuRNeBrGn9Ukn1zHlo1MlX+LY1ODDYehax9xz7Jkx7rEtywFQ1Ab+s0KxwTTzZzJc7HoKvX+J
dIHiWelPcorCrR1uYXPv6FZUxzDrH+TgrN1o4OEyMZLTeIlHZ7pOIUEC8gr4/6fxTtrNJ19PgMpj
JgkL9fMCqmrgIlUuZ27CY/VsWMC69WXHa/FFhWwdtLVkV5rGtznWrxHPz02qm5gDK4ImRaWxiiw1
c8M5L9yztUrXyk7qh75Mad6Km2rfN/680cRCpRKNPBqUdgYVBQB33TzZBKHIGeYiuvTgDSL+Lj06
JmOH4kArmEtSXZrm2ihI0ASzb76CL1uNNpXHVcq+Oi1SyoZLTa0YfPdxcVYe7oQu6gcc5NLDUaaN
/RPlu/ktC01uHgvA2k8yPLMWUMg+klSIq5GkXS8fstrQHkdbkO871PaCHMfeh5eSD/5aZCq/Sqy8
77wBaxZ4bLpnsqEruj8Jws2JMUYrQ/PfOmsOX0zMUJuqX1omCGFyPs1ysqJ5rYydk/ntDvHdeazz
UR0nRLqDWLgm1mjbu643659OLbHlOGRvb0Xhtz9Hmi2hCJXcjD0PTy4NRQ5EKw4tv+TeNwc62Rxb
rZJi6eswa/uNs/Tw0ndJ9tRWg31Vrskm08gLhH+9vrP4TB/MzOSXQRd9iczhu0ylueEklBxjvTfu
YPAlx24M/ZVtWT17AwHCq8k14463rbHJbJJ5TB8ZC0jtrEmydwrrwZaeITw2RkWhLxoeQhaGVMZ0
yW2rk2h+ctNR22D6RDtGZLromb4xa2BTeiR4YvUUemK2UUe/tuqV3xY/qB/4wNl5mSeg2XJIvog7
yoNb1TDlamsFFBKktzW+Nhx+EG0wbhnTpfOnd9CL2jGRcfzwv+KU/nfCmvwBLfqnS83VwjNJIoKs
f19sGn/95F+7TY+ead92fTaL9u+40b9wR7BMzMVAZgnfcv8GNdF/o/+SODG7RlhJuJn/Mktb+m84
Rwwfx6fnG9ibnX9lt2lAR/lPQQvc24CTXLG4ufFimLiy/54JQD+k2COTE8y2GkNoVbhvlWtEF88M
aQbEHTliidQ/lwjvt1db+TuEIug8ePA7Mru4Oty+qDeu4A6vjb449vCX14aXpF8CZ+IfCYb/Z0St
f1vGDuiKf+ra33/U00f+8Z++hn/8zJ/fQeg5AC50sjskPxZ3/F+OfRt8juXo/4Vjn2+a55sO+rzr
upb9+/fzP8g67m8Os4fvG2zZf//m/gv7deH+X2kfg2SJ4QP4gSMEsHfx8/8tmKIM6B6KUuKd7Im3
uTpQim0259k2n6V8i5y2u2ELTQ9EtBcfWhWagRhtC65N1e/rngGHwo72CR8CQ0LvSv+lwLH3Zg65
e51n3X5ORNhcBhNj6pRZ8rNINOva1TBEsBZGeyh5Lmsb3WfYr4zWJmgy4xNsqq69OrzQf9iupLIu
0bL81zSV5qX2nPSHmRrD2sPmeMxjy7hvKgtC1gTIAnk/O0SLSuuUoXzJPNEca8zSL3oZy4ukmzCZ
cIR4mk/VFi1HACfBGkjJAsNx46W92AOPA3LnsBSmr0QkeJoTsImufmLlu6RJirUNrnCNd0ZtLG/M
nhDg3aBHkrt2BoWmPsQKLyYEMGHGPVObWl4srN/HEU12K7K4v9pmb2972CZPfau3l6KNZqC/Tn5F
Gm4Wr7eBLFn1j2ket4eeFTpeXp2O3U5c8Tixba3GniNo59+M2gYwo+U9VjfT3mgmsYM0RUcXoArh
OZQsrrp2/vAzrKBWIsttkeLMN2O0VCiKKYNfK461rZvPIZ6qPCcBu87bGvjCmKnhxvotemkX/toU
h80Pny3ftzHbM1ih31leSbVwvSYd/PCBpUnWbBMr1m8wYhcD8u+oMG92x3eJbdneqtBO7nOvD88J
LhDSHvFIgJtzJYWas5esaa/x8TSmtDPzHaHYT7NTGO8QzDHr9xByjQVwFvaAqgK9MAT1O0VOVgwm
GvJm9ZROfC52RRK4SdxfEwe9hzluOeqO7EJVGpEohFf8OkrsCY3nd68u8YgXynhpPVtyHBzjT7If
zF/aiA8j0yXjqeyqji74aBofTFN+oTG8C+GGl7ImutLjoCRSBnC5G5gVgxYDibEK2VKoAC+juPS4
YpF/PYPISjMd2cS4d1np7wpNPVNvj6w8uFF/7smofNSUGewn0x6wE3sswKZSHQTIXjMawz17MjB3
1mxxiPU5sLC/oFAXzfxYRbG4xcAWvA0JFO2NkqvkJSpTdcjVMLxnvqN/DCFNi3G8mKLpOD7RjEIg
xh/WyhEPyWhUj/RRUJ3aAS2Q9Ci8IALFu7rorFvZl9Fh7sg4LFkYqANFklgXG9RqvOZ/La9RAzUw
sC07OlkxjWqzW5d3YkwaFJ6yfA19wYo/xkPK/n7xKeNBUFsZUuTb65NchZltPEKAoqNN8XQAoyVG
+o2AUgcxDTQmFiFjeHGyxD121Kyyp9OKC70naAnoT3fJjGO4zOEYt4Sqjk3vcjgkPySSlVOWzkXF
UdIvgFfjO6Tt4NtjHfhNi0B1ISU84g/OqtlYCbMHaYx/pFrnTVOPq8HRh+ekjvNqZziennIQ6MC0
0iRDk9TEPpL9Nu25leVX8SKRiIuZu92mwGWx7cLlsFS45HwIW+e0UeVkjDat5fbJdnY1VBTPAOVc
8yi+uThYaTIYnSlnpUDxezDNkRau+3TAR1QnHO+O9TzE5zYZizc2P2yqJhl1D6PW519NNjvjKswj
892ucRuAqmji21h4lo1vQ2lT4OboaYojS+feJnbEkFQ0y3s2dFNcVWUMb5VuzvCxfaiFAS0e00Eb
dJHvWoC6KKe04n5GxWgWQStK962LReZtfJAw93rZeRermJaH9hDScpzglkhWWpuPWzanU7dj9Br1
IDd97YanEJw0eqI2IlY143hxlsFnnyRmiQQFXx0xTFbxZhxba9xEpjHNq0ajpJ46UY9gFsmd4ilx
+pyKIjLb8FbDuvnU63lxknWOE5+SXpjtUxnr2sllObjt6A9nMuriiP1DlU1PerTEpm1TdTdCKzAh
CYbmuO7RtYAJYZJcqU7jqKs3IsSakWLAiSxLsMVNlXGcMLSxfGthvOHcH3/VmpO/opQ1OyzrU7pC
t2btrMYqfaQALHztMPlecOP8qiat/hCJ/2iPI1Q4PBG2G4xpwb4TlyXQ4G58B4DQYstmBfVud3rj
rSI2AQcdx1gYJHDudpHRu4+IS7N3H6lQy4PJzrAUKrce6F/y+QfU7qKqpD7rMcedFhAKD99nTeIy
peM8etFBW1RBl9rNuiRASJ+CUw/fhsdbBcvxCC8iAUYfx4O4AGpv3KC1DahTbdaJA8I3933NjfBW
itT5weFQnWgsN7Ugo4JhXFE4WoBJR2vYhUZkEIfu4ovKBCsEaqgolc2dXL4Jt+d3dlMvOxLHsHMA
8QluxSb2m2ORptUruklmHxL6H8pVSBmYWFFYkJIu0cmsYWLqbpqVGgtFu+EXFH2UflVaz9lurNjQ
51rPHdOGRvoq0T1PPEOND91op9dB97xDmttECUIYGzx7c1IfA380Sj8a983n5x+a3goJWyl/2LlC
aDdie+MJo7j+nKExfBv9KHZIgv5LNI/aMwfH9AHzdNSwxhX9Om6t7EKhHE76IuTK8tBt76hYNXrY
yHH70vf21K5nusffNVVQdcS2TnKPltaTSGgawdqotM+8aiey+5yG9WD0c81ekRBmVIBbn34kGIHL
HegdSUNAO/kqkEkBBkqamf7Gzr57KnKdvrfY9rJXYwgpb6qnwX2Ulow5BA8TV7KXFCm1qlD3fmzM
7IHCxS5sU8p3CltwR56U8QNwiAScGkucdT0ka2Sh9JPPapSrGa3ihTgfbwHyIIEN1OFR4UkvaZ/D
zx1ElcENosqcwAjO+ygwK01/KaWyoCF3touGPzvESEBWYKxLKEs7u5FZTxvVOVG7DmPR3umV4m8f
XLNJCDjG4VvoQNPO/JG4CykKglZaVL50zeg8tMMCUSwTPncJFeeeMNV8mQFFJ1T+2s0jK9XycaAW
i3+zrptbulK8JWeDtTKJgaixz7AqXMmEx4JQTO5ek52xNQoD6oHVq2SDlMLqwsWqhLRfyzvHECEF
VV5ufsyGW7xosEGWtoJGvwKA4Ir4qarOus7qMSjtMtmzfvE+sGNYP00TOGMQ+bJ98Y1x4PrGU7x2
bTf6ifkm3ZN09F8SPWEjMlcaD7/WvKrZkpd0EiEGbZHOOzmgufGmLdVuoT8m2EL1yd0VsvHPoT96
p5FaS5bNptvKdZKQ3xtAilFTnjfWr7T0s+8Q3PaRAH70ObfmRN13M/tnzPewpy39MEHhmf6/J+t/
5MkiScY56r+3ZCE+f9R/PzH+8QN/Rry93ywdiymwIJ0Hwd8OjB7tKRb/GRu/hb0K49VfhiyTUyZC
PMFv+MgOBq+/ObLs3/gJkAPkfIWFt8n/V7YW7Dr+YW2B64HXP6RyIWxWF+IfTowVsLsG0Jq1K0PD
/kGUZ+bsRc3G6KJo9dRK7Poqu8UqG4MR3uwtcbMMjRMjDHNEV9m7nN0Khba2emUbllzzfnYuhp+7
IdHFNvYDlM+YAFntOK/mjHM+AF3nnEO+zNhiWwzfimDqLmLR/epbTvFrZtx6xZgfkeSAh3jnuNp4
r3sR8bdG11jK0oPKa8CEpdKbjwj31QnaZXFkGAHB7uftIcLZOa4Ndt+v2pJYO5VtI08y9fEyJJ6d
/1BJOOsHejk07Bb8RViNMX2sYqd3VoxF4fNYSMrwhCZOjl/076QAeKlLgkCEr9wpeSFyqT/zmBl8
UiERfzbJA1I+qYQ3EaWz+eVHYZoivOD2qRvafwVlglcyhlQZS1TAM4si6qpryDNBVrgZOBbHqh+A
uSg/ABI3PfiJLbd95uaX3LMVu3bVwZsx8aR1d1E7db8QgLTH0EqJx6ZJOHyUhsCSGmshI2KjTdU1
HhU5yUr3snJL3FFzVhF4hwfMQ9PBGdBEu4nBP8h5RgdqUNYWaxtAGUF5ijSMaF5nNi3PGTuAPZ6O
moSZ9StuU5dpPRZSC/LUrvdSA5IZFJSFeKux1fl0424hgYDPT96bWKoDhlUXeoC+BGUM90kUurvt
Lav+mto0SbgaIfluhpufpTKGm9H2zlErZXQSxL8e8JObzwi79UUJJQVSHBbUrSh1qW0wfaAysq4F
DomtAKdXRGN6qkb/rqalc0MoLo9WAsb3kV2CewZcMxwFkf2Hmfn3ZEl8yIbTiXdO8SlyumifbJ2I
1b4wpf6QzBpCt2cKbNNSjP4VhEN8Vzp6DOZeee1F4AU6C5L9B5RLVNkwLLoDwRoTyNzAJQX3o7I9
+3r5kEQduV3l9xBdh+Yp02egtnWujpqy7ZtbZ5T+aFO65/VpcpkKw7/WHRcqEC5wADpO8Nmvcuo1
eR/7EqKPUzTujEI59HngNfATGqoZCJw5jUlSoK8ftYK8kjdJbNCJthZl9V6WWUiNc5Ghw/TaCzTN
kahvcQRPgIOyA1MGc+2uVTZqrfC3SAgwGGr7FbTeJuvMBtuLWxOAdeMzm6fhi1Lpn4ZWV1e6S56q
uvzlJ024Ci2aoZlwgrJsVu2M5zGrorUrEDcN6dD/bjoEfpwuuyMWw7eefdnoQB80VQ5lCnYiVTks
MwpKnUZeh5BaZcehCc/IoFsYmuwspiRobrOzh8WVRYHXP+c+xkttgUxRJV/sUqhX3UPrhCEToZXW
KCc6gcYg0kbvvUOvyYPWoy2Cr2sU/1Q5z8Q1TxOS5IU+tz5S3xjHWGm4OIErCBhsc2/gl+SHhI5n
HeAad8LQaWdOdfSWD56rvtgmddsOoPOWwVfwtWjHHfXk9o5CGFxazFIHY0E49APqbBZhTA0iZuxn
l0u76lqEoKGkQ5yu2Kxeq3jAUb8E+za5bLvtJOV8aSnFffKAmr5z4HQshI+6P2WmWWDtCtV9aHrh
VpdF8qtMhrDFliJMBORWn7bDBMQzsbRhJBHkLgjGvruVLKH2lXI46ICwS/ZTuMTCCkU2KGtc9nIO
aWdL+cner6L6zTaxkYSAQtdVSINoVhbtJsUS+qSnRv2mpZ06ulk1UQguXXfXdDSycv2be3LiXU9p
pN19RpwpNxiD93MkToZSmMIgZL3VZtScomgEqKi0p64kIis5Jj5SQxzdMYwB48ZisyNSbN1X+blM
2kPW99O93ibE6xCWn2HxwC4sB0jY2BOqw6xK7ao3hGNOFt+mu4Ea6zOWEdlzKkTotYf0Fvp+e3M1
pV6qpCsuXGb1kKnZfm9FTh1AVetjibuiJxMFsu4c9+R0AzOam7XsWmszeAC0GuGZcHrnfF4PS5mN
7XcnyJw2gbJeVIFGgghvr7cMknx086DSbTpn81PIuFazK4nUq8dRfTOV9FxmsW0dXWZeQF3pXK4a
R8ovfMXdwei7xQSlieQJAYxv2fJ3E+iw7lvqO7fL8XJvQs34aRBG2jnEskpiWea0Il2Rwzswxnbk
RZprZ7eJiopEWYrNiNd9WVdb+LjOdiIw/cjJbdl5aVGx8zz8WMSuox2eunJF00n6quXd/NzatIcR
NuT5briVeQQTBSF52dkeIt36aiZdrQniKqyZXqU2cyHLZwDMacTpAvf22q9q9zyWnryYHLRhe/Js
FXH2AV054Wus5FXadXRH3s+KgnAOsS5kg6/eqWMmVU79iaVtJvhGD67tGe1hIMH+o8BqbkKjyLqj
3sD+g+HZP4/S+AJ4W8y7JGy0wI1S6871m+jb7dpomzsxkJBpyalODSvdwB58/JmpZb7I2h1+gFsb
PsLRTXjomr2EIolUbVNuIspnl+XBd2qlRHYs3CT4kyTO1Na4xUjIzr6WlXXXViU1vzxER9yIG2BW
8jiXon/zw+iTMvM9t5Z3qjxfbjKzn4MeAFZeGU/6zOc8yWI4TlQWczivAp1OYpqUhvmQS9gWTwqg
IIQ1PxGnMZfOUw9RGZdRZ+5k7hPujSVDh5hVg/cyuxaTxQcFO+ZglprYVZKXKS1JGmDYhExuLszh
IQr5TneTzqs1s/xtyTvluZiKdGuADCfIb9T3qWuPz6qcNXL8vkCGzVFSm9TeuIXQfnijuxlt7He1
bnoPQyOyaz3g2MEbLF+NaTIPfZ11m7rPy6+8lmqHtybfRIxb+9HN/Tcqsae70HCKr74xQcI088Cx
znGmpxoL8r6TLYOJ2ewJQsbnuOimrerj6t3Pm5nAUOH8YolorMpQ3JVmnWBT4nUP5s34nPKpp7pN
Ir8RDgPpEky9lpyg+kY2k6Qaf4WhPpxnNnAgjTLabCan5kEyjMUn2q+5GbTGO0WhBnk1G5J7Z2KO
gm/hb10YOttZuuWlC31tl1PktzJCguIA775AJLAtLasrskm7N3R8OZOhMQ605HvY5qhzBb+MROdw
ZuikrcPP7TuAhOk+LHmss7+2tyUsPd1NzlMbf/r29FUa/p0bRc02I1BFOVeUuI9FWZbWqip1YxtX
wMr7PutYbwEOyiqeq0ExjXmy0iELMEYQjj4Bbxu21tRqj54+WfptKGfPPfZhM+5cp/T57IvU/sWQ
VXQ7YWXGCy+pCl8S21aXfRghraxi9qs95X/1HbBPnD68jRr8aU9+KlzW/t180RvtogwpHhkmpyOy
PMBT4Ajnpk58prlOZoGHkoCBJaLqIBhqYf1gJxftM4xBjJT4L4dWnixROleeCC0NW+TOnMjsazAI
FtFkfuJsAhFpVsyZ87WG16mCkqztLWWyfipqsz5zv4qO2audtnU19Q9Kq9hDQBz0LrZmoBiV4OjM
Dftqfe11CLKYPvP0acY1j5EJHNItV3F2tiBb6CsjY79qwRhfK0UCOWBYzUw8vU5xr8wWW0GTNaGD
+25I5pWqavSfiLY0LVBhGb/qKjZOdVnSrBjrFIMRKj16dtcALU+za4/bJl23TXYxe8d98DAPkoZw
6aNbySzPvrwpMT6jZT3r+Mq9dbHRHTzPh2PjOMQ+VnQSqJilMUXaKzv16IDJuzFfa0Vp4E2aB+8H
RkfU51qxmBk9l7xLW3hbuxI7X9H45RTAhNZa7BtsonH88tT6wJ5GqM3sinXs2fEuBa+Ak73dxWZ0
b1biV2X0xJzB0RxGGTYrlWkH5Li9LZLrXAzYi52SpCsu9id9qDVwJfREhHiB10qnGjIF7KstRwyY
f3suBFgrLJ8FsyG/ydER+S994pIkkbY3nWXnrBi4OSKrBb2D1bWIX/0aAz4l4z/apVWIROazxtgR
cBwctrVs7zid5yuIFhfLbKp1pmt7K2nHLYeRTy1k+0iNYZ4IzDVsxANXj97bwjxFRGUxT9a0NHeu
s54HvG6qQLJz1eL+Hlj+CSec1xj7rbVFkALMIUmdpM+bFVisAvttDT+AYo50/CBdvWZvum8XSQFM
2d3cuaRerazYOLE+X7j37B0cfyp7Bt8IhgF4SsC5yTrKHExAWBJRtcNSrKKq7+AQd0hQduLUARER
a4tdVjGUalO/G1liPRANNkICeWqyVhqAlWUx29ZnZ+pksupSrq9Xp+5OjZoLKsDu91BjQ4BBZvfW
yJxFOuk9DiyydZLTSClFuZ7Nvid1KrN440Sl/8ICevygWyM8wUEYkOpIyTPQiLdoKLto02rClytj
5oBz1C0jecSzOWYbx7LmfTnqY8CLQ3+N6F5/auk4GwJiFY6+01TaHBHMYaH0HpkN3e3LVwrhniwU
gZ3eej/aVokTDxhAq0np7ce0+qAP0AoqZ8C4yhLTF42/YQnef5tTh6O7CnXvGnWWB9YhRGCI9TK9
TSzlCA1giAuKOuzfubMS0rolQnSWUc7qjA6QI17VIuEIB6opOsrZRLmCnYi4HBvoymZdngxseHj3
IoxPuJDx5qV+skuQ1PNN5jbus8fgYlN5ny21F9JSh/8VZ9B/W4L272rZwIhq/1Pz0OOH/GhaHER/
X8H9+VN/mja8pXHYpYoMled3k8WflEXH/w1bECs4sXA8/1jO/Ucbkv6bgZnChwFi2qQp/2YcMi26
lWwoSoL9nWfo4l9qQ/KcZcX291Ak1g8sJXiRKD2wCEL/Q08akKRRy7W22eoZX56dFo5NeDFTgVu8
8QvnAGoEll/DFOPsfMmEyA2A0ocArrJrAz6b84EZeSezZ4tDm4J1diqfVRVJiTpduaAL5xW3bV6t
ZAch9+xn6HquBCKqKndodzx9UJHoAeDNFQltWHWJHV66elj45FnuHDgclPWm67Ks3DmTVDcUBCCr
Br2J0cbD8V3zrMyAh+l5GJ05lDufKM/dhpfdsBt737uflTFfKgAwG7gPCnVaFZsS08Vjb5bVz55G
BKA0Y5o962nofGaqzcF2R1FN1nKZGTIBV2Mb2U1EFtKVrwhPqMbonb0IyoF9zM7ts/Gp0fVuByCh
Nqn1qbobFpNwXUKnullUtKBEcCi8QqKu9XWWA7kHWItxYqVME8hi2mrWvHZkhBGxh3sfBn29SCBR
bpV3GDcrpjYDm0ZZGFb0oece+8ukmDS1GdiBQWyzCeM7tiFuXmuAcW6HGNayjfRzbBorbflD+25e
a4TkrZPXT02+Y21Z4E2BJbkCfde9dh19GYHZtg3/APyOZaCPdbatZC4/rbZT55kq6HvyffZXbBjj
M9F68I4d/ts8+D/Mndlu5Eh7RF/FL0CDTJJJ8raKtWst7X1DSK1u7nsmt6f3ofzD8G8DBnxj+KaB
GYympRKZyxcRJ8aprc4NhKy1Z26c0MnH5rXsK2571E7KbelqL6ahtAWRZS7afU10rF5bCrYgHbAV
BmT3nPoKuDlrd3wH0+swquIBHT15zC0kk300q+CYpKo/2OYUv2dQ510LbBkBQXAcerKpa9XLmwZS
2J2lNVrGFnnVsPbaSGZxNJwh+3R7rB+bgEGDfbE82DYblxwvvzNrQIE0TaAu7SqKRYj7zQZdrR0I
mfTMXNTsEYAMsLq+IhIzS2Fnmz5oYPFvsjRAQUspdtG7QUVlwwM7c+zvmW8QUuvgGHKGX/W1aCSz
s1Mtl29KV43h4GToVuQ5xJoA81/yrCdNkGOWxj/al9gohnJ5iLiEFNcpxr4CHsk+pgxgHiw4CJdp
MJPuwADdRTqiGeMDKlp+8TwjMvATd/J3o0wvtCoCM3vye+qcRjN1R+Zkc2GCQbmjJUN+BHFm0cZi
pZA1ao0kFhIvCEbmJqLYy5YLnG9PKtsTWtJ7szZpvh4Xw+YQPar4CroOUaxNsuCdaV/7lsHc+ZL0
e9EIOnDRNQ3+5wCcYfbU/pvGIVVsqawge6Es59NzMTbdx/RaSDJuI3f1YCr0fUtH+RzmWjvnbuBS
vlkYhmR7Ig763a2T/ivJYjIpBRmD4tCxDmR7TuOaloZZzC6boMnfHJmDrcHW4I+/tE2MCFynHgiR
xA4s5m8yWLuhXR2Tys1t0OKM2cfbeZkcKxTc5tQ28K21ARvd1GUrh2qMaTzIwaDxwH7WjpFCVmuM
6CiCpPgmM2btsyC2byrecDI48BN+ozrUd6t7h3miubzS3yg5Tka287uD5HJPK5d0LhCi0o5jA5N+
Y6nsTVY5/RakT3DjW1n8whMFfaQMeCqrbqn3bCbzR67n4q6NfXNE0yaGvqE7RBxcS1UBvI3hN5N+
LlYxbVgz+ZFdxTR+CnVmaeIPyhrkTVzI5YnFxi2f88CPPn3khTvQZRV/Af7jcx83+XuKT0dzd1xP
7mZRGm8t89q7fAhMMrzkgxF5MVRtsNYXAPq9GL1S1N/KbgPmzW0qgOtYrI6vDl2VCuBhaRt7gvcI
jczUec3g25oMatdC89vOmxWNGLX77CO8W6E1gkQrCUiETt+ratdndcLFLP0VK6s82qD0N0o0+rOY
dPOkxwGBmwkQdkLXeOIUx6V4hDAybMd8gcEDrI4qlnkZPt3Vn3JMJ7t6IFEsMF4t80BiWrknr2iX
dyQGMtEWB/id1dh1xWlTOemTyRnU5b+N0lfSShzMKA8o9gHb/SmfRLnW1i3418VoWt/kIL37Whf2
L8MYygdBJffexmP3WsSTnz6UCSF0vvmYqIPtjtWvDH/AEVVqsrd6bGAlagl+MaWGeQfElHTtgIfH
e44NPfxlLiTKkOl1C/DP8fBV4DLiDoaRZ+uQ7lbbdIqwmsTIOrsCunyDvWGm88xdogfdgTLceSkg
wdBXHqsW91H51kvpsHHnEcdWQhWiDIqtE0TjUx54GBcMIY6xHpJnplwQSi1/2DURZqIox87Zg0yn
mbSsV9K/A+Zjs76HBj3oXkVuqFvnUfKqCxQxW7ZvdYxmEMUrTDRT4Ljwc15Su9OUYffO95Rk5omW
U+qbEA22amiw880p5d4I4lHr/cEM9qVixwAyVNShiuKSMCuR12zj0nj9pnICGzsulTy1CWfzfgNN
YbRPjnTJihKZy5rT6ESM412jrp2tbUgMFzE9RS00nEIv+6nz6aiaEv+7rtsauKClrNek8Y2FS75K
3SNzVH+6W3h8viMpFy5eqPtbJylKtUZBaiCyGRH0wMyOTLONnRjalGeF6KqelB+C4EbXLJhOnWpV
YJOhV/yauxb9F0MEqA7IzO/ST8VfP43UB1fqnq6vuf8yWrveEk1y0nBkzq43jhvJO0/WclMFYwXn
COoxxF9kHXnDFM8wXpwkhbqOSMMg0c91W4WiTYflrvUZ3O5KHhg8jE2WzLsYl6G1o5t+OjWroZYr
9pLSf0RXzA4Hg/3O3D7PmMna/R9/9eyWP/ZdZ3XyliUo1C0rwgBOa6IRb/lR/peqC27HpQluzB93
gLJ08lUyWQVO2BmYooZEfTVCSQ4qQT3/wvWJ0WD+MR1AjwB4ppkNegfCGIgVytScQ2OJcaH88TDk
fMq30KIF99bc9la6ljznZRdtG1H7YCHworxyiMInkWN9/t23c/eua5WcCwhkSVgJ+pk2qzRxF6O0
sJPA8zC23o8po7et7F7/WDVs6SrqcYxkCa1cdfKGCEcJj2k1f2gWu/044jxZYcptwba62kXE6hxx
C17TLTU1PsSzYvVZLmD1QVFR1OKn9ck3PEKlY6uzI8bN9nEA/QUu9MfAon/MLOTL5/Qehlx8O2V9
Bw8E0NUn8eL2UTSlvEZ9x20wElLhlRkWosCrTPaFcyngZ7YLbe6HPgu71Xoz/LhwDA6mj3iQx4v+
serQTY5th2Xcfc2ZCLBG1sncQMSgTnjn/1h/Yip2/oiuFOk1/7EJxUDAsQz92Iei1UnEQSG6zsM0
xzdYNKlgq398R9w4iGHT8U4xJRdfvK8s0LiWotXAhHWXcQbcbXWv6zm6VHqAiG0V3R8sYtZ1ZMLa
h9bqikpWf5RozeBVrJ4pMQTBH20P5gvX5fHiu67xMZsRUKBotV2NdaY/WH85LjitEs629GmPLH/c
WiNM15NZxfNbnc5gH/Vq7pKO2Sggvg7ktph5Q36oyfPCH/rxisW2agpOyia5cZPcPoJBiinrSF4Z
29mPA43GQvuU9kIWe6aesOllwu62cZKknQ8RIfv0vKwON1c7c3vSPz44Zt+tEeqgCP4OZJJ/9x3B
xpXBWoldz13qlXKMJKEya5w662AmWNy3PL2Jc06RE1GzjKzJ9i7IqMEGA18Hxmfd9d5xzkSxAnSX
ws1OSZUtdP0shDiWEEhP7b+302j5V7fmXHIIeNIAYOfMbyBdR/rTraBcz3Cm96PCgqWmwsM6SRnm
YaocebJ5n+adXgy/vEmkaibkB2ew75Ym5sBq11BuQfg8A6tul3MezXCmA84EDwUFGRVexiWIxQ0s
UyM6JFBBih1sUb3DxW9Ke2szPOamUlRuxxy/Stq2vU2WmuNRU6cgt4XVlM6dyuwqOrtWPyT3/uhp
eS9RhsZj1hMznga3eqQNtzVufJczCSwwvKgHerNce99PS5KeQBKk2Tvp2K48ul0EJqTJqbf5VS5g
+QJwmXLTzNqNfkHXq6KNN8WWxyFJ2ei4fToy3N8Mfc8xs4NcvLUEvSQJhEJh/rLl0NNporpRg8Zt
BDM6dw5u2L7b8Zj7FuV8c2l1O+H2IGJRrw6KHibYK7jRnpJKleUJd39m7hMCvP6mgtmZ3daON3pb
MrMonSpH/wZcOxihikdJ9ZcdRMC38Rvum4witm1QRV50rlr6vgWtl8IEM1TLMt8ZtOL2H1POcbtp
p7m8RWUS3tZoE3cpN3JUfnPG6TcHxwhkItK3W3rJK5uU7E/ORAsZq9w43iDYEYiCwkz56UsiUSO/
LN7h+jHWag4rSYHshghyytWul8ND1gbBR8bhbrUNQhEJe34cMK1dOi9HKybZfUkMEsY7P3I9h5wx
db6e6Fr0fb8zLmmZf+AzIJWJBzB+SPKGPZF55C/DngicFubykDGmzGA06rBLc7yXRTDiCl7sIWPO
KBs6fyLdXoQqmd1VmFL+AuwxxMmiRA0/gjFiAFRFMv+e487GvjBaaH2wd0BMMvF80kjcW2yEiDbC
hWk02K3hbEanuOq4Z22ihTa/xBNvLKcWlOsw8uEEUj4cD1+95+uC07uPgF3LDmLrzFW4OKY9TmEw
KRho+9hGA2roNoN1l8aEEaVdiFskyiFGD1irddG2TSNsszqgToAuPWtLaHQ6TDFoxZalHyRaK/oX
UJzcmHIyM58oSNXJgOy2LaQX3XhN0a/VGGgKmyJ2YRYvpWvfE+Wyr7AmnEOKRHfKIDMsX7bFx8FI
s7vwXKpnPvng6ASxydfXnlXvxqU/NXTMfca9Gb/SyKPe5jZW2QH5VpwH2mrBf+Nn3yLLFB9xPnjN
NgdGbW692jJLuJQ4ZsKqzWgXCrQG9rPYpIX3Bj8YeN08uPjADfBy5pAnqLCgU5b8sArCvotkG2I9
SKisSGHbh6P2I1bsNpC7/9vp5v/Dhhh7nSj+T77Bl7XL/V8eus/vP/0/BR//8ZX/MBA6/+oThDRN
YGGSdjmLzNc/Uo/evxIZE5YbQOz3BYDu/zAQkjhj0iSFz8STBQXs23/EHpleYkI0+cqACiP2nv8V
0u2/NQQGgiAc00vJCVFY/zVwpiBJS8xKw6HJVPA06m6+r2o4M/i90+7LCBbs5WbQNtv/9EE9/Ptw
9J+KtKSDBfKfp6aMcyVDFZfVUJCd+C/GRd3LnDPJMByko6N92qEZfhL85QqaDhbd57qBmbJN2RXe
iyZjtkk3RbNWvdNXCYJmNOXBLBqLMuzOxhHC6qkY8LEPOxatitS1sa6bPZRlJK6o18dRrHM6hgww
H62RrtJNU/vzlz22G1vNXXUQcHA+ylUqmXElvBI5Qj9hRDk8zj+qSr4KLOmP1uI3EbrLYCHBVI6X
7jGHciEsy4uT1ukBh80M9gAaT/WVYSDGkD6ECxTzsI9qEOxE92mgzh6ZonpvwSLbg01dzk1XNhYm
RteRgLdiGb1gqE8z6GIGRE2fOjcw4H8Q7RGXS3sfDZk4KUFN7DgmD36iseVNZFYqDyiAYVWvaVpy
eaejmZ9WPA2cmBmxCahxkIOJMlXboqzBoAa2c1815Pcm7nPChpIPW44v7FrqARsJEEaZ1UY28GW6
SXwSa68YBjgX0+1hFeNXiO3uUAGCZkw9bFqQzVjpgwPk3x6LzVLwH9Uj3vl+pINH48jWjTpBue/I
dfQa8JEu2djg9VktQED2B5bqMfV2OXHgsJ8imPZujKxD5+zeSW335OC7xZ2D0mt1WgMe6aH7g5va
LtnEVNGtxDGPMr2Pmrg8J2XOzH1VLzsi4odlVTQHzmWcSayYGCW+fuR5BFHtsF94hjTuFrwNJ4ty
9Sse7D4PKwfWYIzpM9v4008UmKKXjGtIUsahg48tCHOfc+tutJ3+k4EUum6zsONtU1ywH7F2/Fuu
ItYXNRvlt8KBQlli3lDRKBIofnGd35hwRItw7ExK0EXQntQMLWNVm0u7ac7JUtZvJWQpPuusA7GO
zy1Zdt2PYA2OGlyiadZSwplA0y6LgZ3cRFPkFL+q3sT4qcr8kcInyy5uir60EB4BwR0Ai/pP2GS7
Fuo4Wnr7I6u7PxL7sqrtZmdz1+fyNzyKVY134mSOz3HcMKZoV82+/5Hvo1XJbz2b0ouW2el1Hn3z
xG2fUhu56v8LL9QJeyiyY4ITmM2xcJ7rrmMsDBIeN4H74yyAyYPP0pJNcY/UOrwGTNco+Ag8Bily
EgBFDKcbd/6PnWFenQ11C2gRC4r1mttJq4lKWc7fSo64PPAezzTBE0bFpbTMLr6J1UHB/W+55D0U
QY4mAkRA9WO3wPqbPGvBGHyTYsfoGnwZODSwaLirW0MvDHuhY5CpLBbjPsLUIeP8qy+TG4sjU7O6
PvTMZbpcnSBDEtj3cnWHtI6+oeoKxsTqHAlWD8myukmEia+EMkp1zLCaVKvnpM3M7yTntNHVXUls
sYiPeJub28rz8r348a2sDpa49NKHZHW1TKu/RS+T2KnV87Ks7pd59cEQ5cMSU87ReBOtPpnyxzLD
ETy9BDTUJARsV1PN8mOw6WbX+vIgJ5zJpRUXunbvJw8QOVq6pezQouhL/mnreeXV0HYP5KYySt5L
g5hLvKsYnm0ZMbgveTJ7+74a9CP5ZrOlSpjkLSeP4Yyt5E9jt6wfnGKd9ZAehYGYvduB5I/rEKxg
ZG3Eu7GMU2Y6SflgmMB7QItoAA71GF3hMub282AsHZGwOVenHF39tzJKfdcTws93CaMmmrnUfO93
wP1nDAHWhryVx5MVdQarRfzlD1kfGpXrH8kJ84OtQecipdA3m4R48QuGo5yyEDGmkf8D/vBTPOZ3
Q8QoeYyjoy5Eua1L98yx17tthEzORBf/sjthma+D5lB01H5tJE9Kf0I8nvA0MVLedaSu503axxa2
jrntvlOD6dLagmLekDLGQyOQJ/pdgq9r2vgkqW6nZLimM/ZCUjnYcT0bHDHGkcOc2hNXFV6Yg9sO
MNwIVWbObhgG/65Vefnq8XuigcTqjnMRVd8a5MdDP7XR1wxsw3nq25JlVi0EmcNaoQGtpv4Oojin
A3DlVtztcpK0tzHlPiiN5ldDKQshacy8hbCGi0fCZ+qqd4OBcbmC4cQU5hSnQIUZpG0dUnrc8Sc2
vs8Yt03V85gLGnUiK3Pu0NfRtGbZiU0xjC0NLtVjZCN7gTDpwr4pjYdCweGcDM6uOU5kfP57DIFE
nqpVTmhjpmzxCehShnvT6S4Z8yLD7bAk52nMj5DcBoP53XrT75n1/TT2HkcFU8yndAFlD/wKAYtm
AkrQucAIUcBxKyjD1J178AcSBFEsonBZI511MsH1c+PX2A7iXatGHoBoZHlmnrEZldMP29JYkms5
0WYPYGpvjNEuJQS0x9YvbpIpreDfkjoyDS/9nmKhtpEe1G3R+zbJebqY6mkCRtNz1Yx7nBKNR7kW
v6Fxx1nQ3vZWZYa02b9ExcAHWf5QWflgi7aKbmsfoGvUNy+jmxjPQV11mFQAEnLUYBAhO3WowQof
WIHwvrkN6m7eyZ0JQzUESyiPMiOOitT0QMSA17cUzj29ddjM6TTbim6YHGwdkhDm5MVg6YEgYfWH
fN+njnvhuNB/rE1GXFYD190zOO4fZNoEu8xSPXPjKho/UMqLq6cW82KSwPrbT67kWlVioB6C8Q0G
tgy1mOphP7pmjW7KLTCMPTP6ayaLPkp39reZKgTgtcyMiNj5bsqU20oeYqz4aL3xYJ5ljDgzicz+
DKyuvRlMMd3jeM9xplBlkfJ5C3nGi43pl4heeY6FhrkVWO7F9AfrmYFa9KfoaWDeNJWPObmL05yF
yYpOoAfcc8xHbRKwy4IdDaTpmVelx9Adz0N8gJdL4ssU1qvt+AFTZGdQm3KeSICIIv7WQP0HbpCB
V/NLqMBz+77xjLkhO5IBmy/ZlC2HypyHdwe230W3oDS5tMsEVG0F3LPXQXUmIJejQiX28pxn8/xH
Z7LkNSV8e+1Qn68BSFg43imtQhxtNd564RHjzvtXf67NuyipqnMSWeZhZniOi3z2cKbyHMTvqdPS
71OaBRxIY3oextI5DjTtPBqBrThNSiDOfe3fMqyzLqryPbzhI4wppNN326HPlaD/Rqr4jj4TeSN8
Wtt2reEONEnkDmg0gqv9lhXPorNrSUka2At2uK4j5wmeHlJiOm29lpvFhtCgWeBuljxMOTT2uyjw
EupoSMaKoeLAWM7qKpWxnLyG76DCyvrCoIhwTN0p+5nJFdyABeOY9cAWwTiAVruB8GJjyZAgAtP3
AkhvAOV0L+1q2cOtwtNJ2oQ2teAzAygMoMGCiASM+oBLWO6R0pNvDi3AUGWj0i10ydUtOJGnLgGG
nZp26D94aZerEfScNt2pOuQdf4lvmAJkBJ25blnHKI12/FBPnbgbe3OYPmtbTIAdp7QtngwM+16o
mgUQbqu54G0J6WYjDLBuighED4wu8DjDpJb+YBzcps6upTPGz1NjpX8XIxeUzklUhWV04oPuzP4R
X7H1oevAedbTSGZg7gSIKcqlwFikafUUl0byPY0yOxvSsT9bR+DX8loM6GQW5HQ1OaD+6ex6Ocdj
zfisTKf2OpMwPsoFEgIHtt5iVXNVG4O5yFmyu97WjH5L8zMnl/Ti4ofunv3SkeouqltgJHTOCzou
oDrs4pJx92DPGW0wbjzrMChjNLdUW3N6aiwewlDHBtBWjXdvp8pZ0oCQ8/ZS9wWooWY/vNRWBtUg
t1fAAdlqYI0GcmdrNCSh+YPsTk1s9NSuiISCfP6hsoLmtcEC+cnUm45Ap2mvnes8pgZa1UT/aLOC
F9Qc0+DCc8jwCyxD5tFeE1dBdlpLUl+zFd9gNbXr72QwOx9gqqfzsIIesMPU92KFP8SOD9rEWpEQ
DmyIdoVEcKJObqYVHNGuCAm9wiSoSxtuVG3IB/z4uAwNGguZDN2v8eqzksIK9YqmqCg+ug3Uyqtw
AwVwF442vRF+i0fEK5jz1x2YC2cFXsSQL3ScfKOOTo+6MSPkv7YrWa0FmAZGiMFfCJ104+iSdngh
4xCSRvLarZyNMePNKVb2RrZSOOAd2LcVfp5zik3wMa+phXUScytAzV5bjrMPdKbSF5mmzR/yrgs7
6CiOFd6M52UI1HmJ6TMFoDq+5ha1hD380TvqRbKHeulsWuWoVNqVVqNupsgZww53xIkqiuRxYAAQ
2k1aN2Chx+ZBcyf9akFu0A1dKUINyEK9X3f3gzvmp9pr37Q5wXuZfAEwHBen3k01Qmc30pyRr1yV
hAKQjTVpc5uv1JUZJsX7ABb7diAic6GBJ3hPvTb6FQE8OaDj9CeJWeU6x8hn6Up8oVV22S19pG6x
e+ZPilMeaceVFLNgUzhjMQNu3fPIDz3rvdfU+leadhVGXZV+zpKwGZgortRWNXi3vsdlbQN8wfmT
squEUImJMkEIwHAFJhAUsbmh0Ha/rCgcMj3Ra7HicdwVlEPrFxfUFZ6jVoyOv8IFSU5ZD94K2Yk8
MOHGoItnarqIsKwwHoqjYDUjPQnUf+A3Zsmet5mryP7245wblu7K7mLGPZAG6h/jo8GDZu3sYjDo
wVA53qU2V3FYG07zpqampc4lmKwnIojNs9eJ/pPcGrMV70cHpYqweu9hDH+OykQjDZiqZ5cew8zD
wur3uvyoqET/UVSxxDndPsuxSMRq5H6FLc7+GmQlX2tR4rj2vPoTaaUJ6Sby3mrJkAa+Xn0Tc1JD
YmTt4BvKyjCv8Aukg+dcA4PV25IdYrI79Gh89AzS6KQ+damHi7UKxj15ql1fp8WRJhvk5FVY7oGJ
beo4bd47z6REFOfz1S1yF6u2GZGI2SqWeDIjNV2jddXK6Q41KXGPZFDRuxnQzmtTkvVa/QjbDU2g
fwfT8fcon/MOcP0kCb2MMYaXap7fcu6QYYyUcey9FG2fH55szvAjnoukd8o9p4DuZjaH5EMEqfXs
ZRUPUGotfA9GX19naBYTg6C4wsrf/u1/pHnSq9Xngvzyt+YMCnXZYBmKjCVMAJaF7mAYB4nEn8cM
tiwKdXHxY/Bw51CxNW9HpeCfrx4BDmOvLDKkbrv+yYxGcaCnxLjEq6cgWN0F6GtuaEhoibqhBVH7
V5X2zn1kR+UNzcDwJuwfs8IUAcZRVXUh5SlP0Nl5HDAsucQNSPCERWKv21S5z2sFkN4rNmxVPW+a
QfxDz/5tGhO9Z+jRHawgMr9IscRfGIJRGHMAgHx90V7wXEPv4Qa1J+SjrlSWPsxLYh3Ym8fryuBA
A7cAAmrDHQ+FESDMMZS6d4V5v86EPkzQ2Mi7zWjZQDCq7J6TXUmBI+vVbYKfk2lX74KbChIn3sL3
xvTkTYvD/G1RoT0lxSsI40JugrGTjxwNCocwUx7diywFIz16/VE5CYV7uBJCGw/jxo9m3ssChoUq
oM/v1aKILZJU6y5Oxyxx62gRvbXxIPZ91/QfGYGOW0wJ1AdK6qs3vTO4j3aq29uWv21bA6d/SCzT
vjUbA8tdFNTeBTyTdyTWkJ0Fjkgi0uTlUif1r9Iqmn0FNScORcV7OveDume41hPGsHuOND7VO7t2
MOZxszhNtoud+XdA1WmIowaAVSzMb2OJ89NAhOtJsjKBMdGowW2ziI1c/HwfZzredy7hvqBn+pYI
j2CalZX+7ZSr5nExJniPmrq0A4Sb6iiBm39S8OSdG7fJXiD+sApONd4qYWOKbxheWRte6v6eO4F4
lclMAaBpDpy5POdo92xmqsaRQ5cA1z105E4YL74a+k02jzURqTLmt9kAsMqmYnr0IlGg+PrGSRWy
ORu1WW9no2p/mSkHEBJyadiTYWEx7kktuofcKtv7wazVvsvx+VjLxEbKP7rQM9Fri8kjeEOMwgur
hBjXdkZC2Tl2wjteU/y6lf4cHTTJEYuNRwzwUIP+FWuL9eqPIK0LPZOiYXK1xNtBQmDxCgwChNbS
5jnHo2juU7ef5nABgFXtjYJZ3gWooGAk29SC55bhB26cPDbeKtisZ5/iKmbPHKJznP/ZcF3mhORU
7cn0KfEWnMAELRj2Lq50xzAjIPk388rlsOhR/srFIq/+FNTW3qsKo91lmUR8d8FxMwlpkwAObiEF
pqDAt6+9TwfDdgxSAOq5HzRv2oEZNxgmSKDAH03nNK0S03lh1P+cOkv13trReDCyqr2fqFskweu2
/SOaHe4IQe3KQzMyiLMHp7xnu/lwrZRaab8n5ka5xi+jtpN9M0/ARWzPPve+KF+zPqOgr/In4q0y
ETsqFgoGKerEp7DseqzXIJvRDDduHdRPSg1TCPB+eWZ86Z79VngP9ow7kEZC0O4xCnwP+N32v5ka
wB2KQSJR19UhHRjTZDi4e8fuyAyZ4t8OHs176ks2CEao860qHW+nk8e08bQOac8LnnMVVTcxTmMn
l+RwBCat20iwExwpRGnKTQrx7ItUX1+TfJ80He64rIcNU2f30W9se9o041wEISx5PBhga4QbDrVf
5aFt15CCid89FE6gHu1ZYMxt1PhoSF1Rw2sVhxSX40H1jf1i0yJF6lI5u9QHGUVCW8w0ALjZfa+L
mXv56MtfqsmTj3SSxUUZ1vDQGYKib+TNxCHLOKG6WFbBn4lvUZuScsraKs8Y3mf8F4z/OVzvE3fK
8FOk0/0UdACTPXqMKxrNZPBYE2w2tnEj4u/ISjy9TR3LeqLZmG7WFKrmU5Z6Ygf7mwt0IBeX7bR3
tyTyuUhNpe3edbXVX9u4Nq9itKv72XDhQa2h5g84N+mdXEhSbobWl2tCDWU4rYi+HFPVWi8yCcQl
RdGkgqVNTfAwtPES2MtK70wJefQ7JQH02QS8PLsx4cC2GUwwWeGwgAaTs801bumG4o2nbQBDWKTs
BEw9p/vetKPfo6HWBY6XyCUJ++aBbDzZliIpB2XsnCQRtG6S7xfWdjagPjC/e4cuyzXohGm5wUYm
jbR5nGTnnSes2TfOqIbTYif6b6+d9CB5bCmk9IMWCyq9sH9kFpVhV8AFJOicbZVU1RHit3d2WbfD
wauLJwe7xtkQOF2XfNbfVQa7aLvgKjg0hVkdM8cjQzbFZftpNZhod7H26itXJKbfTdW/5IPtP/qc
zn4vjec9LaLjj451qI+H9h136MwVL5qRO1KvN6gJNMed5jN8qsAN/WYHKvEje2PwbMCBjgA3diLd
1X3yoInRXOs6J2e/sLYQ99eOQ/WKUg+l7RWXxuKLrKhew/PSe5BTxTTBnEv9a2Gstm7Ig7j1NSUn
EVgBG+f+WFwxc+dEnIJMUJYY1csjKje/EQ43mGVT+Yi4VZ0K00quPZ5HMEWTi92z5arhgGPtOrB+
SzJG9+UwyzNfFgMobo2vCbvUln98TwBu7Ky0Rp0PFv9Oe8vyME/ld2u5tK/reNuCDNyKLJhvpZoB
TI72CI7Pq7dZEjzNmJeoSCxcdkZGlyfVm262sccJYJEw5bM98nOBFeXlmVerVMF7veno2dgPXF9R
aDQTDiMto5Pi2P7LS2r5EJkmTU6OPXVXhwM9N4HCNQYqq9nlhmlqzvDVbMDKZJExC0zdDerq77rL
ydgBSnHvk1h4t6OsnceJccavyvMdYr8Y4RTXXeSbRPM0jSapZfSshzqtgJyZzBTyTou/DT0nVBGY
rabtpu6pmWHs3q2M/XEuty5HhIs2vOrNjtmyqHvhyJIw4cwtMeK6QG3BY281r+ipBP35fHdJq+rj
lHR+aBLM3vnUGNcHgDsOu2k8IVopVf6SNlRStEO9K+Ts/x36iiIx8mXMgi3/w/QSkxJqXdDBiMkE
UlvkcpD1MnQre9HcYISVjJce/zJdXy05BtQcxr2N+9m4TkWin2zIKTJ6nkhmJHSqMse4xULEIhd4
LS33qk+eXKph9zjbx+fUm5zvepynLzKa6hnjse7IwE3r+h9V+kYGGT2gC675X22OfglekksPI1KO
JhACuGINGYsxKVsPHSZXNhtNrpLb0TDNLwCVfrkbmwiDfTezcc1VIE8RtrILPxS9OuzBtDk1NIbN
rorZuaq4PnW9SzN3EwtKlgA2zm90rgh0myTYC9Gw51dtonZYAqmlrCMBtVB56XKr02g1iI4CvkMg
+3M89ZDF3Hz2fmOwhaspTYK0+NhqdiuRNtHa3zzTplGulhEGbbniMWcX2xAjWvM2UtvtTTBN/DWQ
tsmR9vDH6ZV3rJeC0PWLL6qcVIU3QSmMDOPEkL30QheGDv9i5KXbgFoQL2i2doGlUZTeFnKL+93S
2XPXoKA+snlxdinYLuGAsbWflFlaeeiJZXpn3gyDnOqc53i9XZW+oi4pDkDmOeiDuzEFYDABJrv9
N/bObMdtLN3Sr9LoeyY4bQ7AOQdoUdQQCilmR4RviPDEmdwkN8en74+RWV22M8t56qaBBhooVMKZ
thWSSO5/WOtbnj+YX3K7Xg+xAqEMvMkksI2epGGBiiDwGQ6fllI3rogTmC7zO+XCWIfkJYwu1jRm
iOnQ4M4agNZn452tMRlNupHuunvpKcKv5qgqkKFWGvIyA/Lc3AxfDSmyc085cQHKz/NrIcHBdfXq
mow4MwCyWeEAEpBZsBHoL6AWUxKPkvyct6MZ1kpPvACaLLA1S6iXpJfLXTsM1XWdN2susKGFthmV
x8Jw9c+FHFAYSq+9Lvs6uYHgn7UB7JB0i69m+YxEKjnE2NaOOB4Q+fWo28e6j8Xu/67s5/9VUyO+
QYGU5l8zxR7SPE/L7x2Nf/yR/0MV802Y0jbTUQQdnos65ndRkOf9phuIenQCHY33f/+HodH0fjNM
/oWP180QwnQxVXZ1rxISJBESuT4kMMt9tzpa3r/DFFsFSd8pc4CV2WCwBUIlNAXA+cRPJHR0t3o1
VpgW7AFU8tIyf6dpOtuRKa/caXSRKi7kejNT4TkWT0/pmMdXlUGgWKOrZGvgsdqAxvAI+umIvULA
eF+V/XSsNanOpUt9/90ne/tnMdGP5PY//7wrIu07aLbQZkel3mwc/LQYD7PN6SnRxuIOjLa6ZHpq
Nr5+9pny7H/9wpb9dx8VNPHvX1oyBpettOZDGrMiWnB5XaAMeLulmeow67V6u/iExfZGC+rKFDfT
gDsCd2fJLMSPg0wKBpVLJTa1NpZwuKgC3Ta5AYqC5EXy6TnWdFOgoT1Hqp+D1K1rNjmVfuiW9F4O
WdgWKa43Hf+aYiJOM02410vOknnZzg2L1hqE2R6/TP8woO25ztdWKS8oTwppllelr9dn0fvpucUw
9pr0I5FDUMyuUwO7z1ySC9KS6atXbFUTHXBnvNfUyg7zE0bpo6E/2WM9HV02NnuoKh703DjdZW6P
f8rvwBDUKKSAQur7pNKy3VKvW8q4ScOW1fIeUBfbg+imn8c7nCUtOtIt8cIv4OD8kypY3M2Z/wyS
i02IL0/tjERlThzzOlvic1nia5Cxy2k/M2hlqogKSGL99Nw3VRJaMuCY3ZAHc8UEQ2OpNN8QwSx2
AGZU2K8oAy3B0CepqHaQtFEdF+mljhYLC4t+oPl7LOzpKlpmYhpbcnwJlTI1gkSyBm9khEXO0hvG
mvbEqbyitvHcQ3/07NAcZbMhzIOR7azXIW+MliRF9CSAMn0c4zbGlA/Xc4PZbD4kZXo39r51xV3D
drg/RbPPcMAziWpMpsdp0Ia7qZyQaCPQ2Uinx0U7yoPO9het2xjCz/XBF/OdJDXngN/HFvsWZD4M
s0KRZ0bYeU509CoM+8wAoyNDbC/wzDoJG4IMgyylDfZ7mbJyZt/IovxqlS1oTDaCISnpVFqLKRxb
sVRxNU8CBxptDVWe56OIyfv5xMhTXwkT6V4fyk+2Wz0qyoYW4eG+aRgnJt4jasZt52CyNQs+S4Gy
mXpqODiWGkFuWG5QuWy+C9MDB9HL7ehHm37wxUHwbTIAifaO+MB+lIBRCxMhPHeQ70WfbfFpekFU
ZFuOcVKwXC/bN8V4zwZdP2ksiVHl4nOeMAdsaqnc04yC8AGevLadXXc/jfZDXgtUDN6k4bZOdLDu
2cXxJnMzJ+QrIU5Tgcr0aTtr5l4b270wibKxnfieHTYzByJ7QAkcm9K7Tz3s3s08PaopRUmSBkol
l6ExJLllEKbcIZy6D0vR3LiNAfBO7+8TbFGYM/J0Z7h+SAY5dFJ0OU7cninmt3NZPXYasvfJ3zVJ
+Vk3qlAhw95CAB4C1MtJQMrkhX1gsmdoDCqnuUtH/0prDSQ8MBCiyiSss2GeiFrf3cWUgjUAtLr7
hKFd8LlX+gO8iF1nFua9hjR5F6UjxA4wEDi6YxLSqxZCLJwl/y0pUn7N2wIK2Qm+Krg2wdj3Fq4y
icmVGPCgSBBuTw0Dv1am1dHMGRLLvou3bZkz74hM8twGCu+M5uJQMFq/sngubnMbrC/06YCn33ia
Qd48tr7Hw0IRD2jFmr7HiE3eI46gGQe4q18b7qQf/aZv75uo7G/H3pKHtKZsxB7Mb8TnSBAwOWCq
QGTjNNGNnOer1rTmUDj54wwtDI+F4nzI7Q89k+SwlahFijmGrGxWJGybsr2YjdcHuodJQdkF0ysE
m5ssXxbYQ116jNdcoExroWCQVhW6OlNSv+7ES4ld3I0WnncZ/pnFw580ehmkM2c5tKO7MByvv4Gs
PNCaqb1wLDPQSJE6dH76asHVCIkxv3Ph0QUGKq/dRPzWJh9WdaGWGUfsZtVlacX935xjq9b2nwSD
9xOUcpZzXxhIPH13PWG/O0G9uhohlywEjA0l4nOd+X5grWoeXIjuVmtdsu0ag5XYItUhJzz+wsod
Kjy2NQicUXPyR2xUdVcT55u1d/lIghXhujz5mNpXF+Eu0SE3dHBJ0MQOOPOqgzlNHeqomQdDpV+1
cC4PZB4h3nPRaykmZmVb3vFzaGGMTerX7/dH6fGf3+56qn/3djO7KEzGFMZBE11037X4RmeM6TQU
9F+/fikYsH/+ZF3dNuhubRsJ+I8vZYzYMBQ+oUPau99oRghUFfZHi8nwthXy5dcvZq2V2Z++x+9e
bVV7f/fGtDQqB9in5gHh3S2QAOvZKmHQZWP8xUiJomqcXN1ipkyuPGUuB6WhhDPRoiLDjNXZz/pD
xjeJ2kft4ZdNO4hMau22rQC3RgnHmK+QSQDbTJWJrTnX1a2eJdVG5vSsBfLSrYkiatNZ2vW0HtTN
emTbnN2/fp9/9f0hGBcGcU0uRe9PwA1Ds2mG8tUN5Nc0jKVzKDMsaWki/uaFjPVv+vkD/f6VfiqF
czVVic5a5DDEPbznyCdxoxuw0JgsCnPnk2OSPDgJm/3FWilId6y3v36vPwr0369VKn7DES50Xr7a
n2TyeckmR+McOTiNIJfBifSgtOjnyZLQbtNBQ/LRN/Dsfv2qf/XGf3jZn2pqE7lCi/jSAvsADNFr
xRc3Z0c7tgD501bXrqp5ujBSgS+3VjnuqPK/eeN/+SPwJSNoNDzfI0T3x4uZmd6EMDA1wD8xq+s4
ElmU0No7cEqVIEFMOjfCY5ObWc5HnvrN770tLWf8tb79c1vxF7eu//3r//SUWGMDQHvE9kEV/Uer
S6eLYp9+VTYON7EWX//6E187hZ+uNN6pzhQXs4jgnz++22RMtVbVnn5gSZddGyNiNoisKvz1q/zF
nfPDq/z0njpLt4ZC1PahVKShjbxBQttshDeO/Juv769eaX0rYAMF3eqfHnzS76tlcfTDEkFYHz3j
GVXccR1i/Pod/eVl8v0L/fTMo//oVVS0NncnedvpCOvfdO09IC0SG9j+P+Qxxg3MuZTHzVooo2yR
57/5If7cB9pkSpncojrMIXr3H7+9KJnGBiyAdYDLIw/L2A6P0rSNYwon4SCt6amWfr6NhxgTxjBT
vsVJgxKu0Dduqb0hFM1DWWurlKLrqlMel88OrpZbI12Zlqhzf/3jWn++2GydlCl2ePr6E4ufLgMW
QHlUos85EM56qmbBEjVhW1svhR442nKefGcKZa8f+i6ZNjGryg1NqLZLp5zyXUCCRXhkbaFCEiNV
RSFRO1jh6Wk6je0BTcQ3Kcf4qDclJRwx2YaLhCglXhhBDDAvqaUqlEtNbYVKmojGr2aKZnAemzLQ
ncG+7rru9xLn/wemPc7y63/+z7cvJbLitFNt+ll9P3Uig083wM1/d4Fs39Tb//gdnH95K/nD/ws8
xNvn5K34Ky/bP/+C3ydXvrs600yfYRMHMAgtLvXfJ1e+8RsIehus1p9GV2C6eI7zu01TJ/7P5B79
x+jK+Q3eirdeitTAluP+W242a7XMffcYdT0d0aQrHBt7Bw8e9+cbEbcJKfFmMhzblNhV9vtdfuN2
okfIgd8eOd3UF9mBAFeJyEOubEUUoH2zrd3EPGqenYWOAbCH3aBwzoaeM4YeJrJGqWm6FG6WpDuP
2Ze2oVa28dVSO/4O47Wph+2oW/GlFqJMOTRn+eoU+ho+ZKRINpbKiNEwMinwQh4g7odujO2doVwa
Lk8OoT6PkFQQvX+Sy5znYdTYRDVpZJsDeoUNtgLA/PHON/osPUw1GJLAnHSoTM1EMA9ZRXjZSSEa
vFvLbOhFbCmhH82C/MJKZ6rO7B0ZT94gn0KoMYImbLSGiRU+Uv1bkuo1Ot7Y89lQIUK8r0j+LfY+
jOOXxsYXAlI4mj9bjqZuZYaXqpvKqg/widNXW609vLHino7CwyuAzMZJX6HVd3BfkE8wddb1O/Sn
a76T6ay5PdXGqrAGsqGtTAAu2IIeEUHOL8YYe2rDPgL+tanX6YFpaJ8F1tLiLUcPWopQdq51Nktj
PI/Top2sEi4i2Kt0uVi4D4wHs60tmjgbe+2OstPynyEoNce5YRAJ2JzGE9tLbDb7eTKwXOHs5YY6
Nl0n9BtYQaNEGLMgONllhcvYooNXX2xU22bQFqR8MTv46N08rB9WcmQ0W8HeARbMX2OfLN9uDl7u
wcM1pgl0PU5wglJj1yNqF4f2GJAZ0myNCImzjZYRQZX+LZubOazynPj3zoyYkGK90ySEkLYxTOZS
JEwO4MEu+HKSDUFfgkwqW+3S3Jix4cHq4WBzRuLM/d59GPzpyGzGkAEmLAYBRV+GdhY9dJkXX5D6
PZsS41ruVNct10fg+eKLgXm+Qmgz4ozeoz1BGNn57OQrdCrWoqpzbFrVlbOq7vCiaUdnGvIgs7Ci
Fcx29rglqXxriRemuU6wZyGGsfE4Rd6ZjohizabAANLQXJMn7/Kt2skXe+iKPSkO5XMKrfsyWKTy
EmqbBTEck43mJ0gEweHf5ChuECj29b3LKvdCFi7pOLlAoYnFIAMxo0dPcTE9oDiiHlN5fJwhLTME
ctsr6ZBunvp1tHUnWDp2TdKhkVkPTQ36N67iISDrJto5ERhkG9z/xrDheA6k2aaG6s8NbCfIL4mO
PmYW/WORyNtBtvsBQAnRwQJRTAuI4yZKiEQSy6yQLKYWyyMIlcLcD00bYBZge8u+i8CDB9LMvvY9
kdWjoTbE1uDqUUqRRda5N6w/45fY0/ptsgbaILGuXmwEzDyMrEeQawGuM41JU/SlMBj0YBS/1VDY
f22zlCu9lieJOguL5xqX5TOXa3F8uZU69SVTuWbU+OalVQYaeHTyjFk5L4QQbuJItAA2GE1bqXJ3
GPS66yxBNQQ1rQhKsyZ3zXXTDYk3y4vGz73LsmgJk8LGrGpl49lLcpOkSA1rHnFgDtvrqwL2QeDD
sNiZY+uGEPvsMEdecdeytwsNF6e9dMrlghiutxlvTaQxGxHcAGacPeA+JhOBbaOYQkPIvluPzPkD
0ln2cYiKLiDiZAiKLA/9RIjPqmm/yQaLqA4w9WpyImuXIC8IlWETN5dDjRJMxlBddgSNFFb+qZZV
tWM5j/sXkll1a4My3RYDYweuBJ6EZLt2oZgb73n0kbHIfGCh/d2p+lcNhVi7pn8W+ZxOQtdR2QuG
AabtYq39sUysYdglWaInR89ElbeNjLF0kGbW801HVvrTWLM2lshW8+1oNQAmKiqsR+QKMwPzAi5W
TAF7PdejAa9IieWg4djQN+367QcEG3JMjfrIACdxI5RsuF7wZFSekRxFX3rjzWQX+G7rfBk/dI4F
pJ/dJHvY3HcGcZLp4p2Xpc9vkbDziGpk1EEwtyxGoKaCjGOZOE1F4jyT0FYHsMtnssldTaDhYAA6
EujljGcfG8pxHN153/N8P2FennaION/ZEtNBTK5/5c/DSDIH3DOrwC8R+5H6QF0utw4zrk3LNoKf
EZd0oKhDNgap4Dt34txSXg3wCkpY4Ix02wfPaTXIQ4MxDsXexWOebrDtEYOqz6K8dtFChj6mlw3L
Xe0rBLb5quuwhhVxvaq78Pve57kjESIqcVPOnXULZDx+aMY5ZOid7xC8C4RAC7ntQ2bUGIxKEXg9
saxCOeK50qS1RUmDbqto5A4kPahJfaau1RO1s2LvIRFeFXTiY5XNJ5Tyb7VCsppIggg63b5IhHQk
ffiIZa9rIyH4EKHFltCv7j7Rc+xENR8c9UZQ9fpKvh1t7cCMOH0zGgF9iuUE4t7hSmkVkilMiElU
kqytW87tkCYH147EkWMlD3TlFB9axOoRiGuLeAW3d3CJyA4IGcrhjV+21QuStW6rm/IT5kcRtK3t
g6H3q4PBtXkDNtx4SGPx2a3t6b5OuPMsRr+XToku3mle0mmBt4hoOXq9YbMJHKDgfSE4VL6ArAG1
5eWgXfc+otaLXORg8lAWYnr2l8lYDSG6fJtR2r/C6bOXBxKxcJ3M0m0IV8YB/AqtM7l4UlmXNKmc
T2MWuZtcDr0VxiwjPg1JzsK8dIYxqAwFF1tjRuUmgOuAyjkPlqWpz9BBfNZvfvlgVlOfhG6cL3vB
piwoml6c2Ui2557A0yEgVS7+KKDr3Ou2ss9FxvOmaUbOeaTfW8dmceY4mvfY5Ix8sKM7b1S1uctx
Au/mMOpNcZWOjNz5NumoUO5o+f1YNeMYeAj+0lBv83T1J5SK/EMKji7kYSebXY6uZxvzxJJwsJe+
CdakwEupYp+P08w49tElhQaTV3ThWfnM0WJ/henVHyi9FOsKa6WxSYAn0EyIsJm8vjrI2V94+nmp
N4VjDxLAERligzm3LqTqDPdx5mMVgtb1mBLbumvaKL7HY0TJY8FBe+DHyB+NBWGf16QcTYtdYL3z
RuAzjU2ijfA69zrJC5KXWr8RoRPVXWi25ussK1LiXYOJOXbd7LUACvWCHfnbIHsNILsxDJD1qx0M
II6uUWRocPN5+shyp8UvOvUNjSTGvLdOT4YHnOr2SzQBuecbHbCQx4j7U8IYh+UweKX1cckbHcFk
RralSrP71Ij8N9k106NhT9V1Bsaa7KPKRGVKFc4QDw5KEdr66u5CRdaTkrs4n3v82gep9aoJLTKP
p1D0ec+5WmN3CSD5QFgDrXMZdYmApgIP7W/MKspPGojTs92741ZnA/hFL0Gmcc913jNLKPzKmW9q
1qkmgI9Ow9TjF7MfZxYhckpL+uCWTB7FYfHqtW35IEaSO8aI3SSRM3HgoRDUtp0dVX4gIEDh2BoI
aOSh1/Vb3ANTsa0j8jTRM43mR+ViEzlM9ph8wmHMIqnEQHqWcKw2DbIRhL25S+iCR42tG1BjT/PE
42Vnjcr9EifKuI4I9rkiB6PN96gclw+k45iAHBXLF+CA2hOSzeQWNaj3qZ4M9TAYtFBw97W1ecqn
gosg5iYsGQBzyzdcI0hoK+d6GSRzEEKv6X+mEieiUnFZbDzbjm+V8JdHpafazZxNPOxdPbF5iqMe
/KZ6Ap82XWkiIe1Q1V1g3Dq0C4U1nJul6l+XxLI+xRr8xB2XfPOVFVR+BDwU5WBKm/ilmtLY3+WJ
G0PXse1vZjqQDVli7gxLlVbGtkHnFUZsXwYcSHnzwWCIPMKNBX1eaKjUNhyiEF6hXAE70ropZ6Wx
qFPXZv5NRpLhPZ9PdRmVQdXpdO1r2YwGRCarYrRP8SLZiTbyFSuLAlTuKei3GFpEaMTjdGxtbdzD
LchQaAvQWkHm1lyPmZzqGza06Q0qqfjQaBaZSlj9rEML8r4LsCEQHmxluTLhW9puva1aBd+9StE8
gCZ7Mpi/fKKPQYaXTSnZKE01OzOXAoDUdp5gDKXKn27ndnwxdf1h0FTziL2LjTy5A/UN7CS9vh3y
KTkMiyneHNBS/Ke5UJc0NqdjgxcrlJOJBqqxum9TrHvlVhtr76HWCd9eCPP6MI8FJxEQo+TICidZ
U4i95BSjD4F6X0ntHNeshnc9QtJjAuExMIipfmoHx7yaK4vgYDIa9Yz5HVPvTQx/74LaoL1xvYm5
O8qTeyclyw7uVXd0weS+ErE3PbSUW0TGoTA+0io58c6YLPAe1JvtTjVzuV16rs7AZGXh3jQonbmB
mJwECyDnPXJg622Yq/aIZ6G+6EYObs93ISrZrQ2BmG6JCizp2lXL2ZBmp7WINdJCjJ8R/qkvsSw0
vEGZR/hTitWbipXnxBvt7IDdpVJuYAo4TEOl4VWcxOhSFmXzh3jMCoyyiwZw0PdlRi8tk5Et1JBT
/jbc2IRCsshElO41R9JC1aMtiszY2hHmCXiyFnKMWBsxvRl2c/Y0TNEFaGNW8/30ImvcZTelVjpc
w+363JQpwSEkvfI8auBUlbdsbagCBjrhdD819kx94dbLaoeUpBolZh1aEH25mAsfemej4s9Lu1gn
zJO5HnrNtECPgcQMBbP12lOXFQ2WNgKI56sRX1l89Fy/TcKIQNqP0qds00GBP02N33wV+QhNUPOr
ZyHy5IMPN2LeDKY+7kddW4natoIgM/XHuUITR6Z6/y03VqMf5F/MD2lZFVPQdN5AOEvU7ZByanuO
JBxG+Uwfp9OMlaZLmx8zTAH574rPpHt2xG74UjwuyOfDyqSJjH3nyk1JdYWQYIVV5y8PoBj1S8F0
ZktwVb3xI7wZIGGz+r5z/OhzvUgIcaJtHgod+x1gGCA2gDE1+kVlpfcLQ6ldh2fo2fa14VIgEHms
pVsdaR27jGq21vF9jt7Wr2R07grs5gM3/OOsKP1brZgPrJbTAAV+9a323AoXUyseueyphDP7ykg7
6zgZkUKnPdgnqAMkwyzGdEhwLR2xhFabUlmwjHCYdK54oCZv70Z3ak5ZHNvXCalHB/z9zqvON/eJ
4GzW9oMudkNqt9toMfJr2VfpbQc5gzEVqAAMKvFmNJkzdJEZf/Ps5CmatIK4EBmWbWHtqe1GQNYA
PGZLtNdKqld/WKp9k3fj3kfMutI58q2H2J8dmUf6h/LPVSLHo+jSz4brRuu0Ig+tNoObaAnqAbO/
MpMoPbCTLE6RlyHEqBIM2cZUfMyIkTsvNrZ2GJMtP2TRHercVgcFCHarKYQDvJ9u56Y2Aev+HkSC
/+/txtYujtABXQcPBqTPMN4jOb/fsvL4rUYeJEdzSE3KzrVK83DQIGCt7DEQXEJzQJ4BwbNIE3Zo
9N3jWFrR9Hc/iPXjimr9SVzHIPmT2Sr/sLyfFqEt+eYTTIzpOLfOPhs69Qn0zLjcycH2uxsP07xz
m+u5a4VEl433w4xLAWt5powQTAbibHv4ME7sB54HcqbiXZn5zM8sMjSbN0csMAftThPPwECLW9+P
+OQdq3jxGtbk+DIZyJXjAD6mmqoqMOkanxl/IFrAZvhgDqP2uU3wwOW9Fz+h/e5X4WCcvqgUBgWP
OMzOespQAELoMwgGLpQ0me5QJWXelkmsH86Lnp/sRLVba64tCgkrvhlrcq2U16p71y3nE64d69wX
McdhJYqdNRUvplXrd+jUr9zRQLi/Di3ddXwp3yeZw6R4Qmo46ZOQkStBR+9jz/h9BOpiGfwm3wej
pt24X/AGereTyNv7JV6MZwfJF6kFOVX+plgL9kmJ3tzGsZey3i/g+ScW12nxXt0b75W+/171o06i
A0iHfP4sqpZnpz54N9Br6RMwgluHCIUXGvTGN/fWezvBNMl5Sxd4kAK4+FGLzKdYzP1RTm2M6IkP
PgdptNEynIAbbe1Zhvf2xVs7mXLtaZy1u8H6u+zZTakkJBYRF049+5vMGOmI1t7IW7skcsbTbStL
6LBNy4xynYgGPE20T0iMabIICUKzt3Ze/tqDmWs3NmuMtxsdSGvALId2TfqJuTw4ostfyS2Ubwg+
QEtWs7Im1n4NH5KoC3FRC/3lfkQ/BSwUqNwLQTRO9UVLHPL3Ekjy35TV183tr8cu5vvQ/4exi4s8
FmmLMNlPGJD2fhy79Kt23Uo4TlJqrbPUpvi6BrUPH5GUl2ol2zZeW45wQ+oonNr6BhxQBMmlTuHi
OON0BfKiYZq2aCtfUkODX5X5eE/XU1dbmznpS1sO0M/i1Goe7LGBK2Ii/4nndAwdFzZJEd2MxbjK
YkdjuDa8koimzpqiz8SGWDsQKs7RwedyZ/piYqQPrMFyjAdpJTeVGd36KCuu4yjumQBHO0OPH7jH
LTzeRHKkzCwdzdYHnng6S3HmdT1HNk4poh4aMWwwEBkjZ4d+wHFS3DqAUm+t2hjssLZF/GhgfN/H
w4o6mYguWPVhI7O3Oe8uPFyaWw/pPsYgj2mVYLbMUtq2fGjDU5FfLY1eNgEaLihxLJCrLy6SobVg
7ikkhbo1/QHJW4zXqrayIbBXGpyPwJ2shcKNXhO2Cq8TfNAqGEl32EUqT4AINdCt/ch22VlkCi3p
vBpVBLecDWKT99c602Yus+FLSQokxxdazj2dcEUKXOfP2TYx27LauOgHSeprozuQ4JCzDUSEyo3T
MIoq7X5iMsKkAEf+lIrhqsg8iCN6alwYLS5clRSdReZPpxy62ke/KmTIX6cCQ/Oqe7IMPRg+QjZP
+hxxB8RQMwYEncgk5JDsnL7nSFsENC63Ua+DaaSPGka3Dw3BRYcIQnwS1EPDo2mCAbh0uO7b0rZO
gqdUYLuuCtFlyhBVpXvrJkb2VOldzlMUmxuuNj4ZOMa6DQKYjNTrmYSzvYM/hvvaz6xrWdYPvj/K
3VAwoHDeTyLM7/ado7UxPHEiWhjv6H0EHqtS3i0BhGj45LpEMt73SYaayPSK3vdM+rpyapnqLlj7
1k1U1BVspfyUCJnQqcxPxvvWymd/Zb5vsjoLXHBvji6g/nXTVSHfQtqcjnSfKU/vasvTTb7GTPfS
gwUdMoaALA0dW00zfbF7iM103yYJWGrdtmX1MPYb2U78P52B5ZzTsW+PLViBcByFcWxMkhO2Q2PT
XPcQwsmW97M8O2SeA0V6ZoAhtm1q1CdQYtQTREsy053W8S7ir5fGk8LbqJj8hvQFTQs3iJmxGXLT
K6xIy3EafHcnjbpff+puJ9iUnqaEFVGn1eIg87l7+/WD6kfJBKe5a1BY8JCywTYblr3uNr+rK3Qm
84DHqSv8WFxiH4tsey2Hu/cX+bcW4f+9jCniCPjff/xAZv2vH3/Z/f5r9DTrUvmHX8B+A7h2139t
5/uv+EzVf/3H78qb9Xf+d//jH2vqx7/dcZvYISiO/rUf4/IWvxVv1ZefduN//Lk/VtviN3PVG2Gi
QMrhCIcv4I/V9hr1bjo2EW66L6hVWHr/w5bh/Ea7ijrpL3KmxG+GT640iVHWqt9i7f2PD+GPbQGf
37+UI5n+j6qNtdqDeUnJ4Ztw79mU80N8f30sXmfqA2XXcU7RslbuWwySDah0W14Se46u06IXW/B8
iE1yZyvyXtuTN1K8TTBjzpnXGdCWvX0msIRRf99ySxE5UXlPsV3626L1XUbKqUvzAXd1zO3hbuDm
p/i32N3KvnjoklwLMr8F4Z7Yr5Sbgdk557ljwgSlK0xcpH9qiO56DeE1+4xQzyMQjFn0NCWRt6PF
L5C7iOsSS/abi8VgP8C56mq2wLjLlzPg/xL4pyJNoMB+OiDmZdw+7sZuwMOR4aqwPRZYrDWtbYMU
lumTCz6o1Sj0cRAk9oFv8MuIEHiUJb4oitzOvE9LyGWtjAPWIUFfm99wnU9XWhIhGcTwv+zNpH1I
+WxvUBLWuwHWy55nwNOElRhP53Uv+DB9Ja3rbOYtp1Z+sSu1bzRGoqQrnS3Rd4Gn1+U+nbDHmvNy
iT6Q6UDH1OA9A0t5ZRtJQdGkGMDOW0bOIUTRGRpfExhe9U3ZuBV80PGGZYC3IZBizh4bPz4msjS3
JNpC75FESdkGtd+SHbS5vwOnNYT0ntNTny7iaJFVIpGkbzEs0rqzsiBJmVBOXP0P+HPvE2v4RNy9
y+zULnbTtELW6tK+EXRdm4JzGa81G+E51rK9B4cvKFjmH022LI9WWd9beWNjWrPsfgsTd34g5Ivk
A1Jl5F5pWXwzObhrxJOlZ2q/ZE51O7aaRvrIcI51+ybJUNjnznNczJyqABRUP9n7bGyxzndHUBMA
TePnMR7bE+P1WcwpX1V3AQ/6La8eKLZxX7BLOwiY3MFckopO+4IHOtBXuhlROVoQTQTKSLO5zINO
QCQVzExwAkHIu7qZj1OnP0XlBwpTDPdJqW1xY/Pa2bGB99gWUn8yU4pebyamCHMSsPgqIRaSnZax
J5FwUwnjzWZ2d1oM/xt1wdnKl42tlwi9m1tLeezCsi0j3vsWKsnrwPAPElpNojQQhQffqXZVFDHS
NmdXBFbZajeMLsUtY0MW+T5L3cryBO1J058UTYMKOmDotwWm7itssTDj7NZ7Y+KQ4NOo4pOGb+tI
sG9/LHCCPmdWzN4C13R6nZh4dAh2ag+z28aPnUuLwqXaET9A4hElHRyMZqxvE6AeRxf+w8d8jvB+
o58ICj3PA2o455RgST9Jhq07wxnHnTIMBqjaMp3LwS4fQR1Nj54krjljFP5UtoxfoUS18aaVfvum
osHdNkYyXBiciTNWM3mdD954x+Laughj6aHbtcarkRU9axh2XECcnBML9/zYJr64IbY4+WpBBbSZ
/c7tF1migGUdyKdOYZueM+mTvBsV6lREhNhSSQ36redN+v1oDc3FiEzjuiT482nmyzo3PiMJLhX3
mvx0/bq0a9VRUKSg1ksJhaswIarzBtEzc5ZlBca3w3enzF/sfC19fSr/s/nwoABi87NcTgHPEb5r
/KSkzXPl1la3MA6L4+Ii7bYejlk3dBecEtW2j3CXYIwn3tZkG4buE7MIaw0qbEYqtuqfnKHTdoVF
OPvgEtZAnwhIGiqtvoN80AUMzGNWZ30EzrOOxa1T6dlJ6eXFjRwSBxp/uZWOgfM58or/zd55bLlu
ZFn0i6AVAAJuSoCezGR6M8FKC+89vr43nqRuvVfVqq5ZD0ojLSkdyUBE3HvP2ec8BdTbrKQHgxYi
fU0sNg33cUjWxFCEk3Ff12G46rohu8atg29hmDr/vhwGLFgOw/HZbayZIJww5wevNGT+DGOZO2zz
OQRE2ER+P25hT4XxGnJq8cIQrIKC2+MuN2Y1f9BR1bzAoDk0KdZdRbNvO2tJYG5zd9JNr0SK6Fat
hdJNpCa1AM5ZUP+7KUM3gdnklqj1Ewi1O7+2bHLlBKF8IygEzCnoenywlSqEXV3hBmsN8YSFIjs2
s+yPfl2crIjHPyJdcIO6ZDOQ4ePG4M7XGdS+VTWYwUfYGwPjtkFuFPrSkLRNgxBuSMEVDcPNEuFz
W86w1MhMza66ebAWiRRLabZYVbMwxQlhlXUit7U5RYbinDtDhA+hILsjiMzqKjEccVuopiCSQddU
14n69shnPZ5oVEfnQdAZo9vEereHsPnEJdLLlW7p4VeWFrk71v64qZcnZVqeGXt5erTlOcJxrL6A
F2V644/6VcII46asIlgTIud8DpuezhRHZQ6T+41mOG3szpGMTZYn2FmeZcwo471vJfk9lN3xjO4v
2Je9PmxgNZqbaNkRpnkwjyVEabcnXI51UNl39CfT12jZTeZlXyG4vHDlstcYy67TLvvPvOxE0bIn
AfgR+8RWo1MemGxZY1tnT7U9Y09IMmcP3CQ4pm2Hd6c17bc41aYjfvTyIJivXiANsDE6fPWRC4j5
YTJT2I6x2cJRiMwLX61cd1VgwiyYwKBEJnTfqZuAGAi/tsdVMzvcUIgy4mXbTkLfXTOseKBo9iGo
gwAwyQAHGjXtMhlm/VVuxbYrjMoAn0ny/Oxpzmg4OxQmCF3yuQnKJ82xMHVqRlLikc9xyu+KoO6D
k5YKvFMFOAAol61NALCe5rCW6ioijEIEiioJpYWj7TnTWAXrbDbApDERJ6u6loSO8BjExdauWv1a
h3N+toPRuBkVS92kjo5nJpbqbYMJKEEa52diW5lg2NfYvihifRIvEHiU/rvem0AwbIf2y6q25lBZ
d1nKDahnkECoKNvm85ymEcCnMFfZW6Y4dlhiaqWear3VyCuqeF/yCpwStJ85joe1aKYSLUi+a5Dd
U5m3D21/MkGdE4AlzhaAoLMEM7bSWsWng036R1JHvissEAkqvkZ6PsHoAbTFOCitYSX6+LVMnGEz
xcOHmsPrB9qPLA3qjc9M5oowIc1lsvYeWe9IgpwDoZCIe6xJ8/qWY0CHNgmJRGzBZtwg4LqNCwtE
cWpfVH/wsVZaZIpk9Nu6SlrHlpzgHX2dzI0i/eDbyi3DX868SNVPCuf/WszlR9rAPuMzYhQ3lfqq
DocLx/nDrJbRt8FodQ/UsYcJWMxHusDDakSy86jaYvJitZq+4SqxBrugABze1K2IMcpFVvC7jujf
KuH+eXH2k53+/1blbb+KRQXc/FzY/f+s80xNRTn8vxd5x7c6p7pM3n6q8n7/rt9LPMv+bTEj2MIx
qeXoBHJa/17iWZIwDuISETQLCi0yOf67xFNt5MtUcgLbLQMJa5Ft/SFfVtE8U4gRM6yp6JpVhNa/
lHR/V+L97CKwpGlg8WEWqJsOP0m3f5Hlm40Bz7R1ALU1xm7Kp2uG2d+UCJsed43itzd9kXxXEqvd
X96lf3JJsa1fSkuJQnwxfbJSTQPsyQ9Z9V9aD2AOEUHQf0DE4dRfdN8ILpKSHQzCIvc/TTDaRXIh
6Z1DM5xvceaM6T7tw/kqUpvyG/n3NLpMOkbKl8S2n4nWKI6xJjXO1miS5IMFhIyv2ELsi0yrsVl1
kA83uuHTuq/1YjsjMj0oWDU2QCpLciyoSJAfBmLFbf16COBGo+T4iAVdpC6xN8ukwm2VsF9ZVU6q
RYYDniRSU9HEsQ1HAeqljm/1USWafhzJ2lILRb2kgZoAI8fRCNk3Hq50O74PaNLPeGTHZkuyZXaD
HQKOcHyK9bg5JyVvxejMKk0xGmTcIJKIbx6mKEHqAIYeVbR8aK0GdWrTqQHDPac+GTlaMTVC6IEq
jd2PqpAhcLuggVJG5NGgOrcmcyLQoSEzxLTYgjHqbiY2NM+Hgf+MOFHH7YVMABJqoheu3iM8G5Sm
/fZHzqIVzPka7VzcOp9tiXZ4PQ2mwrjcERSuc8O/aqwxz6eHfNsUlZ+SizUlhH5oAW75LJmGrS2Y
y9PwGI5A2fKThjjQ1RXDvEKaIq8F44dwrSWTcaEja7mmbMQpakbQcOWYX8ZgACkyIxzJV3NltQS6
ZQAgytLPt4XsxlMf2+2G5KjcjRFMbOKonY/52JcPFVhpgr7Khma6pRvFo0aSgceZYSvgRekxoxzs
neKC3gVWUiiTDPb5hMeHATr+ENmUDte+oqPaBwBVwmsnGDZLNUGwrG8F6GrJC22p9FJ7uubryHfR
hlz9MhTLELCw+nzdG61DFTSQNSIYVBvQUU0SPUiG2XdNv0jTycDpaYsLEJqN0PStDJfLTBGUxqMx
9RYi5Hgyfc/siTrzyaW0V9ytYmR6XIb3ftZYiAFpEZ+7LmxfK8RHZ7AQ4jkQVDc+Sp0P3pnotkly
59pKjJwr5pRO+TqSXfiMNJo4sKiLAq53ObMyUwBsM7WO3zJrIX44n3Q4d0ot+TqUsjlARzNH15d9
iuOpZ1bjwYqd1lo0ajg40+lOK2b9NldtiG+DqrUzVTytewCIOL0rTklOu2Aob3pfdV5h7oZPdcS7
t5Z2XZydNE1U7hGB+dgvaDCr69RxDdxvfCMstXkYApJh0ULV5luFBZ1ZkKUknspQAMBbGteMTbhT
fClNpN6FbZk99kbs35ijbj3nhCr0pAmnC5J/0MV94MPPXUncSTTcyWS+K8xKIrjvzGGFIApGkR/T
ivUAUJOAE4V2S+JCnSpgMkYLmn4IdXEd4kjbUoGitwmZ2q36FlMd8rm+34Z4km/roa8QLgRA0GfA
eeqKCEV2kcTKgmFFhDJapHJquA4mdvIIQA51BqKYGGMU0TofAmWc8ExDz3ZzBbKSiT4jCnZCzUJm
tIASzS5DlUquXHxRsjS80BoH0F/TVkwoUtThJips/ZGPlM44+hSTeWxpopIw67ug00NPlnKA1Glk
N6m6xP+UpMsinB6rZ72h8GQz44I9MJ1+ZTPnE7XLHLxsY6m54Uo7UxyXeouiJRhLyIkkDo4IbcUA
MKsd+UthsBy6wMQ+wF/ooL5ByJu7ve8bBXDUuUfQZA6Pqahjbn0yjRuiRh0N4gRMkpeobXpgVp3B
9F+oSi4pEEV8RuTWXRTDLh/saTQyxIu9Za99puHPQzaXn1UwE6CGE5ktPUKljmaWjsHslmk4Q9Kw
6ynYq+g+gZ8g1rvKGMmFl0IEQ7iWJmyMojeDcNsAf+UOqHTUL1On8nTVRRaZHqm0ytvgLwT1KfDr
hrFD7pNF0pTgg8E1b6RexeQ3lHNQrJBn4VJg4dS9VxXJuITkoI1HwQCiovILpqrmZDR8CQyecEWc
bXeqsaHyLfZ8cOK+dEvYwmdWUv1qQU8+K0ltPXZxnR16lDvHORZsxKIx050JyLSGY9tNTxmxtZ3L
oHi4km1ig8RO2KlnLMSAzUDcVSuIaBbYYdO8YziFeYEZAb3XUiTAvzur/p4IEL6pTSRCbgTBYN0L
Z7iymSdueKGkWgZF9pRTgRyCxC4i9GQcOwS+Bgmt2PmYaSQaKMznjhaP3lrnL3+bgdWQQg1qwxLG
RDCNqb3jC0ivJL4TkH+DD0gh0ZeOsEZdK3Z+AJ1hGef7b4QhWNWqM9tkOhXmRD0FRjd8EjpUf2z0
5Fa59ogI1S1VXhuxSdOzDjL9nu23vMDGN7cB8pmXgvP5ZMKaoPtGL+YFSpBDAlADvRMxtbkQU2Pm
mvQDVfoNzTLtYtop6tehY74oAVRe+aOvXQQWry99GpCq+tH8YPAgfeCP9qXbCjOix5RuNRlRvdhF
6xPdnrb15xz1QenCJ6Ur5ziKQRuyMbWbiD7cXUFq774jajI9VX1vvRhdGH7PeCZDegoVaX9qCtAa
yVc4k2sJthFd+TzKnvz3wLefJ7U03zhdoht0G+HItlVm6rjSupoJaNGWCuzvqkmsa1ClReXS/5Xj
nrxnI3YV/FTMpWnkI2BreAgmxKuNEr9VmuNfFX3x1GfgJXN6AV6ILB0tVDOFGy4GNGdIDrD64xRK
846yLByg4BKei/pPxgtNBol9xjsBkRj7Gvo7cO2ZZn9UWqsf89C06X5apMC4fuE0aA8V89RJ9QVF
ZfWQjLp8t5FQpzs8A0WwdrQmgvlLygMzhM5qv21TiRFHoEnvYFgY9q3QzcDfdMD/JxTggd94TOBj
nk69Q+k4DHrNoumXLr0gjYmcp44UrGOHGuppaCtWVAY6gosQVHpXEoCzq1MBwc+e4aOuOODV7zoB
CMk+nRJsUedY4pROjsSaRo2GPDbrEZRMAXQ+pMj6Ce3pdIiqSHlHC9nZaLgkvaKktoVbGkn7qhPv
MDFbiJTXAO616erNFAMm19kFHFJYmKHPinqX26WUu6AnmYGDah4eMGoLDmMFf+B+8nV0wSyBATxe
HE/BGbCzfisAodubdDAHaKhzijuo03GlYXqzGGJrtTvScV+6El5dlY6rt6q5MXoZPiHNATJDzx8W
H2nDqyRrCtRtE7onf0TfQWwprYNWVT4mNShfhIEWyWCaLmG+xIitsL/YGalpqBOJ2UQYOJf8MiiC
14gVgfOaRuhlei9WCnMJgh/yXYAAAfAqHKObGHjpeshym1SSOl1bTJ45cnv/MvkGhmGrs+cNqgnQ
0Zr6xErUv4eoAUjVR4w+airxi9XVNa6icUCWgKHudib0oVjT5QrvlEnNzkihef94KB5RLbNdpbqO
cIzM4ekJ62BzTwUdCo/5BqhJ0kSZX6nMNr4dboMfMuxzAkLtJiSxRycEzs2obr51u+lrBINheC/L
qeCIxfJxRnlBBpOmhJjMNFbhKomGHFBZNw3fkYJwtJyr7G6Y2VRIhPFLKNHZhPvJzwMwiH7bjhoB
cfpoewReTwd08PT7KnIRqAM4aUUSQg005KSHHGN5lV5l3OYh1hMlJ8A+pfU6UKEzl+Tr3hbTTHAJ
ulFQkdZMk6nCKzVo9G4KBvg4vaoOT2iam8ohSf2e836K6AhaIbzhwkcOSmrAxE2QgxI8Jh0nZkmF
ujjJgaqGyioqUd55GFB5ay1ZPKhtlm2QfiYmENdSHFFtQpNpQWw1bmA06dMEyak5ZEoXfiVWgAC/
snxuRcwRuSLSrGS2Hgxa8Sg6Pb0fGmF/allQ7IZpGst9F/GMEoFImUf3LH6LidYTG8pY45pwcLSY
upKndIoDZucIcLkeOoD0wZTlto19ZiBJDSW4Sr61JC/+BrUvQhEccY6xqqOZC3aHbsFtZC0umgWC
5pgi/UJZgX3n3sprFPFK+pXPMLoRl9uQe2uVvveqzxhL7QwzUA9mPdDFbXuukGE7OPYhIlj14Nc5
C87nyd9DMqmx/gRlAsZZQvqXBmVeP5bxNtKk2A92AFdWKeJP02rgkOpMLo9UycaNicFJtZk8DVWx
zzRtvhrD5CGczcxrKb7WBaTYnIHbNiqUlhjmQGOYal43PADXkeLb5GG1eDVTwF6FxfWDyUATMrlq
EyTXM4UFma0eUCVk9j1Y50Svo21eqfnNIFHvMh0pvFbl1rjAYGufXzPJ9FTkarQmYyxegUvnckGT
9Fp3UETmRbrrONjcmPtl0CTDhX6weBSEQGGsFLGDjLd5Av9KRlikmbe9aWOgKuNpQ7j1tRUqkLQ0
ozN3uICcPXnJ0ud+omFupdUtPMevoqOqgq0gptiecbqk+VVoF85h7utBQiV1yJxj8/7CNrKtbNF8
l1OYXIKeAKW2z52XQuntAzZs/VmrzODT5gB1Ld6grk4LvgTPbIWG2Q+NNT8xUS5oEYmDH3XStDmS
m/I+o+O20yrfLpFvTyqjy1BhTETmRE/zeWcR0viAryh59Tt8nAh+JuW776y8eWXAmdGmExFE/ty3
xbzFETDY7KTMVNtIBmIfdWX6STJifZrUkJtlj7SVkLlRZUys4rwYNkjzA9w3toNNW6JDVe0KaTDD
SGocgRfZ7ZCi+JSZ3BS8ZDkzSxs2Hqpvm43KhiuceNyRmkP5Y9tp+dNeWlPOvTfCcRUegHIWRU8w
N2C0jDJhUyDiGV2taGTillYHJl5H8YkTZFC/SgOYmCc1FNGe3djO3sEe7OwwKTSBq+chl+hBT80v
O9BTL6KTc2yGZrjChzFbrhAhF9NOjc0PtEkI2vGjRDe0BYpd2+n6LebJPlsHtmBL9G1zIOhiDia3
LBuE6XAeJmMbRT7FOTmjPWhkpN2nri7LXcpQGDeFHdbTplCYl7fTbLfbH+2s//RH/286mL9tkZ7f
8qjs6p8apFBakM/wbX/IYORvlkTfDGcUCKjEiPNnj9TRfnOQxzgkB7BwfqeW/imDMX4zHWQzLG1V
Q+ZloJ35o0eqEVi8AEX5ibpBuYZQ59/okUJJ/Wmgai0tSn4NfVLHMIRq2Esv8y+9Sm7suEiwSO7i
Osp2UPvAk0bOQbacjWUbaAGZneN9gv10S0uEcjWcx4esafFhq9ETvMTqrFT2fBv42Xi0tKG/pedz
o+b0mRJ4+Ct1kLAHxoJzjFEZUZa1/yg1Ozu3ibIn78BxJQ6LY5o0t0oOV5tNIHw3FDQBRh+jg+7T
C6U1RzQEywQLkzm1uGk7porIdWavNMz+njAZ2yXc1l/Nw0QhG8sx9IxqAu4Ex5Fhos/pUybWTslp
Wu+cxhnv0L2Ez1FZfuHkzi0vaAnVxGMUv0Za/I5pWeww/FzFObiYhJTi44DMlFaJJG9dTt8Cbrsn
u7y6woFiAmrxs9s4SKuzg/9+Iu5lNcBZduvIYJZaDypjPtJNkjB67jlCVnFbIrYgNYoX1NBSGwx9
L9Q6fowtB++RWAJBNIahDUuE0KQ2K2/FEH8OlNJ0rn3f1cMJs7wqiFO0G/FKPYRbvvHzfjtpuIBt
RwZ3/TCSgjAod2x96U2fmso2HQw/90rpixtjsNjZJV2BdGmk9DgJ6+VnagMzPm7yCVbyHxP8aBnm
+7QVsf7IDMc9NmqvU1JT26UllAKYyCk0+jFt440/a0nkyrFJfEp3n7tFaCvOsS+a7okmhQ+UtDIb
kukmokyr1iC0MXTmyvR6Y2KyRlnc+27c4FFcSQidH2alj6Aqxxxgu9NY+kpaFTLpPstaBO3K5Fxa
sqXMVYZosXYBNCPRHYbZAQOixmjjG7M+z3hBMN4VxBhgevBR0AR5pnrtAOm8brnpRSXOQgvXzLUh
9Ua9IRPVLlwnbhQGjNJKuVBKFUEAJ9Qw3Ma15eMInvBVHlhh9JVTpAizxwhXu1KUAaNJGWVHqwYw
v24neLZbZocNnzn+zEPbJJTeg1obg4vv+qbpUTIkRDBoxuCDoEjWrWgJJsAxwdXIQrOgX9lCPqeN
dRnjVHhpJMjojupdSErOyqjFOaUTswiNb/tFllTKOwTa60mV01W0yHyy5JwNXXWKA9/TkwJl9NlE
Xs08HoRSSduorWlwSG0wvDabsn0gEv0STbryxXL2iM9YEQVK2y1SvHy0b4TAnl0M4ypji9o4mVZ6
vNRvfb7J2t5rbL5HVcvnjCzBm0aIPeyICM5ZnaSr0CISu4lNxD3Kp4zS5M4pFeJwlOZim0RsTFOD
cgBJfm+QavxDR0UH756SKsTRasUMCnVcfNiNIadnxHZMGNzVrGjcCYQDFv5CeZO0r7hyb7HfhRjP
qTP70lokz6RuV4XuWRhMK1R3egEuIC/OIorNV2cK7rQ0izzSOLvt4Kclj0y8SWRqe6putS4aZOtj
ljPjYjrBqj02J02LsQ769j7MU3/fG9YdW985IOl0pZO7hu3O3rQ4CyjV0o2caNFUpDJlpd1tpSk+
U/xTjGKmr4DkI3oLEABmaW5kY5MD0atfQ2sn7+QOfv/9aIrZ3E/b/aKfweJiQt0RumUzfftFvJ+X
CwM3Up0d0XHkk2Sxho8oxb9Jg5Owg8LkKVEo3cq1QeVzFsUYPQdxgQZr7HuGPxjgQvbJ1uSpM7mF
XkiS6Ba5e1JPrMuIVNZaJcmH1nkyPRZ1rn6AXOF5VuuBOh7RGZ0upIm16U1FV2ursaz7Q6KGXbgN
A3TV+1o12Czwcx2Zovf9xvixmyg/dpbqxy7TLBsOJo9QgRozWRpCggEzak1KwqoTDHnAacS3kJWR
6OGig9peVWxTiyhF88uCiXpAA8fsTilutwGX/6aLALKiqj+BVBmOhsiPGk2Uo+7HMckTGbM4zaG4
p5JyNQIGVj3qmXmR0cRsZyfI2Ma2IpvQc/qWSVURYTsc/S2KJA0qq9V+qTBBMWUi3Kn0MGWtkh6c
b5tE7UaMRoXTueYcTVtCVHlaTBHXrG7iENF/lGqc3BFJpQ5HglYzN40HtEUGfH6oYjX1LvnRCPfz
x3DRJpmLSqlBrhQVdXwEwSovGH9nopD9IH9hU8D0WlnzxiggK+JOpN0G0za+xkpufwb4b9Z0Q2+o
ELSDKUBkFSROqme0krSRf4ze29/H8G1GHmlma+jbkFJc4y5XtlYfyg+bvIutqqTthQa0TyEWBB+U
Mjyt2He718lg9+rtXrv2jU7cRGhYKbfVd5n60FLHJkO/alSAjTNIiGix6Ctp2zQrpi1TjwOnHTk5
OFlR68DwN8e6IoOmgWYIzBDBBpEv06lsjWcmFeOad+4JOgW37STCMwEOYA1doQdYp94Tb1u4STfu
YOHEnHPl1hn1T8pqQl0q5aPS4zxkxKduy7A96BZ1oxqfiG0+Npn/5JN0iSN7j57+PSJiPCicK9HT
W5i6ztiMc/eZhaN6BYn5q5CBc046wiZIGag3gJHtXaG2b5j9mwPhQL3bmEn4OWEyOFAhNjdZQcgy
AKV5FZf4KbIssbd933xwWaQdZeifvVwSGLLadAFL216mRtFRYtaf8WJvQWSrV3nlnAkQmlxw0tqa
dKTJ0y212OjQ4dyqo+nXG/WMOpHcpbxPXajiByp1dKA20tDU3BRl057nEpjwNE/T1pIl7aBRu6sD
fyTLVo32Gg3wE95ok8uHal4FNDpvmLs1FyMP1hhaoj3WwdQN6OURUZFjAYDMqQ0rTUnlV4ORfk0L
uvxO+gB8emIWG9nNhZc1eNZ1UPfM2ozAi/UE/vQwLqbKTpvwtlhklJnjpD1ZDDDLVV9n4pl00fax
aqUoVnkUx984HemHktEeokcLWhArGtP1rVJ3YbAuqjo7+ssZXS+ndfLj4C5/HOLmjwOdXJ0g2tk/
Dvr+x6E//7gALGwPQkF/XAzkj0uCudwXEM+1/1GjfP3wLvyLakvDo4F65H9Xo1y6z+4j/Krr6a/V
1h/f9nupZWu/IfM3pJDkLaArIbjhTzmKAUxP5xkx4DJrv/+fP0ot1aQ+0+DcIdjAXICG4r9LLVX8
tmhayIgAf2cZpNX8O6XWL4UWhy4nLme7BbpsOXx/Ua4apUMwStlV7ELGC1gOtwFbvAqIk3LToc9X
SdWNm8CxTmWuf/zlnfonipRfjK3/8Kt/qfG0WOWWLBY3mUw6BrvAO8h7w3Tjvw8V++bf/zZteSX/
o9G16E/ivdFpORrgmSTkwJ9LytgnALqVOeG+cSIPQeWjNYwtDJ62lmympnwWQRxv+aSrdZp2tMWs
nijyUhDXZnbPPWmhKzkHj9R7l6m1zkY8gs9OjVUriHmswLklBDmiz42Pqg5g/O//eurrf/jzHUe1
cZYvZEYW1C+6IQxvjWVigwL4T9gSM1SmtljSIeL3kjOknQ13KMmiQUkyXhwQgnfgga6JpRZer9mg
BLrqOUHZ6sa2eFFkfgp1uYWQ/R5YTKmJKNi3FYXfOPC1WgbWJbfnma6wTXxZmCPbm6p9UGniXskF
E09orDtgph556StrRtUiCBGKUF2Et9KId8E0vDcJkVSMd3va5KPft1TwyQ0K29sSuYKsPmnwdnBE
V6+wF+etBcPCa/XMOhe1w/EHvmTv2B0RGSHuxYZZq2fYvJgx1x9lrepbDZnLvZmImxxtMEADfjPz
nfTEpHF6i7PW2tJsJ0IebzH3ppTuMzB8awXBsvak2kXXE7aLlUyHaiesJNiQuTx6xgLVg9vhnwAg
YACg3roMyJx3c9YQ2t4U9qsuNItQQaBJZPnmqGzhq66Y6b6OiU+i+xBq76Ux919l14pDrx4HLRxg
yiCjWQkOWEjGSbHBlzQfSGSeV0xAGQ7m6oZ6v/yMovgzCgpzTxebW51WDRssdDdKQ+xHMYUHP0lf
Ijs8VNJ5CHoTmgofjdFM9U6l/+eWMRa4IfNjL82a6oxNdj12xT3t5/xfoIw1NqCfHifbEHJ5hCVL
UsOotBjd/tKhIUBWrcp2UtddSmSIFxkEf7hl1YZLkHtQYlg09HuQ/+NpDjvlNfQNldaujW+WxL/i
ZFv6w6gBDul9cmW7zv4ac3u60yETbRvDb1zTaQSeliJ5aqqug9/ki9/Ljv+0EP/FobbQXunQ/K2V
7hzNRf32U7bR/3zbHy1E/TcsDxpSQo4ii4//Dxsdx52l2Yh7KeN0CjrOzz/7h5LvQJfJP7oA7L7w
r//sH6q/OawmxPG2jcfIMv+t/uE/mMENKZF/6iYLU1VpIP7CTBhRF9C1y/od6nqmdklebgejyuj4
q1d63Th7TAxYT5nXIyP40nyTuHUD6NPfb9o8kj8/JPbyd2icO4ZFtxXh5C+nq+4ESsE8oN+haEp3
LfJuqSebgntudwrDIzDRiizALLrqInZcNCkUGYF/Zp4K0KnW77vKumq03YzFOrrSKQD1eCzdyG4N
Jpa2N5jWsVRLuvzcQaXR3iCH3wJLoWdVmsIT3cMAZ3wyhvXo5+s4ay4jKaJD4h80HbCTYm78Bs5Y
FlwrMcKr2Ejuu0iv10zK3qSVENBrdZgMTQZlCKZrOHr8Io+h8CRx/D43zGP0adwk/rSLA/0CTJ1e
mGTOzxvbABV8Rn+HSKmYxQYW56oYzVNPl2tDELNLenKhFBQ2OqXXE51VUGXxHYXroQnGnaZbBwxa
bpwwsbGqu3E0Xuw2tZh1JVeO5OCQASqlURb2TjeiJ6fIrvAZHMzR+CpCLsvilbSTh6UrE3BY10Z9
a/rqVmuLNQAhb2BnXWkWfwYSYkwENLim9L1I+8+o0k2Iwrj00O18447z9xQAYI5m1GBVAkV4tOZj
C51WwY/lWUFIU1XVQGWYd1ka7Gtx2+QoKVFGeLMc7qoxuKiky+sDtdO9Tt8Uo8AaRRMKrEMV6w+Z
jRVaKCgAm7sqH7/7zF7MbC9zIyHk4fkOh/IZOvdmMqKjVunGJhuh8fjFurWcB5bXKjE2gn0aqQLh
oWPbryfRXwWK/+yX87E39duaNiKyj+5BpcGkqp9Fll01okeHMUKo60iEH0GeAtbT17VG2quPhX9s
wbAgs6TjvsJf+myxNKvQfIA2KVa+ID0dlBwJOplXNDEWCaGss7j9EC15IL4gQABCEByxNYQ410A1
FGfqvcyerLqerxm7JU/9jG8nkTc+HZytPS0IJiKT9lIzPQuJlZU7nlnlO86TZ7PzvxKlOE/zdWk8
NDKbV2pFbrxWihuUd/AbhnlfBvGTVPMBzmzhIZC8zL516kfG5yZuIEO/lhOj5/LMEBbZfohqQE7F
CYTKDrFjgPYgvLSjn66R2+50iX8DRYDhRbmR7OzwQjL5iaxyJH77Jie4xTDLFdvBJYrwYVKBPpVz
u5sJi2Ceu46HHOCmotZ409SaJydJXRw064mIp8aO3qESbqrkAj2XK5t6g6zZUwu5SdG4wtra9cQ9
oIoYVqD1n4j7cKWSblkalidCLcPoh2+uV0VH2KB5VXTqgWxuGBLzA5NNw0Od8wJEjasrHDKTW+E0
0UnKmO5qzVbTRjefbetImNc6qMIPQOwYKcBSSQQjjugGuhXGdYQ1aEyc1zypmIkan0Wi7uOKW56Q
aOm0gqj3NN8ZuRhOeDbiTWExI2RQcItUuHFnX1wHTNDXuXqpud2IRvDO0wENBGGRZXQGcz540FwH
ly4bbUhYoIppXAxADlmKwGjKy3uI3dseRLUbGYhi2GneC8Px5GQ+ZowiTP6DRzNskzZG4k1jcSzC
+sGa62s/b1+6KSvBzmIzKi37keHLnTVgsB2d82i1R6Q7aAfqe9BU1/haXtrUeNVaDcCTfxJT91JN
yRPhmdm2LXkd6PwmpUDxAjHUirTbSSq3js3bk6nVGm/Uoe2A0XbJBJVYFgwOrDreWfawH6DOaqiK
57r81pNsm3fxmx3MyBUnH2hZqJGFypOfV4y21cr+otZ7HBdhDqSjNYDSTaU7QF5l2qxhQiNRVvOd
PTtvGhZghGUO668V29SEAKzFyoMGPGeEk7fmCbviWvZUOfn7ZFnVWmaLQypr3uLE4sEA5oxG4qV3
/EsO5FIZ7JPo26tZE/2qQea6berkzLRmPwfyqwpgO4g6SD2gVKeZt5U5zxnEwqaGMIWeAyzeVGdI
2hRpo/FHZo1Ec63D9OHR27c4QtedVC41RjM2i4AU3lg5UyjnbhREn3VRbmmb3tKQaZa4jZsm7bZk
LCCFIgEMLGdtWmeC0/bFLA9MrtdpfTBDkmgtaDzoLVbAOQ6m8dLpCebfhviyeos/YWUB86wKNiGi
Ujdt6G9LGrtl8Ro2OR1D66mv1f1IJnebyiN5x7uhL6GO5Z7q0Hn6L/bOZMlx5Nq2v3J/ANcARz8l
SIBkBKPvJ7CIzAz0naNxAF//FvLdZ1ZK6ZVM8zvQQKYqMQjC3Y+fs/fa2PJPejZDUs8HFMOPXaz2
tHKOS3bTNcPrAvhOqfLo86Z7pfEGFeGWJvuxWH1uQn6UDTERo318RKC07skCfHLi4VMW4DhSay7Q
qrx63EBsFB+OAjPpi6MqR/KurmcwcMC2MyZw8l5bzQs6W6xvuC0I7bHQb7l39pz+aperhFxQ1CS3
6fxNCt6Nbjugm3G66+b3EDfQLYlNG0vjivotAIfxnYn6Z5pYt6Yz3JiOPGZF8gSN/qDTfmJa4795
2Lfz8XuwDeSEbJ3gWnpb3tjdzCJs3lgiL8gMz275MXkFVIAa/Vy+74v8etTHWzdHSdfYbC9xerHZ
tFZjupd9A51pvhn9PFhasuDt6qNKthujZn35bnczjeLYzMsFYAtamtxk/mEcK7MPlDF+juv4lgKs
Yd5yLIz8xyrrL5ACV6l28YDc17MAR4CiwknbS+/QCSwJXMvhKGaPojqbbAqp2ltsy+OK7xdx4TAe
hrmKlHlZc++kRHmr+9kvmr4495IM3B7nZwOQboYXTURHWuiXJnGBePrddWIV97J2ArU6D2MFTgk9
TFYN7+ml5rrZP+cWYe6dFrZ9DvK3p/GPhM+cshc3cwE4rfQ7U75Wfueu+3p0o3JWR/iePy3oM2lW
HOeOByjFtVUJeC54bnxYjUlfXln4Fh3XeZGz/CILLT4MloWEbkpf7E6DSl4MazDn8PYMx7pnwGgE
Ttp7O8xPFDYNxL9mMgOlgVvMywCeJN1Iy75jyPAOm5Cpw/jag1XWUMIT9C5fZEGQndrGvfJgb6NA
4g7pojIFeJrgz45svEXsBcjWH3ANVkHcR4thH9AZByK5TMr2A5XO10DEdimiTV99lyj3xux+6Pyz
qvy7eMhuc+Cm2bJ3SmQ9D/Oahk0fcsO/RZeNpE1IOAJpyvmBwEkfH0aOom0ks8tVtHLldcUr/duH
bNTZD7woA+ySFdFggpfPLMypXtjK8XrWq/vJuKtMXqCeGVb2oaHgmUk32zUjnF1G6Wo4OkpcM2VN
dlo3n2cfJZLqnG+foQVrc2mSswJEkcvmGPtcJAD4ZgOZmQtwCu/JUUnoWcNnRv6krvvj3o51yD3U
DyRnvxIHDR+ye+k2GSBDnlFc+eRaZxuY3KIknWPn3FXOo1E9TfYhwc6qyJXfZrCw/Hw26+o50V0t
qKc8O/tudT0SJEpp2a/gCOri0npO9UOzUxIFk7U5AZOV1JDSH95gdzY0nvEvrhmOhKkclu96AALk
57pH5KA5/ZxUUxwspOmRbefcHVYnhok8wiry7PlAtgUD7rpM7z2zcq70LmF2yGZfHTEIFC9IPr1D
aVT+wzqZPEltSD8qquFjSbC0u8s12zgMbdKcc5qaY4BuIz3AsGTBltnJ2DhPLrK+X3yk98Mt1/UL
dqV+rOxliGI9NzCDSDM0cPjceukiz3qdV1e65spH7nvUxxRmyPZk3d93VWE+0S6bA83vOFvyVKFV
6NurZrI2lgEcSVzJnHGrNu/jxfBoXmmkp1dT6YOSarsL9p/kwFkDwxVC7Unz2/4iajc+l3Lsz/7o
opnFLNG/zNLnuQNsugyWawS1WC6NJybqGXwRj403uC+61IHP0SK8yiE2hQmq9ltrXpt38jb9GxRc
3TMXHdaP1yfVl5fTUNQICUeIOKX5rcV87gnnXPrgm/py3yu/vTEU3LrJyudb2fjp1WK9TMjIoGHK
yF+H+SFuDOtZs6xlYsKwiHcbTH84d2R8WgCg7uXkjjcqW3Gqc2B+pHbmQgoZvSsjn+cvBjH1HRnS
w51tDP1tiQjsVCGd5w6JN8dP0HunjTeGBFBAH6Wu3+FJAOAyrcB5oS8EjZVXgB9p8wCMYFcpFnIb
02RrgpbISgwztV9NSJXBzPb0kduluGnn0YTL7BpXRBuA/SajAydOdtfMH3M6klEKlHwayuUWfisn
aVst0yMek2AxMobwVYSqEVNgt/4Aj4p1V/XI59t4eoo159mr11unK96dbINWVqeUUHBrs0BbQ3bU
nPkK19IBzKlzsBlYwf1N9pZGrw64PS3BN6V1J6a6egDa/KeDmN4U+acliwMY7mBKinCoq0NN5cbB
YNkz9ifm2TdeYulRHcvXWTRPorZOme7dlOBTkIwHaW7yF4/Ab26ELl8MA2VIq/Vv6wp7YUmQSMvK
eZqs6TnWDLIroeYggt1laXG9zNopwdbmZcl0ag3cgjYBcMeqnoATr+J28UAvC6skprY++F0KH071
yAQpypl070ZhhZMccIxoYt8ekLjAo98NTX/lpyjifS9Myvq7rfvnv2924F/9h2YHQwRMrTr6CseE
nWno/h9NF5CTVEy2o45O+co1H5TKPM63swKmqkHjxeS/CZOaZL1nf0ofFKm0T0be57cy7lDu9k49
vXmkOny5v5dKsa2aZVs/9raS0m1NFdvqAsjXXRm/V9y29po1KR6VSbrljjHlZdzWqLet1mVbt+W2
guPfi3lOzP48loV2TmLW+rKtem9b//SbsegThHypEGFFalTQxGNMHqc8RlkJhyW+Qw8nQpCbmJi2
XWbd9pskZufRB5ifnaXMJ9de2JeMnvo8SdPhUc+b/lFv+uqKkTR5JascbomLN0N/2+lEbLPnbbuf
s+2D9rYjajRVf4ltl5TLkMEGgk3bdilMg20zHbd9VYPRfKh+b7Zj6avjUnjpR91SZ7T64j9YObSl
lOzAF2CIXBiU2jwvKViHblHpvYV5/Ufsa/Oh6jAhtDmH/O9DoBkLI1LbydBvZ0S8nRbNdm7kmY+u
bDtL5Haq0M9pXoztpNF+Hzr8ms0pAVJygEZYMWjndOq3cyp2y/Q0z801WBdA8dtpRg7NM4JRBqHe
2q8/aRJeQQ/2mWAIo39R29zU+z1CXbJSvC62S1Or2masyp9pni/4eMM2oQFV8G4eRmdCQ1dRwInM
Z0I713h+NzlyyhhCtCK9aWG94cXtwpZL29HRUtTwFjqpT6uyx+ZIDh/GNJ3EhrAnzAOs8/D7E00c
Z4FboWDmnNbcmpepTsnhbZryrqlz59PrhLiqcjaJyFEe91W0LVQKFTENaPgdq/gydYyWZukTFqkL
uwtTkktayW0hGPHZ0vCqHA+1nUtXzW7nA2zuB2yT+lFp1rvc3KD4prlJrNSVK6/vgiqQw2Y++Fr8
lOfdUzmk1UFTudyjEqwYLtTDwePC/otLzKsGY+xijj7UrdZ6JiiCCkgTgLpwrrHDwlqGnF4+eMrR
rj3C3g4c9P0+1ovsySXafecMfX7GZfmUGfmT12XpVd75xRFSSh+MlX5OTGM41FM6g0GcJ4qeoSz2
k+l8ZERpHWF/fC+LRtRut6ZUxcV4EMZyTXo1EvqKf1zxYgS5O73Zo9GcaxudS+3MFj7oRkQ4ZOXe
mPwKmIcVeWkzBmWNtYSUHjukmUpbRZef5SbSgJXP7GQGI2io57aZXxpR1Y8K6+Ot8Mo0ssZxwhwz
Fs116rbpviySJhqWBeqiZhiRmTtt6BG4gDVh6sNJsNbws1u7mGiWnYb1DXNl/6HqyT0tRgE8cK0/
bCxhu8omJah0vSGqfJOAHRz1vFYZKrEKSY40NnxPS1IPkU5doLf0F3EfQFlO/IrSotW5zt+hAvX2
iUnFtKRc+VMvbl6aeOAXXri1xtt9oPenJ/49+5SY+Lt2JvPjZ2K+6yuiTOKTaH19wxNmlyZ2fxpt
Xz0RxbzyFrChaBXRHFP5nZvOUwo+OpiNjGAmwrJv2qbNA+RUgotN+pNAYhsFKzLAouurPVUBSU9L
9rUs4k2VeI3yC8Za3ggBMK5271ajIbO6qL+dfn1YjMahFB7rHcKaEt4u2IMDl47kppdi2ps5m6Oh
c/GYalQXTWPJxwkB2DMj757bq/ED9a2Jnit/dmV5BKXrHzTTU9yMmXXh6kivE9e8WlyF8dVkfc2S
QwJ/f7anIX0zxTZKntFtumM2TM0pxflzxK++vuXedslMzCVcZ7QcOOtcbHP5MK0fcVZUewbhaeCO
pRbARhW37pC3n3m6mCcsYfpVqvz8VA5Wfxs37nA3oV69I65k/orZf64M0bnHeauopq226rYqy9zq
LfW78tpqMKEN7glcvraPf1dn7LjWs7eVbHIr3kae+O+D93/HWP9mjGXiq2Tq9P/XZrz+6of/2v2q
gUL+VZzxP//e/wyx9P9GDYBWVXc3MOdfxBmejcyCERLTLcPcwguRJ/y/OZb73wLZBhWOa/vCRdPx
1zkWSg+D1Drd/T2s/4+iDv9JIUFioi+Q06PRd5mJ/SFZcC0t6UrP8SKZjkXY4d/ZTYnDAsgKoKb1
cvrL4/kXgozfmLK/SiRQmliGIRjd8UTgtv1RweVijk1f94GmFT2FvyjyX4y1Ou7SNbMfIp2YO6xM
l0b+Kdxxy+SBpIXp/LJiTQrUJMznYooh9v+bv4uR4T/Mmre/S4Cq2BQ04JHJj/zHWXMPaClfKi+i
b/MxQO/aG0rz0B3YRzFYZx8sbNSUJnjhrMQyu1xsSYPg7/+ITY3y57MxkV7ounAMU2zeh7/OuwsP
j+ycj17UZnMXkYAVnznrmqe//5R/8YujTfFsxt8+vMNtSPvXT3F5yPiNcy+in3YkQeHVs1wm+lnZ
7jD1qH/zYP/Fd7KB2Zn84hBpeZH+8dOkkIY+Y2aKfE73cPa2vPuxFf/mUzYlwB9PzmdF+NhKdN5h
8cdbJeLC6FD4u5GdVnwNsCS7uhwfpir7TwVFTFyQERskTTFbdpw/PggTLU90e33jjCEV9kDcqpzB
XCTuzLy4+Y9/Kfx9uF18cyMK6X982DxiZnR7C5WJaemo7ZkYpZMo9tXqlDTlnOPff9xvedKfT1EY
wGEB1DrsU3/8VpnhWat0E2x1GumLEnnutXJj/YHEQOfUVOmGFOscMsoU8+Imb0JDr+IvZ2u+qHru
HvLCk5FZV5zMBIwbVJ4dXD/TQ1Zjr+vdINqq3Xtp7XenMa+zwKzIs9nJdkWc2qiOWc2wGvvRzpFb
67lzL6tK3v/9d/xzbA/nwSOw2IEyobMX/9P7uPH6FGhQN0pqklpzW/NO8Dp1SGb2s7bUIfKW/lTL
5BteXnuwRCGeCPHw/s2j/lfvq4/6DpqYq9sIXP5YFfli1dAn/QgZmHWareymBgBMLZM6wd9/4X/+
JF/n4DGRS3hcnv/8TdM2pddDpyxyY5Ki5hE/EZePjx68yeHvP4k385+3Fl8XSCEoFOn7/9///S+C
na4yTI0ZoBtZ/iQOBDJmR8mOfyeooh/IOyv3kLafEjz0hxwBe7Gn9OuC2CH8dFc0tKx9HDARIyVa
RDRfnMcxm+xPG8r5UTn5UAZmNy6Pfj9Y1wMV2VWBpiyqZUrETgtqnKQ7fvygGw2q4sodT7q/eMc2
xV/gy3qJSGTo9lJ24mAykWAOMerwAWwIO3GkBtFBeTPiy5jm9i2sVgbXfdo7h2SaAcUxDrqN9Sr/
3MToJ2vyGW2QZ3NcfGj5cNjdE9o8940QMOsWzGWGoALNuRaTgmZDGjx7uogvRr4QLTMQowHJ4UTH
DAV3ZXArmMf2yRKSaNixbpnh6VwrUng/u3Tp4qBuCHhz62kJayDyx0wf8kdNb7tbT6+Y780u6TqF
nFeJtM7s3nA6xBfJZPMFi1EWEZvq/QBSBKkz1s33Qstfa4Ls8JhqjUMzUeLrleaNW6X7Tt946lqF
psUwW3aARDwYSPh7sjwc70q3zP52nRY84kPnRH1HxBdfBxzGBJMrLmF09tDTy/PUZJCz2KWWa59b
4gjtaqzG/cg4wA1GrcuislPTL0omngl9FYQqhCE0NAlvuiEGMmWbYjx1jdW/Gn09vdAMIvKWWxHX
iFjqPs0u2rkYsvzh2Ssr6zRym6W13mkBvCCLotmp0DzrMS7ShGEOkQsc/eQmw6zY5aUFix2aLO68
xJdh7fF7k6PJ45u03v6MnQIjKr8tm9CECdpqbfs9beFIur6w3s20Y4zp0XW+nUhzwHFLCHoPdkLv
oSET88POaS2S+06l/BfV20P5YoJuxHGr5z86e7sKubHNG+9Dpn6Er4/PvkKBcQACEp8rVP2lYbnf
K9cLQGc445O9PmDIiDxBCtsuL8blWkCzOq/O4DR4btXCEgJwBrXTicRKgQP/RlRfNNEmH2kMWCTf
kt1J+pW7M5NiPE7QYi8OMRTZLkeoTxtRW7FUFKgEvDq+wR+A691ssNjOtcHfmyrJtAFOkkNEoqAV
s9O0bL0WSgLmMLozxF15ldDCfKRHxuw0W8K5ddMnofszFM12CHv+NnoPTRL63eAfUf5V/L4zPDdn
5v0o14I/laGIE7pNYtBZQkAAq/ZXY9jdIRtxrEvoNh9+jMuHApUASrQP3OG0XGBRmcYMrIatIs1z
rH1XYtEpdK+4cHMkAXNeUsxKjHtzbmM7s8+qT+bNORZHhgqeKeOfhUnuJMNYpe4neMSwtfWJzCNT
P+aZVh7UghFLmzmFKUXlj8muhnvh98vRVxqCrx4lbycSI/R0UwOF4ofzRIE4r4Z1FQv8Behi4HaO
OZqK9pzYmXeFyLMbgmpVCN5IxYC3SQjxQhJTJ2G/acUirqQc/M/Mc8xnjNoD2dBc0sF3SMIJoLYc
hW43oCmH7EB4M0vB05JzVhjT3mkpjithk5XW0uwkeOPsNXhbOfWWHSrI8Sjjtb4wb/XA6lhq3Td1
ZgHxkDlYda3c5Dp5s58rCm/TXm96k+4g+Jz1kYtpf2nXIvuaM3ZcHadbwDGfRV1XzHf91KhTLtAE
tYkOGZZhNQMJayUIZcFBBznrkvj52+j4TkTDct6oI6Aj0KaV1YOuF+WpopFwUgzad3GR75MV0Q4i
aS1sTEf9qlXNfLBoC5Q53qgZbzMzmQvShYuK037vtbglZqUvyIkW47ocTGQkjpeWkG5dhuVlo8KG
KG80DgMXCgNtzSrl9BD3hEyG0gK0BkoY3Emtfc8OTUHl2k8USWtEiiRat4al7Bh6RIyTTWhEY1wg
Yt+3mbzGMQPNzNDaYGUHj8gF+TQI6A1Svjn5r2xA4KKALSJXc2HX0HE7zAzzEXYr86ZTY/xQ63F1
cKEiXcFLuVjNhJ3K09bdbDpzqNTYfcA88AKXbkjgLHid7A5uoarpVTizct5qN50PRpksodvFtP48
PYFvatUa/PIGocszddl8L+rMPJaOGUcyU2VgsNncoLRqN52T/0istv0ufTXJPRmMkqcBUmxmO+9w
+xmkZ7t7F7mDzkBDFtPBaXgiO3LO3LvSrpksYI6Wr1Mq+y+B/QlYG/jC8cQIePZCGP4En/br9yIy
dP+Zg7HXHT+rtWxO/N+tuwFfYZgTkhdgSSBOZykf2Pv3OpvPDYuwAwbfxwFWhuIdMWh3Rr9I5uZI
Y43kkG4PuCclZrcgwM6BplQoeSXXGDVSyURLZPo+8bVns1QtSBzR3Tla44X9GudFUKRG7ZLJrnhz
UU8GJFV1j8LRH92s7470sci1HVb9iHk1P89Lb8E9QC4+xnnKLo8JOnKI84gmurVR0oCaZkvRDrDD
aES2orxehkrcAXzI9rWe1u+NZ/WHzrJJi1zyK7AjGp0jv/nmQELRVaP4WB19ek6QySJewV/9i4wS
+noNcI19LvsVuRYz1bK0l1DTvOZIvlB1Apfz3QjRnGcVG4+m4Xchg4u7TE7FeVltGyCMCavGMLTp
ZSqK5NteC0Ky+G1uO2/RT67dxSjDfdKp7DIJMXr9JJFovDFqLQlLYMOEteaog4p8REcw6XOkCIAK
yFrBOVXp992KLofMYxGu3jSHawwRaZdYSX3OmVjD7xI6kQSEhc8iX0NslcUVeiyM4kOFJDXAW8Rk
2o6bH2IW5LTVomCyNPBEyDIoo7j2jZPFqBDkvnNVWOPbIufmMjfzzVw2/U+7asfrrjXBXxqE+XE3
vCGcrj8QuNd/mr1jR5XeTSfGv1HRaC91vCX5ATBKDl0d12c4vvkhbZE7JqODyqGfhxvfVU2kbyY5
GEfneqnks9Uy2CJDUOw7f5I/u1qtnNwUBTsBoT9oxkTtW8HeXND4vHEhb9wDxEPhojPT9CoiAHem
XjZks4/THeFar+2CZbPRkOji8w8qhDJNyr5Npnl7KMd5L5uZcNqpWSMCg8gXFiin1ta9iJUJr8iy
7J7C3pa7JI8xq8XM2KH/i1011y99rmUhUYGHqdB/1E52HJUxnMoRXI6bovQ18SYecOBxCpuzdRyQ
1UclJq+RmBpMiG6IS2LJdm2reWe/QR4iYLcdgfZMs1ah/QPjyBVqXwNSjCjlae4nfnJw0jyO0snP
aHujm5TVlq1ux29uRZ+61VnNanHAXa5HCADPy4CGpJ/Qb2rji5eL6S7dwism+e4PTF7NVPvhZSA9
zeJSZ85jQq4gchjjFkAPxuFfUnlT1CGMBLWSPA3OmGKEb88t1PTMBqUnVpr6UOquS6ldS94gEOZ+
EcXK9H40s5uHiagCTilsBO0UmU5Xva7mT1pxZeiJjuGy2gynXVvuRnvR+AH77GnE3Mouhpt19V6w
jvKf7hNC9sfc2NepUb5bwibVtbLAcpUyD+sKZrvw8aFXT4xw3mvRndqBmaqNQsx0Cv52wXjJaScY
eROSjyHHtC00dFWQg6AMdeJU16oLlVM+5KwqchpSoGP6yVHLXvM6ZD9oeQbAcvsuT+Mj1ufptibz
B/Ck2/8aytKnaUZ8d6xVZ7rwTjjFao0qFX8VJuHuDtf9J8gGaM245LNkYbb+SFejDSu4hVAt7BAM
bHleihL9X6zSrZRyEPuZQGhTuvL7fiawwsPsAo2pvghLzkFfz9QqLXAL+PNWpCVcEXpFEP1oa9Qw
fOEcTSVbAVo1iCH1fm34vbm3NjuluY+eg6jBVNC5hfyYqjXsB+r82qH6rAox7kgH3yFGp6A3/YcU
/RqpMK/DguTOQV1VY0ENEvjwu9wt5SlNVxz7Vv2sDxZTE+SBYs7bt9xAvWu4OQzJ5svVrFenhLxG
YIRERNbzo8nipRXmeLeUU/Uy0wxFNW+XR6mI5rZW4g5bOIS7tuvzz2wahyi10ootpcnPLlnNgJc6
jVwZRW3ryo/aGCeM7w7fVM8Bg+bAFowOJUNlNofVLMdvd0nN26yZqe5IRQwXKKGhhjiaKYh+qbmz
hMxovLOqY4ojh7xsIe/kwAXDxurylraaHdWkJkS0WB47mOFh3OLXmZIbj/Lwtu+08TCzdxwsP3Yu
ZOYWFP0z9+bMkN2myaxBZM1FqDtcjr1avuI+XQ8jHIaQOBNIt/HgB65y5iehgUpz65ZaUsKRSho4
pjNf6uxKt9wTswqm2Bjbo0i1MeK81W8YLOunpCnqc9Ud64W8LaduxEVfOkTQ/ZhfCuAxLwRROC8e
qnp4YWIvBCyPtDT1V+ZLw7FGzfnYtpP8Urzbd4P0nAtMeJBApqlF7ZBO0YwhPlCl39/YI0ZqizYO
ye2pu9O7DMEDkgq+Y2/07jMcXuB+CVl5OkxUBK/0+ILS7Csw1Wk7nvoKKgboyfelo1RM6Hj9wE8L
T7czFqSnlEIDV+TIz5Gxzwuz0SLXxyMacnsPL8U544pd3sd1QRkonUPJ8g31HgQk4ETzoHJb7WWV
zHck7OVUi0V7dt102te9c5/SiGJmyy++4ok+isk2QgzmqIlyNUYNlMSLNUt5ynUiZ301hz4LnbtU
Ja8Iyp4OeSapK22zuvhqpMBFXYV2z1D7aY3TUwvpKhpnWAxVOdhXfM5yGDNi8lZbTMe4UB4geyR1
/Uj2LUrg+Y4L2CM4aPOjqHMkf/PwE6KmejOK5KN21/LSEcX0WmbrT67j8sFXXZlCjdbGIIOrGhqF
nK40vX8Wwka7guGiRtUOeAAKb0o53Fskm8qYlhseZcaaeidTRCwavaFa9uahGnV6QdUW4QuZFd5p
zevTNC2ujiZOQi591iuBTQaJ4U37OiExw7UG3MurRxKP04a71UJ+0D29ivq51ZSP/iJlBFek5kM2
ZVA9us48pAxGF4KTM3lXCP8LEJ//QD/OIU/dHHaQsZpAAUYMBt8FjdaO7nXR1xKNfkdsnT8Xp2mu
aYl2sXPoCFOPNA03SdsDDsF2np2XdCHRypaNC5OlIRKzXj9Ub+nHBMbVW9rImbloLulwOF/u3GC1
B34eWMwhD31ltrelicCxmJbsGu4VHFTfzPFP6veYnFoALnXSHZGbMMIkNuiwMhW9EtNE1CcgWUwZ
5TxiZbFGc7pfct36OZETKs7aWizRpFwTiaWzum9GPeso9ZQ72weM4tl3w0vmotpY8vY6TYblaUXM
jE9X12R88CBtEeVayPJNOSATtEVx01uH9UkXiRW1U8npuBTWnqnJIwI09kxfFj8qUovC3DPmPSzX
5ECYSB8UPTaLuKivimECP2vIMxhqDBMQCXgNjXK91LLyDzn+L76Fu5K5nNaEHw1u2bzwQfK5Kuvm
rdj2TgNjDvHYRZgjUrlGskjChaFStjlvqN8ZR5vnwa7EYbXcZtlbUMyPBlqYZ9Ut62MRT91TVpjW
Ra98ncE9FD0ddAC6w5wue1+2DI5bHwTe4GbjvltjBGqI39kTK53zV2tKb0Ngo9lNXKUdMsbF6HxT
jcyGYURJ5CLtRahZxIRXcRiAcRi1dgcYpwy1WLWfTkEu3PabFE8u+8/NWHmE4dW2BleQy2Q08qi9
a87vtAgzIR9iGHxEiz84no8+Do1EgEg53jGsTy7KHu+sxLD3dHIgLGDe2K2TRvB55+6yWAX9tLlP
mCOEmq1QwBdtB72CJJosh4/nWIGvwVDX5sIGMuB3xcVO0J4wuH9xkbele/JmNC4IUGkdrlJHf/JE
IGU8HBTBZszKhvGBKyXZokWVR1DznANyQf4qSPQQLqlu7HE+aEahR7Q+fq49uFtY7uuuWdXLuKTH
Tg0qolOLRMCL9bteYHI2feQB9bjJPQgOONZDTXpXWnRn08senKEeD2Q3nWNLn7WAtwWGN13hA10d
DJ19Lr7mhnCWfZVXuBKQPrrRIHXcyLHeDlcWBJ/IdW0N7KSESEm+K8rNRbSvtD/a+9rrhwfsycOb
53s55I6eezGtu9CYpHtLLYe0qUu8sGL17fVJ/BrSLaBmNeZbm6TfeKf7ZfxFD5YKn355e1UT8x7v
oESBxJp63I3hWNRaQUhnh2aiaPyBrDJLB4yuG/EKH1whS4squ4YL2pst4mSyRnBSE1kN0JVMJZq4
TSzX0+AviEuQNzFSRSyzWxsXzphd5M+FM8UHI/W66z4BsBfr28Qlhk67ENSGYhbt7EYK60fVP9iq
tSD1GPotbRGX/+ueWMCkp6Nnu+5ME51aFiz43CFtbwu26VSgX2VmGdSy3tutNd3GZblH3NMDBSS7
qa7joMWcMq7yuR5m/7meFdTdPllytC81ehDXWN+qen5d+w0APBQiTKdsr/UbyLcdkqBZsuycNPSE
GOickjLTXnqlZXsfb8fWdi+CLF2zc4uvuqpSKxwabl0IinPseT6X2cnC/d2TDHGigoU1QMihs4b6
wKm4a3qv7WntKL8O5MaAt3o1ohzT0nHdMVXRbpqexOhQhzoCWd+FN2u6pn1F0decRO5gj8vS9tGZ
FpKf3MExyASrgHwENDwciGyjGO56E5gKGxgyGT1pu6MsEi6RkttKszdjS541UxA/tRAJERZej1At
oa2pK9d543ut4UDM0jaoIN/AXCfg69xYSmJtkobGzdqZPxfRUfRqrebvW7/GJUhnceOnb5tlMW0t
5MKMzW/LKRDFKc/TopwZAscb/ZJXey7ct2FJ3WuZL80Fzov7wODTPTnCNJ91O0navWP/5t1qlup3
eGj892nxGgoZFEAnnRMO1JxFfgLdfpp2o12xtgD71N1eQ7L2y6ot85n8Ov0F7TXgExfI6m7w++q2
7nTBiKHLdWxN4Bl+dpqtn+J5mY86k5HHrLLjBKG+1nPuNM7HAn7h1m7z8qt015iOaZLcjnNjvY2a
OXE7JkzrM0dveW4ri/9eK582REk8gh7MlQRy3Db2o99Alw+ILDQ+e/jFRyUHYoR7L93yzWO6EV7X
J3faatHbTbVQAFV50Xt/+G5q0LUMkeLXKqkIJGPtH7SeJ0/cUV2cHCpJklay9RUSd/pWJ4KluWTx
8C6k5nzSBbY+SqxTwYREEx9Qhsetp4RfTWw2Na/IuUVozZHS5Aewl/O3WCH5avRtAlAIkI16D3z1
0gEm0OwqPZnA+y9SKf89N0QR6C5uEH3xwM3QZobSpA1t2DYyBs4OC33XN2X37tVDfEZe5VBUryUu
JgrA3dBXfRric33i8Kp/TfXYEP0m9Yhhg2bubFsmB8q8/P+wd2a7kVvpln4Vo66bBjeHTRLoaqBj
VmgKhcbUDaFMSZw2583x6ftj2tXlzK5jnwK6Lxo4FwZsp62MjGDs4V9rfQs8tvGaMO4pgXWzIPN3
FGmIiO7NKEtv8HFQ4MGyTzCorPITcpnmlhcx73ITxaGksPLqfmqHhgbiCW4cVyqGkA5UtGtLD+rC
GSYyqSHQocQpq/eUQxoQdKEpc4LhoeaV5SfqoQ0G09zoLC+vWTCg9tATJU9WBcJ2zzV5BLFk1dyi
y9xNFzu1yjhnAxb4JtJmuGNgPZxMM6zv3d4rP9y6U9eFWVBA3YWEMhzXvw51VZHF8aidtERvf7qd
Lj8oeR7IRtEB8qXAevKSNg3GTWV7JL584E6Uzg0OFNupINfLoxrQHW07D61bi3QFk5VAnhNCGjAa
7TxFXp6/FxF+7YCpaNFyIumnCvw2AB6CBzbwsdPcDdNb3gaxt26YnVIcPANj9Bi9z4dWM9ZzacTO
d1wDeJM7HMMZ4cZqNo9pDKiQMBJ4xBUhueSGOCh9DC6qK2tEBIOb2nV9GafsX5uMecVumGseHYzf
uSKcwWZjtRlCdOUb5nVfOxjReSSsG7PzGNh5Wk/EUr3oDQgrETR6N18cMVXpJvfAQpF4LM8xH5S/
A7vtPLYIhBOe0Np752jk9DQ+59O3NCoGhiuq8tJD5ZGfWaMYT9OOpzlt9yGmbxYI2sLlmkixfO3o
qItXFUf+y4g456PUy84WyGEfzQZTe6MQwTHypq+Q9uYVyvFC6LNLvieckfgTICYIS67LhULJHHtE
x/G+RGpW7000hIws4ZbFcsIqIsSVqxlhshc4jdyTtXfijccE2wLG1SB42PzCg9B9T5n0RA54W0V2
jtIhvFJvnThhdNaSIwtBNV94DgCvtYq0KTaeaSZbutvrb83kUR4wksolHqqT6TLLDLU2By1fYEGy
faQRl7e8CfMMTH1mv6dKm5dT4xRccOdJ7Kceepqd9RIcmp52UiEC8UgWF7ToIJR5iGknGTDORIPs
2E3asP02pxXh48oymufUI0w9ELdblTGR0V4El67hBMcUt9VpmG3Mr/yx2+PUtM31NHXGBq2WO/6U
7eD7GCsDtW/P3abE62pT11T7WMBXgUqTU+y7twrdd29FdYQllEApzENjPJAGjfsdun1MXsB5c6ki
OBsydb4ZC9BUFObVZInyvXPt9JFeR2Ue5qEMGP469UvAbn61ONZvVFUa58iw/sqIsRgtfrS8BKaD
C4qN2wKg5Cz2iT84FsjgeVUV1/5yp0c85cZ88oDR3CpdJezbHFVve6pZHsGcsZX+uWHC+Vd2CSwo
qKDgLDDe/OTvmS1D+kkw+vtJkkYKZNUc+qZFRTCR7e1hNMlMxWytpUlN/TCzpTRdB4W9z8Sq45PN
qtYlS5oz7KzMBBszAlMxSns3cIxfCM/iVESDzVgmlyBE2VHnQyOd8jg46Xyt2wTwAwmkwWU2aOPU
UuuO3lDWFU7A7PXYV/HsW/t8zODB4w7aSKLnq64hKWoO7gM1DChjwyROdSK/pUXprOmN0FQ+sOCn
JTU3Ky5jWKVG/6+wF/8Hqkhi9WJm69i2bTEd9H4yseU8Srx9Dqd1PJTcG8yT44xTue7SiVJbLEvD
hDfDDtDdxdRNl0nbTbtAbTkFLB6DwdqECcgpMLlYh1ddLregMfsLohTxuhyNy5Fu+62vMg7Adpoe
CoLNf2HMWYykPz96gYugBd1G4GfwF+fcHx69hL2k6oMm2JtNhXO9CPqZZPA8xpezoc9i7IHDsjkT
rm/jI3nL7gPFqyOit7j1GLi5osj4ikH59wt8G3/xbP6rF+eAZiYTHuBM/en9pd7AkELmwT4TDKqQ
IqPgygyL5i9+G/FjoMfDjrV8kDge+QqwtIuffp8KwdhpwyrYI39OZAcszzgMQ9NBKVfyq8UFnjUy
q9YFhQibsOvlOeEQOm4YjEMm1lZwqyY/wzbDl6WiLu1W2505kSGdja2TmA+VztqnP39rxM+WRtZr
U5BRxDoJVZSF48cPriZ2wECCZ69vLRaF2aIxyTMZDhLlAS/LNeQpyG5LMym/qJnpGfqPuY57FR8n
4AIbzAzTu5sG42+4pP8yaf+FSft3aNCf4sofmoVW/vZHj/Y//7ffbdrWr8taIoSJIRqX9h9wQ+JX
4fKA8nXg1z0Iaf+0aTv0QEqYQot9GC/GYqlsy07Hf/+bBeTcYnPxXYQ3EyLRv1XpiMX0x2+kT+YN
TyY/UEqqHQNz+fU/LBdVkRkGp47uQI4c9ZWoNUwS/5BzcluJYHzxJZaufgRq7bYM+eZSf4yW9QxA
/CX3lHkOa7/euvXwrnE/rjLuBaTVJRUlhkCG1nVxn1UmvU6Ufi0pFfSKngst+v+drGhiG6w+PhD4
w5gWVSicmbVqkykmv+i+lCTIdrKbziW525z7KaHObKMit10XAa6XecEeR/YNYwuL+7ZRvzKihQoA
9OdAXAaF1MXfROFN/5rAMDLm8qpR6QL4H3As5TI6gZoJNomFhmTWSGUC08VVhcH5UqcONz6jkldx
EXq09XkOLSemmp7CAABBkr1B7X3JoD+oVU9JwLXBmHFLQDXc6HKpdqPcF0nK6c75lO6BfztXlRTj
hZW5HVL2VG6iOkC9rUWCb8TrphHIjiu6T9EFN+0Uya1obO+Os6LJDTPexvQx7aeW8rLCqItrjx7d
tTG29OjCuThIsmFHNNhq08iaq/oQYBtsBOXEKpJftZxemzGIkc6wFFdDD5M8UPxdYVdfOxkY16Gk
CCYY0JQTPaSbWbnONWJ+B2G+/EgFwzOSyt5tg4t/N0T0MnVcD3GVlj48C8/ZZjElFkNQN0TDR+vs
E5GjaRH9OhvrWxAR2YtdTi+OTznYQPAHgwcbU05ho7OErKqSA/G8BK8ykj9J4WcHrwxegyWcxRAk
YRKsOOUNwqNWjBRXucS5+K/Uwaya+DLx1ENC5ouW6xQ7JDEwtJDkocUusclQOrYtYNfrdAmODUuE
TCxhsjkLUE6WgJmunEcPuW/rIVRec/R45nkNPsYlmLZA6ZGyymaTL7G1vmrJ7IYPMXk2iclsRZPl
U8o+tulNBnzQdZzVaDhfFNPvQ6rbs1gictkSlpOp3e7yjjZek7k6j6h/7qfgYR7TU2GjVKLEkSHG
UYp6zd1lQYQH+3FsF6KWbdWArmfNUDNctOloaqqTI0cY7K5hgGnO1G3QWmoLHHcgDI3SKnkGbyPd
MsCMaAuIMoRFRelQkwTtftYUP5ppGAMBaexLlzT5uU0df29hRoTV0T6JqB3v8yCHIwAT7SB0hNHG
kY9koizu98iXKgVLz0fVb/F/0ZBCfBaee2eEXwCj9Nsws+or2vii40zxZ01HH5CxlXAbi0b55qOs
mOtFZBMxGhGSlbkz3kFrYNQ0Ohmkro4ywFYeJXPXW7OhmssPAfjKYEjuBoEiNEH9vjXTOV9AYDMl
HQFJqpk04+BhXjFTrq/VLO7CTI+A9RmKoMiUO21CpTHbELAIfX0b/CFcyrC14deM3UJxlcoLxvOm
3OC/656nNpCPXdR5B+wsiFKmF5K/RuR3e5P2A8eLL1Kvni5rz00eg6QCtlHW0l7F7myd1SyMmyBv
0MW5xjzLwno2Y6LNlNGtojYqDlU7nirNbLevRH9OBmaoRtJixaEYm6H6WM5Hn7okyr2rr0RYh48e
OfHWq+zhGEwElfXCA3bCiky4p7KdmCPyFqq6MRofIG9ubTzkhAhgVEBbIUYQOlp9o77EwmvxzeXw
CVAb7aDqY+/SUXnKNS2srkKh09uY89S6NLurTib9nn6V+rkwu25llTl8nnqCjTA15oa6GOK8LaI9
nd3pYx/wMpbj8TmM57uRM9PG8sGgl9OQXFRpd8c+BE6iDOsdmYToK27x+SCU8RDB+USxLigltwp9
W2a+u/H9OdnYBV6AwkquRvDj5zpyyjs3NSmFo4Z0RZGSsYyPl/isv3hVBLFHg0DUheEa3UYbtctR
3M85BWfN1WhQEmMwMViFSLG4rm1W4cT9oP4OU5wk3eoEwR0Q6G+J5WN7TcHbwNcCPWZWNoZzwsZ2
187wQJnv5iFSVFmET6ZTsisur8FSKLdRgiBY6sB69nu+zcq1MHmHM7zqLEZoQ3t1Wqam0fDViDra
JXBmNQ9W5X+6TKuoFGD1FcSeY7EFonuLUhqsxh5lZJP68XC2hrjbgbChgstIz94oKnhgMn2qAh+d
0AKUF8zxU17IvWsMyObsCcVaGsEXUFzzDt35vRx5oGSL4abm1pGO07AplHkz9zPhcUog2O3Sx1Y3
FgwKajqb5ZP2sync2fi1Mauw9OigeAfX9ZXw4mvvWSFvKkV+WwWPbsusMF14hclxDKNTEtfNNY5B
mlFtWguFtNdT2PvrksKdDfg5Z0Vks1hBVbAPbZ81DxQK6w3N9XjftM4P9li+mQar0NI4H1rhVmr3
61QwWnXcd7BQ7jrUi5vNdt+/H8P/67j7F8ddzyEriAcxsGxYCOC97D89+V69vb9l8R8Pvv/yB/zO
kTZ/5QjLF1zI5Wr9PZA4EHH8+98861fXFku2ijmoLSwus78nFW3vV/IlGLYBo3i/l/n8fgS2lyM1
6Gdh2jYBQ9fx/h2MNAm1H47AuJkcZvwmf/149HWUhg6X6figBi/fdbx4SkUqGoPXfpXX/coOqCb1
jMLfd5A3j6Z2vWNp+TGFXZJyUhpbgeKAfnXRmzC3PkHg7W7awJ+eqjQPnHUBCa4CN5bT1ZEMdXDO
QSzdeZmJbchL6XlD0J9LeiqrKDKaddWLEH6lybeqTTF+fwXxZFQXPfnj69Zy7aMaxfDWh1PxtYoz
t902TlrtyxxFezW7pMrXqm/JUA8TRF/0cgwRdhmM034yNaEyS6m+vmhLIzQWUpaDqgLRvz6mvkzu
sNW78JXnpn5wvS6/73xqBzGT0R4zEjr4Yk1ZfhpHMRnrkagYw8yUzoidNQFWZLgcm1/qdKLhJrCN
JlkT3vDOY5Fgy3JTu/9GHGqknDZ3joISl7NruAXQhcS6t9y0e6Yexz3lRpyfvTyTe0M7wYGtDIsi
Tl08rdILr3oySMCUmEXaOPs3liREuaNDmRNAZHXxt2VmHR8M1YJzUJZklJpnw3xZGZLex7Af76EB
zR/JgH4NHqOqv9B+4dwG3ZSKbdymYYPalEaPnkNL2ophmD7FKN/UjaUczIOxArfQYaTfZyqJuJBH
/fDoCWk81UECRZNzh/nod4JTViCB8G1x95snX8JTTsVQ77H21WthaYigoxm1J1ZppOESEJW3zTG1
XQJW1ldUJMBCqu2mOHhpnbQXDqQLmoNEoV9zJzMgrzF8/YjycHxwccXDHXE0cThf4/HxwCBdc67i
aMzBalFLGY/sszptg1vIOKre6imljY0RP868yVBlcj3M3khfxYQpegsYzbB3uTN7H0WKgriJFTbL
dYX3Yd5yqWCLNII8LVfabarX2VHxCzobPsOll/M2d0eX8ArkGwoFBpUPEBa9TpNbaZCaEshwvH99
x+ukE6QYQS5P8dmlqxbDcCujl7y1w0/MAt50bJQFMjNETSKb04lvleopeowbKXBUkuHlkRpdXYJI
suPy1KMtXnUBlzRyQorymGFov3US47rRVF2xMemf/da1TIyvhJHACOm7Lnh1ynlOT3i8JPTIEQtk
Okz5Y60j531CVvkyUiJDni0IYawXCRIGVx13l5pG5qwXUOdFFXsMu+NUerQdGey1G4teTdoyy0xT
TRVE3W4KzKlaxfPkf+A/ldYmawN2dk+5Kddp7d0xCWwvetm3PfUt3Xhv4DT7GjRu+5ymsXkDg2ne
YTzT9Djgj8Sn3AT9HbDC9hm+EqY+dygv51nUu15xENiOfrrc3/qw3xIVAedulLEDTaRQvBd5iaxN
3WcFA7DNLguRufFWphLobRo65UWhI+QIEdqUhPFUDitlDiUkJRfVlYyG3Mq27KlSVUArRIpos+bO
q69Vpqaz5Nzh78qwrEKYd9O4X8iLe1EpLOBVBpHf4mMkA5DN79rALLC1NCKjCXPkugNjex20LoKh
VTreecir5L7vjaVstZfiwhzkfGCO15wTf+hv28iSemUNhcHloSteyjL2tv08xMSAwvBBdyw5XHKj
eQemVU0E5CpQbNpEScNLnr4WyVDepqpxuRJGmNmCccRz38zvHcdjH/dHXAqKkUqsQdw7+expJI05
CA5Rtdh9si/UD1ucv21gtGt39JoVa7h+5NMZyXRRDnOLORUtVnFIPhruiLI9+K1NDson+YI5okNS
be2h4llNy6+cGeWDdjoewtrsAMFEQ52+itKpXpinQJWt64ZCdatztItOMluMkLM0K3AMNQzyrcqs
MGVTZ3O2/DLXfCQ2i05kOnjtIN1b6HGTiVOPt3+GFqZxLMhqYjZiqcF2GPhOrX1b1VVzDduT2mmM
kEQnvcgKbpraU1/HOIo/Y4Maz6o1k4fIalqFKGOz3XDl8PdpTV4BLar0tlDKsH1EFJMcHO4K0cYo
AdM5PXa+lU1b0bEbenCqbg/bfU1dZnnDTRIcDhfNaNP74XgaqtqeNwZTAIKFuDuFDjvO6Z1ykNmF
O8IUtdMruxGGS6Oktrn72/G+hzHWjdR1xWWLc6EhbXeFxazadnleQMipHRJKtcxTwExZQbLSvhzG
ZGA0o+iCWpW8wruKLPSzrfwB0zgnjnU0aTqV28wEk1YOZkKTnVeSn8vc8hmDIzBYR7cHD7SBbhWm
rQmPNrWvwaUm2kKMDtMBnrJAHWN7ofAhEdfZJmlDlxrVeS5Yh1xj34izvYRnBHEX3+znd8VuwEad
6AdVKP8SNtG4nnLiOU6BWahgRP3psPnsOSXbRybIbx71S5uZYjx0LVq8LN22j/bo2gc/cz2+uorJ
lMaS9VEnASwyANHBqRPChn87dHToUVZ3FKHOt3JKOjiBuD5WdpI0zWZIUsj3dq2viqikObUPs2vl
spAvdOAaf8gI9m/t+MLgQiBFmDGENsSeXuSAqXVSZxdz0pZnK3XUceRRo49Ap5dzkDiXXdwRLGWm
2r4AwQk2rVuQIZ1Cq6AG3qlvnVz5Zy6sHuMTXXArq0JUptGw3gFPoa1Akr2r04C5mZoTh5b6yDmY
rq4eTaQK6Fd8/CVcsRccth719FY2k9RcMoz4sr2bIgvkNwZurrklkkToqdHVq26I9s4USDzUVtt+
GyNRnQhAjhgFU0oQhyyFCuO2HgYEL94Promv1FAVTk5Mrt4rcO10WhNOHR+lk9Au4Q559BHGdXyb
h4Z9BZTAQ5bO+RaS3dGEcpkPdl96Z/K2HgHke8Ox0crIlEZfPMKfNUGmfnw1ZGy8Zp1Dn1Sq05Fb
Xir3sV95kI6lfQzGIfvk9TYnas8mrGBdAlGqmlqOZ0kDcaHHeESL40BpZNoObrqxI7rYVpKw3p0f
Nf6ODtThaWYoTLiryN8WlAe1x9TuEhhow0GThyUPuLZqO9rzUQ1XIoo0q0MSNndJYzPTKSucOSs9
K1Yqqxy12lZd3CRHLzW6ct9pDHwXGJfNaOMHo1R4J2Nx01aV82x5A3AbqzWzaccwqRcAcvwIIdFi
eJFE3kxnNmY2TQFz0DClms3ZXndWLYN1OA3Nl0EnTbppktikX35W4XWCrwg7gpbxBU9IMK9LK9Fv
UeyxqQ2uL85Z7/H+t35HgTJQwI7+zFw9OU5cn+mNbAldcR86k54PMJ/00dqwTA9tz/VvxdiZHwmU
Y7XiKSisLftuwQJowSBcwSVw70Fc4XZjZs23bmhabN1RMgMzFAZXmJOPcyncDdz9D56y8PNlmVPR
vYk8aG9Ktor+2kpazKl8ChFRw6D09lJoH8ewVdWbORh8fIyBcj7T3AiIxwSGeCQbPpHhNMx331dd
B/l0ZifPiHaCQBxT7tV1V0PbxwdM7KfV8QJjjj6tqEzOesYSOAWVSHacMed85fgJfOiyuev8ot00
XsMSVYBr2k2c2giNYJ7fwt/zWac62C1StuEbxmzrjJ2VTkBOvQHx6Dxw1XasJDHlMFLGJ9yvmTNa
11wQ5lMWftGa+EFYjNvGs/maOOzLoHPHTmyxapVvdlBX1intI7XFXgomuiLfX5qqmtZFVQ4Asyo6
5nFwNNY6zOuYeGfmXNg0Tt1mJjyH1YRXSnADwre2auxltOfxI6PHNAFdvGKaXj1Vg+e3mzoI1Wep
AGI3tpqA2tM9vsFFgWSRGvPG66iCa5rROGi70VtY31W0Dk1OgMAPGXtFMEm33cxkLaySzF25+O/e
YmU0l9k444UbxTwfDC2Cz8nxwmnPMM4bSegnxgNFgfwUn4DVReT5GVcy7pzWHmkxPJY8098mFXBo
nkGyndm5CV/ZAOIuIWwVRHxMRECodPbeNFrwqDWTSPzW4zZqrHorrTgbVwVx2gsnjdMVg8puG5RG
v+qmtrvmRTtHB0vgC+cAWouyoNhlTAENvjQKCxB+9JCZc63Am4EUHgmDI7p0qP25TRoOrBf8SJx1
yZ1nzmqLcXmhLwNFuDSJBG85wYVbS4ZfOaeiO/Od3CJmtURDgujVanL9dTLBVayMRISbaLKy16gt
vbtoFu244naQHgcKefazkWNGi/T4gI5ymvAbfREmOFd4BnwvrdEryFS649Gv++HgVCq6lLLKeN9l
wrAUKth69BJ3X2am9Vw3M72IZVLK5YSe27sYtwyUa8ehLUJHKafZLDG/uiwxh4RjKaDCMSX0C96F
h4jxaNfgiSE3laR6E9mzuoCJySHazAHnlBEnXo5w8iThv907c2lfIEoYp7JlDjjIsmXKC23koTYq
JmCsvNaFjOgr90hwP/DVC2FCWjNLW9hBLoFayurSEXKjYYGuwWKq4qMdYkHrHfCLq9r3UUFsaWKc
NuzuECexfZNY8+jTBZcCoVR1NG2IviMG4Ki6CPNoAovXpfp+slTySEV7fwqMyP3Gd1ecRNwEHzUM
ih1ouxAivTUxGDQGRzxTMsGpXmTphVvLlAGjyVgfbcNZ55r1Kunwnq46P4czVnTxpivyfA8KHrgy
YMYLq5LVhmrK8dJQ/GEzEqBwFYyi5shKMdDWVXb33LDVxfxutdohh/Mz0dDuQwswsY5xY9P5V1k4
luJB7uoM+zhEyPEakIAQ6+Xk4q4ZvBcPIhfpTjp9eiod69PjMsiuXGdtSxm5oa8mZ/Selu2TsGLm
F2c1OsOTZFPms5xrcro0Lej3DGvH+r9xOSccUNjqYE8uJxrVjOOGySrk5nmK3duZLaXbKCSr9jer
xv/tUeP+o7x5yz/a/7784G8lrsMEN93/+PEf29/+OfooN2/67Yd/2H6vi7vD3T+dP1qg7v+ot17+
y//sL/7y8Z8pnUP8xthh48b4j9lm1x9R/Kbepp9V89//x/+tmnuuySjSBeplI07zI3+bGPrBrzTI
SSlF4BPS/v4r/4CbSYho/O5B4DFs9KhA/Kdq7v5qgi4QZB5Q1Rko/lsjQypbfhgZwhiTprPUsTGY
xObl/QzaQQbQ7OyeXJIoDqfvOmPP8uHpNYjmSfw+ZkodOUWO1QW3vO4eO6NPmHUQRJWjILQf6xTc
S6GlJOkjM4ZOeUJ119odNIguhmH241LPfB0Og3mbG4arTzaBeHvtjTSLrRzHSYMDXE8/2+PPrasr
0yjHi6nF++m6Ec2MfqgjrKIkMHHtqqVxVxgPgejqS7/zupfKAZhVwM/assJyRSr8s0l5KTBMhl4T
bbMBGQ4q9Nq++cbaXw3k4tq8XvOHja5Mhkq4/YEFk4ppK7UZHNDAPHn+3plVfvCYy93WVmIdQtcf
N5E72wcoy+hsDuhWQjBjBPV+kndDbAcPfglFaBDZABtcBWtgacvk1TbJWsDcUh0uenrUkE8cq3rq
S3/oIEgzr1zhMD2LwKg4pFeAI7aMZm2THmEcWKQah/6OSjU5cStFF72qEw2HHcAbcc1xUJDMg6Im
nt1SRE3G20BsApwOanEXiYnlm+uSIe5mfFbTbRMBr7wTjolQO5t12ByylNzSRVz5Yr7oTC3TY8hG
woEuDUW/7TrpzqgmsXphPlW7d37e0NIhZp9TlIotB39VZ8EVsOe273ahbPu9p8343SyrCO9YhT+q
aDrx5IYcgDcEiiMgye1nAHS/Y+U8WYVvXZXNVC3xb+NgjH7/4kmCX7EZnoaROKUk8sJJfsyDa7uB
fTfVyZ1IMnMnTZVDxAmxFdWuOexb7pfvdt57hxIMJelNkPNio0oT/gHaKNPgNKRHBIb4tMkT7d8r
YUxXQ5hQ/TYmtMy0LN+aa/EGryfjAUTdfRbZ5dH0UACNlgi3mfjHrpmCLSLd/BAWidhxGHSPElGc
GZqxT3DW3UZgQ0iGtPeTkybrWMj21qBdfDdwJWHHtjEHOoqp9mqZ+uQQS/n3+xKp6wroHhbC1KZe
FQn3qqmxV3LtdpIHntbuElSnSNemhRC5moIkvZiijBFMyXwh5/y1UpTgXTDQzW4JB/VfNJ8txeFl
SCtDZI24QqZhHKEOGQPphCYuVnnuPY1Jkt/VE+y+IVXbOqD/hghu8u5axrBtfK+6z7uo3Xtxl/K+
p9NeplH9xQsQ8cE6d9eVnj64B3IWqSYr3/pjqA8QlNjTGs/IXsgWyvuhhN66FlxlX6tJQx41c+lc
DKo3duM4dvhW0CalYXVbl9vljrAjRAsgA/SYuCSDBHVdagQN7lCCclCBcWTmJllhchg9rtm9hGaL
zNlG6hQF0C9aZr1HhIGABoMa0jDdgfr/zYZ3nXxrmNd86h+3uO/b1j/3v/+PtkUP+LwpffbGpQHT
doWFy+o/3iE3b+/N2y9vxfsvN2/RW/PL4a3/UMkv/5N/sXnL34rvv8Rh60f17V/8Fr/tpZ79K3vr
woRzcBd6vIx/7KWe+avv4UFzPfv7VvpHB5pJiyuCHD5ExEBc2GzAv8tvFuBRB+cRZETn+4/8txxo
wv7ZsOr6vo1VU9hUfVguttAfZTimiENK7YCzDYfHjrhQ8CB20S621ww/qJDyU4qUdmZ7tol54TFZ
YzZo62SX5M8hafYEOcvvnYUyBcapJ9kDvqhddcbOgxrYc9emKO4i9r9OI6IGVVurLnnuhlcmBARN
ycqY871dGQyLJnrjm51tHJHkQQ6oQwjm3rqJ3mmkXxUu1JWM+A8dn9RXyU80HMDPkNTwMAt54aY6
J9wlbrg1bKbBWKt42ufLhIQAO9Z8bCPGnlNls8NPRf6sUzcj9PMAW0sxfDWDAuXdvMsX8jQTEFJ4
Nrjn1oOaVHzT6lb6PQfvPsPZnkJN41KhGBXRaj541knQPkf04MIGI2pO1sFw8mNmkjKV+ZU9svgx
dbltuyVsFjUbxH1G/+ZJCUVXfMpd0Sa00jmkRmrni8l6zMe07eHKlwElIiE1ni0ts5gDG+w0qWzg
UbfXdqJPWto3aAbfMk+eiEOm62GagLkLi+VxeoT9tbPI2kacVYjMEleLJQu3RB0B65OcIggrJLTI
PjKBuKlbjhjj9R++Nqff/Pa/FF1+KpNCt3//G+PLH89p37934G5NTwj0XWTmH5+trDfbMSkpTBjn
/LHRBgXwDlWCvXvggrF1LbY55cmjzoq9qm7dfNy70LU0WdkNLdY9JjXcWmEYXCz9DJlh7pKOAqk0
g98c2ie7L1mK3Xswm80qTZkt2MllXVyanbNvquJSTDth+Fvuc6sqme9cFR98j/1BBDeaj7Cakk+n
cc9u9oXI7i7kckOOcBdRDgZDmgSs3tTDcqhor/ALb6wR12BjHEjknBq32fW2c5rM4Eo60fWI3TCg
JCiP9UMKmI5Hkr3g6IhXiTCXzt2xlrQtlcgxwNLqFblLAhY8ldnCpuyTKx9TYU2hTsgEM/e/5no6
KDIT0UB5HnMAc51189UMhMP3w7epcncllj9iW8Oq+z4RFdOR5eLZsiL4Zw9W01w3VM+2Yngoxtc5
dcdLzGUlYXXhfalDG+MWpyMDfEFcCTZHHpFBOjshMd3bzbs58hr7fLqNCKPSTVO6m4AjwGU9IJbL
+fXPHxPrZ+f1snTapDVo8Fws4z8bAeYSqFsDCANXX/YR4f0KefvCRrzCD1jDODgKrznDwLqZu/42
asEl0A6VwI6BsVfvdE2Cnw6UTdpWF80c3FJ1x9qlz9TaFqSmslMa95+4yP/i6cY58dPTLVm5uYmw
gPOgYzD+KejRMrvENIB3sQaVgd3UBlfAC3bL9diRh2yoeA5VjFDBulhFhMhyFqmajirLA6RX7OsY
lcwzELebepipnPN4ZilpYHzKIT7F1yTVzZT09yyskDcgTKTdfcUAcrbpcWys98jFoYOrKbR9vaHH
jrFxgtmhkZRVjoRC0SOtT6q6UOm1Nq6QxzQPY6U5dA3nuO9Pg99dVpIESiKL67gPOQDJ4LX2ZrEi
jvQghbrtlTPDy6k+CyONt65dPQza+AwIK6/9RH5KQ923Mn3JkcSanvS7Kz4hY+1jLhlBwSuI6osG
u9FMx7CO3achh6DvM7P2QH/ExsWU+OT6hm0rKPkb1mYfrxnrPRcwmPCH4ooet7mrr00jObXMjVaV
aWHICg4GMYlV3HXPaaMfyZwuAsbLnNWPUTLedlYxb2C4rHGIHMDJEx02Dy5eaDceDmY0rwpNoMus
7hXJxP/F3JksN46kW/qFGmWYHA5sSYCDSJEUNccGJoVCmOfZn/5+TOvbNzOqOsvKrBe9SbPKikiJ
JOj+D+d8ZzAtn/kdkgpBGeteolLfV/V0mWzXZy7yWADguVlJ/EHHvwQhIAHREcX6ho/+qBtwBMcb
sS15ZTu7Y2UWIDhdC1as1bEPVdAtYtN7OeAiYIbdW6oeQ/rILHH9eDh4RFWnuE+xB6UAUqOElb2x
YRa9JUM6iG+j7tbCPE6KxNw7lwHgUtOm7w1y1JXXpeXONKH4KEjbK5bh/WtayIcqskhFbBq/bNEo
ePV4YY5MF4lTTzO/0eTtQ817tVkmhlr15Uakjw2qpK4PjyVfQ+aQ1aVvsp2p2LlXVNKTc82i9GCb
KNZU6KwaJVCrgVgNtd73qmHTpTjQo67kZnpLzQnx2LwrBnCSqNHAHfTFM4kib1EnjnNrveQ9VCDh
vAnVPM3F0Ac81fsmBI1pWgecUU4wdYjxciM6LDNizAEtuU8PmAfCVscs4tZyqjP003YrW/3DJgYw
MKf2WlnLR9bQIGRD/8aqkSzZEq4OKSSX1u6fR+XejcQ50LKxlc72mSleHImGrTdmOtz0CWDH22AO
B32ePwt0sXgQCS/MrZ02zf6s6xcU634mwpein1Zum9GMe1dn0O6j7F0x9Sb2aO2F8akbkwek3gHD
qxcUQt8qMbHFLgQaeY/zYr2acFKrXu1bo7mG2ueYud+e0n/MCFtoeDYo0H+mtuknhYQ9IcQ19H7h
w0SKCgKHpNpTbZzIJC2HKw3PBb82nR8CZwtBswlsyn0uZjgcVB2V6teMLFZjjWAn/QW9c1tOjAW7
N+k9TexYk9km5OSbeYlvmO9D9CijYuu47cq1H/DGI5SdrtVg8rho96l+nU08a7HCL4RldLmlnC67
hI6olRthFwG+Y9IGHe6HszH99ES9LqT11g+sLBa+15kJbeFSzNNa5g96BNmTs/K1CbE5E2zgR8nn
RMJ5MXzPaUUL7n3O0FU3GGI/0UXuAP7sssQggSxlluIBZoKq4IPfYAzuTT46KLSRFak7dGtYej0k
y1HxkhAMGczmYn9pLUwPV3N9xAXuZqrUQbTlUxw10sfK8+Rl2nu1LK9Vpv7QhKuwR1ZbI6WyEJXv
2byB58ldMmkdZpHjVP6sBrV1ldwhqbhpcKCsupRTUYyOxMYD0eqEheg2XKjpo8cBOhjt3oHjtx7w
UytHfhbALbwp/kVszZNXsrxvUnOXpguJuh2liYdVNAhxHzEBD/10ZC2NNqQ2WBcr+wj65Ju0cyzU
26h37mwb8FXV3tNWc/ra93EjGCL1W9dqTOIJrQgQ5gKGYRLEF6OY8tEQaWucTiC9MpAo/ytWDIDl
QJlWCw9ozs0d4A5PiV68tSqi467gIkZdeLVi4473JglCj/Qwsw6XVSVlv5Yl+mRdc/khZNP9UR38
P5jS/mUe+//HAFZ6umXenGP/9+5yS1pr+9H/pXn877/1vxtG+x/UyoSJOALrEuOR/9MwOu4/DA9J
pm5SzDGetamk/nv4av9Dot9EesC4Beehw1/6n4aR8ttydcM2TcOgD/1P9Jq/F2vMXKVLJwUO38Dc
J38rejwzGRExzzJApoEXgES25TU2nfk/hOTr6KZt2mbHkw44Keu3H4OQ0kmnqET6ZGfjj5GH68bh
jYA59xnZkgWAvz99Cv+qWfmrDFXat5/oCGbJ+ADRELm/eRa9ggzIAeVbII3ZYzBUsPuCah0jxyol
Ea9IoZNHprfprg/d6zDpnkb/VKgf5WIZW73x0rvOia07owGSDqowxSmQT/foodTRmLP635Sfxu99
++335SNnqED9LNHP/rW3ShlUMRorZZCFVfE1jfgsWcHyT7aLns8UjUzTSEKTTdzqq610dFazO70s
EapVUqzs72gYsucS6cBdBI/m++/fzn8q6v/49SzCTgwKZ55Jnsc/G9vY/up1ileCDXVt3yfKyGYG
CZXly24ilTCd8RGXRl0d8t4CjKPp0a7n/gOaI91dPNvy1Vyi4rxgnDWMeq/H2gPiEEE9MQ4cNE4z
Zu+42t3tCG/lkldm9TlERrZl1lpf//612L/bWW+vxZV8hZAh2Kw9fmtj3URNej9YAolFHh8X0TLz
nmeTYOjaje+mNkFZVli6CLSqm74g+FbEvxYlQpmy6MVuxuT1MMxz/87KDDqsYZTHItPE22xkm64T
97JNTB/1FkvzXIvOpTWM+76K4wCe9XstYL4koXjzRG+dIGuuy3I5s5Icd6T/FTjNcudkFGVztLVQ
1SsznogWNdn1bmKmJEATpQyGxbWRIE/WfVsz6XadlirYoHI4CKfBNJ4WFiouTqNDW+jTQjOjebQU
GKTe/v69/OOL+2drPu+l1C1hW5KJk8Ui6a/PBXIcpFwUxQGjiwI7bVYyXJ/0I6aLrbSMb43m7jws
CVVMgfOk2A1tPn07Td5+2nXT3zfRBNvFbEy5nyqEtlJrJmdVlqgPCJarLxVatN04dtEMKbtYvjw4
qY9DHVYHL5+1N8ay0bFWDmKPvAYesUT6fHSzId30g6P/mwfnnzzFf7xYrMQ3H7gl+Cr89mJdvR7l
7UtAROt4ioobH5O31t7XHOsXbXG8TcMGDphFrh7axo0OVs1agJGMW++waLvPohPLLxiV+s+//xxu
b/NvHwOhOKT/8Qk4uuvcTpc/+U7BSpNnKiao164p1iTXfcfjsrf7bEZMP/6HCTj8HJfwEXyzuuUy
RPhN6V9xP0wuur4A07t806uFzIJxSM9//5L+xYH4l5/y27c0B2fsdBby0gwh3S88/9VxGUqobDaB
R5u//1n/4kQgloY7mhv1Nj797e3jkUTmyG4pKGEAHCytUF/KaZyj3Vr6Ffohxy7xDh4WAF0vLzDR
W//vf4F/voaxbEibVSvnv/1PMxM2LwIMpxBBTvbgizFBp5tDJf/NLWz+tmi1UWdROAgBj8/E7ix/
syebHLnukqdOMIr2Wncmm0N92YKmfJiLp8pLznNpra15+pqJKxjQ4ZyVkYcr7hPXTy2Itt4wYPKM
MY85XT1tyecFnjhfMcsSr7PEelAnUb5iRrFnJ4r/0fIUds+p+ZXSDP/9W/b788GgGxQId6VteLe6
6jbO+dMjr2zGAwMLnqDh2oHBweTBWcDkQeHR/s2n809vGxOt28WHfsjxDOH+9nj8T0EtcweI5ZJp
O5Q74yFqy3xjdeHAINLw/s0PpRT8/Vv9x0RKUi5xskpBefbXlziZvTALYwqDMZ+eyPqq8GvQJ3vh
PL1ZTYVA1pi7KwERezA57MNKRExgQT7S6MYc1uMDtQ/bRpdAidC5MLfWfQ63ZkvW6TbvCfPowuQ9
NLv3CmJMgkh95bpZtwIubqIJxeQnp3kvshF7mez0i+dAZ29wsnvo80jLFjkDIX3RN60Rinu3Au+G
pusIxCbfyJm4Pi80tZVVFw9Dw/jgxqLmC3RdJGzakZvOdh8jBg5n5XzYtfoqMQCfS1Ugy2Pr/oa3
ZjhrNFIbkEORD+PTgB8NxhGuU7rNGXHR1zR5+r4ozUCokoDf8eZu/DJzr93asY1+tiBh4H3GhUjU
avFUMzxpsR/xOpM0Iv8UYlAgQoRJiRYVP6QQCZh7xLkb+E4ZZCqv3s05LnFzaYuT3aTZxZidEO9m
2vQBO1Hu3HYwf3UI5+7ZY3abxIgMpOkZ2gPPAOmnJob0fsgt9QMq6RQkkJfLFRLXOnceRZ1Uft/c
6EQ0XDCnVRMvB4wY9kMYj81aJksws7kH772r4lJtTaYXbFFYXKxu65d+MZHFoQjOpuGpGYdfOOTF
S2JW2cZSBBV77vhaxKwiGSFsuqEf70Ow2S9oJawHPIKCFX1dFfy3crpejwkJe8uHwlMvczS492MG
x7Gv4dzFQwRyiHQCZ21o/Xgmw2beGtjaL/3ogsnq+NiGliC5VRhH36xWPKhPYbfTG+iMHYFYb+ic
89cpsbZliiRqk6Sze6mqon7QsnwgDyeCJUdkSbP4XTouz3mk+gcrXIbn2kxBGWrt8qTFYb0FL5Sd
tLqJdkhDtGtGoXXCY06MKHIV32gKAqOUU5/gigxBBponGBBWf2gh/XrlVOJktqhAYz69nUqJB4mH
/LMd5fKZ3l7hpN+k5OF40cGkqupJN1BJuYzNm3C5JwC2A/mTTvvKyKqfYWjETxB/jFVjDQkFuGv4
bpMZd/iHld8jgEZsytC4miPxIJspPmVNpXy9XjADL235TYr5vNEQLt8VNfqOUri/aPTfS8hnRDYY
2D9Q0Sbzq+wwYeNERzWwoAiIrdlaDV1MYPGUQoNvo9e27l5reMKoh4XRfubw2F4iN3N22FBhj8JG
BIVdmms6n+7YFq3wUdk4u7Stid3Q0NGwHAOmTijzCyZX7T7ht/JrI+QPZ+WVE3beNUUz4SGwnIA/
FW1NOR3DbvxlieiQVzMu+9RziHbXrfkW380f0KL4cURbE4wz+3X40e4NVpkFRqW5j9awfHauqK45
ovuzGDgV+A4q37aScZ8X4qJq3XoY4oLPxBwqhv4QH1m+sNPyjD7exN5EFoFnrWezqo/yhqAgCBg0
+hKna9jj8XOPmYl/B2BXx6kWiKrp1ovgdMQzvHBBILHDLpV+dEM5HMdITKdEhfmDWKoJHqdGpC5S
azxb6ZaUhPeGDShJ7mlJVjjCzV6HKD16oz9rRXoCm03ovDabP60pRZTuNima2Fj3kyxCWqIV7OdC
WjvYTYX9YoUN0FYrSnFq4ZU2ZHa+OWquUbgcICmsB6vbqyx9CqHQ8orr7MHSZ3S4S2J+6cSLXusx
pdJ3J0Jx085ks4nvN/Xn1jm3Jr6pso7VrpmtR3Q4a1HaJu67cGQ/NWxLVaNhbc3PcmwOMfTZnHxi
MmVwOZWjvQVXYW5bTX+sstrv4nm8L8UYHqehuuGj9Lp761VhwFFmsfMjoj0bSTIqiCFIic+AD9Ae
+tsm1ixgbndZdBoUQUu9ORnreLKUuZYVumGtYds7EFaB7bor7Q3+VrAWU3hH2YH4I02zQ2Vp44Vs
12aT6GDFoJ7WdwK/1NV2moc4MxhRIb74wBtQfahWz7ZGKJOXsHRtQCl2ckRRb73xW1dBN2TiVMJa
3gLvUtvYqeMPD0rYXYP0mnhmbs6WSSPfi9rbjYgx13Wf0g6CKvK7iMiO2hLQ0RaBdqfN9HuiSQa2
UxzeYLwfWoMxPnMEwo2W7sntiYfujLi+mFilrk6UuYe6zZeDVDK9JXItAf7Y8LVU3vJG8ni99szc
uLKXa7Yl49b9zdO+tds++eGCIiTxh00Yfgb5RkyPvk9ir7pLrYjrNl4uOuxcf8b6fmGyA1aDV3uc
okUc+pGZPNtAEcThqD+Zepw85ElvsbGZ3KONjy7QvTS6HxkHBjq5widkz1+Yc9OnWMA1SGz2Kjyi
QTN0n24hYMHl1Ivsdm6nixfHKIHymrpfSWfZd7YV4E+9q4ezuKHziG2HToL/Nqpnt18bLKICDefr
vcWAH6F8Ir5E0hRv8kZiwnn3soS2YM0FnLps+nEriLXxcED06Va3PTartlOwSm4czjC73YB7vMlb
024ttbZ51MQIA3pWuTduZC3ifQO6l329bbNqaCpf2QUPfti3Wu0j4bL3uEzVvnR1wA69vLj8/dUw
a9oD7Jv8Hp/Nl9OZRqBnrUUFnLflI5qxk9ZZO7Idv0u3vYsyFV0EphefbE6wilOc7kfcJk8RMmmi
DhBEMY6676I6GMk+oFALNzACEUcZBggeTD3eeTK84dxD8ni+ObwN4i+Rb3l2CTxRIg48gRYKX2Qr
jWtR9PoNulnfWVE03yNR6r46wQx3NTagR6aSX0bTbfELyKhHDEdc3mVJkgZmzN8zQlcDXlO2Bu6g
Wt+EAt/winNh+SARSx6LsSMwA11ZiXVHlte6lOU+blKEMxO0oVVqafUBVfa4xQfGOgKYoPGshdQk
TOQ9xu6C+3pk/AOU0gn1rT3VNlfl0IRPdm2wqDNwX646vDvbpSG1mjqzIcupiU21SmCrvFQCFlIL
oj7yscH1eGXiOAyDdCDBbtVUqXfK4mzcmJk2+RbNEFq8UBPvUcMVJOswf3fMQW4xbjDvzgi6WU0T
2jwwPEztU7bTiEcU2/Cx1hpg0I2mznPGgNIHWVmf6yXu7tMxvQIZ/rRl+joU9rCJ48W8a8ks2g2D
ehvgha3xczQ3inW7GyxVBWaBesG9XTe6SSTAymtVcxsRwTkrnMavCds4mlZrkPI+xLgJUnLiiI1n
fYDHeD/GaBIKy0+L3Ntwu7I+tIoKrO1SpgdtTuoXgjEOQ/gFAJ1MdvOpdccPA2Cnu0Q/BGselI4k
G0UaSrlRd3edXsq1rRfymMOx6BEZJoVf6QY8SYxx3qnA4uFLULu7ItcGg1EUS9HUZW9ODFz/qHVZ
xprBRelt1+ZwYrcXQbB1hPiA/uwma36F4dKEInrIvfkxnAtrR0pH+T7jHwJiPenWjtESJJU07B8V
K63tMldawPJD7hClRohuuPa+hsEdGb4aiABtcMsow+st32Qc3H1bYZ5Kp92oG9F7WfXg8g1C2pwq
wlkdeXdWmdUPTsbA5aYCbvyxS2pykMrpRUcPUNCrjBb2t4jdlAOb/GvG77egJHGSb/5OGeRtoWq/
WTSHi9VpY3utVKfdkaOQsqSMOqKnWJYFNqPWoDW94oiXWxPsziuJHSGWMJj1niPXrqy1kZgaZEzP
fYRMSsMgGRo+x2oBHtdL/cCIotq2LqC7vh88AlXQttqhejBAnRBiX371DB03s9XrH3yHzWCxpnCX
Da66YGIh+QNuK2Xw0FZ7lLPavR7fSFv63GIVjJvw3FJ8BKDlS2C7OW6w0E38BNLDoYjcZxzdd2bR
VZ8KR8VWR5b/aI9a9aiEpa0HpJEPScFx2hWe8+DB5/4Ri9y7gow0702phyv+k9HP21H4o4iq+HHA
5Qbi38iMAyt0E9qp5j0Dje+fZIbTxR/65CcHS36Kx2l+nvQlSf1EZsTMNl35YwJpzWuIs10cuYqE
N1Lgoek0DyN5UHdVWlt7BKL9KTGgcVeaGb1iXwzPtRmVfIGYvYBISg4FBdtr4RHTCUvTy7fUPLhQ
m9HWAreYEbWMECxvU4bkzGRwfMlsJoOzthR3FStGb+VUU/egd/iZiYtrl11JvXZw8t75NRmN2eDd
Llnq8qg+NG66AE7SJjwlQtIfxznd5C5rGcqucDjnmyZ1y11cTulr1xUtYAbI74GlszhYVQ3GJZ/i
PH0eDOH5wG6MwC40gtlkUdDYsLXUj008xifN0UsAU1W9G8OWzb1l1LSBcXvhmkw3LY4Yi29JEwED
AniBGqJ81sAewJSC39PUoLRVU/anTM4PMnQRfpFnOexqXoK2qt26/OZ/2s56snNKy2xBF7XyNOJt
6K1ccdVibEgSB2Zgs6G1140Xdc9GbzAw1XXqO/7v5ie2jTkY1WieDRjBtPcUPKew1cYPEYckIwmt
bIPQEARdVaU9JawP456IUItiV1MLWvjKhlLcRgukLpCkMOVnhIB6YW251JftLJ1il1mabr0UYdh9
E5eR01ozOSzvTBaNNlAgbJQHb8GAuFKhIRcfRxl6ayppTTvrwuldRGAOUO9ZiLehmAvUW64FHsq6
2Y6SZlkVOFFcVrINa2elRO0G9JnTuUfqxFEAmXNmUZ148QacfQ1cbqS4lcqtg6VrF/PIeI8wNIcY
psBxK3I8xdRo+7kRFSE4XvdM0C26PKBWq6mR9GmaO3+r2lMFY2B7ulMEjHwKox436Pi5IjHCc/zr
02gdC1moV7O0u29iOJ17XQnti5fevA/h1BFPGtb9HVchxwCfjV0GCwkT7Um40XLqKsetiVNU+WaE
lnVkGhZxnoMUxI5uEVvXQAs4JyOEjYrMmh+0lrSLcmrcT5JLMqbrHNyvjeF6pIBZE2GysUtoCiTx
ZuVNTv3eNV7l57UdvrFS4ns15gmNXlI93kDaR3giUbbRXOsTx2VgTcBO7R48X808c5uO6i7LCEpU
ihHYqiSt9JosMOTmYe43ll5HB0LZjHMmMo3BBw5GFCBj2W2WUvX7pSDlt9YSnIEFXLhXK3XGXcr1
9RJlJBpxwscOzO3J6O5alWYf+AyNW65jv+OrGh0aICGXuks12ISQzV0Cq244ln7uwxJ9xgLqDPM2
tyTpFfcpcse3iW740ySZEYq5iohimX91xvir7bRnnRaAqJfE2FsGtBa3suyNPXGEVqIcXlqgMneu
V3tHoliTX6MsbgiIKllOTLa4GQoKaxQJpkTOAmknQGzQrdVca7+goYcIOqT1DXUGnMbtR0Bqcqbe
u86EUonAMUc9w9KZ0No7rDOXlW4hyKhBm8Mk48VVS0gLrl5E2wLby9T0mWiQJtejO/fnOZSXMe7F
fc8ZLHhZoZ/0MzpQL0PiN/YN0pTJ7ld8O951/isOGgRxC3+RGWyoBeMKRwRRdov64Q7M4TAoF/a7
bN3prDdIPjpe+p3LNYxkpez37LhIxCoL64XbaW1rMVKZNFzESTMQg1DLID0EZ+A3hrqPy6I5eA5Y
/7Bv6q8lnxm3FYO2DWt6XY2YL6Kip56YAIJHiUQY+B5ohth3lLTRquaymjBdcCX3mTlvnVZp20rv
crRyeAJX0WDWoJG1cqMDbNxX0sSZzklnPNYu6DFGGannT6kLc1ZL5z3uyGsRtvHFMJkLehqCKekM
eILCYd0DCAoI1KsiQM3VAm5lIO5QmTZLV3fiiY29QzV6b5NmyZdYkSGVQQ1cZ64yGM0Wsy+4e+9g
+lv37jjAm6dceRsNJz0UAhMmxUEdmPM4rROsGit8nNP9PLkZohtdWwLPitnWlfRXD3KhK7bHaTy0
0kt+Rq3iAs7h6ViCNVqWROVz4YjsKYoGddW0SL6wr69oiZKQzGR7IC/JjfBx506KGZDwU/fFvXGe
rTo3H0lg8+hnbyJwu6/3hkKhU1uEDLVTi6q5ycYSfTSPimffkscmaskt1zTykUSi5dMQS8W+F9sR
5dYy/uAYbXraXyC5Gw9PsVrBne73bKFdtV66pi42XSKHaw9Se5dT3iMTYzyCxBXpUbTyxKQ9JPmS
nhq0arhQCzLaqhb70ySc42wTJjUB69m4jUp9MXb0QF3u+G2Y1heAfhfSl6xnYw5XZWv+SCrnw8s9
/MMV0j0whiMm3lgVkLZbZ90v+b0zhGIXofO7kjBhYdGy3DsCHfP7pMueyhheiJGP8XeD2eBRtrb9
NJDZsk8oQQKtIWbYnDIOaWe6TsWk74ZcZKeZmxQ5dRl0UYqLSlPRo6OwcHZ966DVZsrMQNfCBGsT
++YQrzx0FeqbiTPfbfWDjrF7O4fFnpwkuR1sHqM07r97upWvRelrZPTzGvBpu56FkvjO6lWW1MUe
7w0embbM8MOQOpKHsq94wq0oUJaK4bYA42MfazUlnzG7rgAyyU+7K9Qhmibr7MISQKFKgE2NeJmU
CeZPWzvUhw1OXw1BcG+6gSnOzc1u2vRZDZ1KdMMmBeGCY5zVch3oTX5wW9QitRZ4aXkagbG841n/
Igg42g7abOyXEnQoVEXnYdDbddU5R1P1O4140FUFGejQgnRg9luxOyi2VZw+VASLfMa1mm45ChBs
MNYwzh8XBHzGc+aRfVzrcs3iYX0L1lxF41DvrTY5RGVq00vM+ZfVA0nNrPaHUtERgjC4kCipKqAh
Jp4ndvsm14EmNrWgBQLxtZfm0mFd8hqccT1G9BWlhzwIbUYMCEF1RTK6XFU4BQPXgDAY3toJAcX3
R+l6zgHwqe1blUPTPsybiDPX12WUjX6eiE84YvYjsUMEH0WxGbfkJprOxl7SfpcvS20za6niO6El
ILqswhDv7Who0UfIv+Dr2dYALC3PeLJsZKbtNDJty5YxyPje1mt66QDz2+JtWFAwyoBU/RBqdvhI
wCoh7oNXeVvpmntPWH7kkifWCDNhgTlO04KiVSUfoQTbSefLI9UmRpU+kROesnI0rNj7iBKk89BF
LbnWm1gLD05Cf7KOMseY3j0vzR68SAprzzo7JeRpYD/CgjY95mJUkGDneT01JjNRB2oSwE/knYSe
385TYF5QFZJrOo3Z49DbnLacGyQlpMQwraawRMToJI58h7I0fCyVKb4ySQ5sa3sD+BGPurmjrwNY
M+cbpXqTHJjF6HcE2JZkn/FR0wyOdIthjbrE1do3BsVtgIS1ZYXZyzvpCGb4GlFlMIA4rfKTo1cz
/W9ztlJz3xWgB/S85RedzoL7HfTXGZzsoUt7Dc/ptOgrOyI0VlCQ3PPExe9hkzZ0xM0KYb9+lIvx
1Qq8ZJjy6x18uITtElrGIoVCXng/xmi8imZ+I2dkRrQNCdlPIcPsZ8IeIzfqt3bZVidiELy10/Kg
F1jd0IwiaJbkE165u6HwuBlTsjSvsbkRRCM3vWYTJJGrsfilRpxqrW11YDRjYkljC7hRSM9kjzoq
ExSL69rrJvJ1yv45GmrCqxOLIXUumlOKgAHv6n1naSRRzdLwDdAKwIWrMHyjXyj0AFVa40tS2IHo
Wf2PBO8MynxnmQ+q74hpHUmyovBNWAs3BA5pePY48m7EEWAPaeTtFt0YfIgHlsn5U0Atykvx2Ewk
wZFtB31S11iOiPS9iwDgLHgIV8xW5/ukEq1vhrN6WyRdW7FmlcVkA1tmcnba4m2aDOtGPyBzsOut
5QcpC9luoDq+RxPpvC2NMhh+sdajJFIELUPW0e/nXNNvxg3eBvRgGkFo0IHPFqOhn/SmdCEqJXl7
jEoGFbx/vJNaLI0gFEb+TAuX+F1LOM9irlHA6wfbQzsdQ958Lvpm1w71BOx5eukx+fIORs8oMre1
4cpdzi4J3kXbrfVlaWNftMTSVql2tiJWipwryXNfyRzFSE1nMvKgrXJHb79LlZzqRmYrG92vNFvQ
+nkVOADB1jaD/LVyEybwcR0QajMS+XrDKuLwjTbeUpj0+KhhHN8Wyac5mKJG1FhPu4L+800nUhoc
lt3guTKbrzJjHuvPoGOfp4QEshXQvPExF4Y5rxujz3ZZmNE1KCWPMnYLkiGdjtBKhnXeWrcjxe+F
uHksneghbrJTLwcqi7FO7ticsHIwi3w3t15e+K1OiiX60kld1ZyUO4RnU+ebhDeDXNKhLZUAIqhW
0vQNy2zyUxmtQb6AYT46dTgyJ57r5CCUzREm5HjpM9ZmoxnSyOG8PcAjqWmZQPHtW6zOoFvFlJ0m
6pi7cQkjzF9dbbNNi4kLX5Fwzpe9103bn3recng1w0vWKcLNXOUGiTO228k1CNH1AE9IkkhWUyy2
oqOCQvnem/d0cPDrWraKpPw26qGsvzoQJb8gdgNzkYN2zG4V76TM5IperzpZ3jgQcJWnlxSg7I6v
knXxGAe92LEpA9fTgPaOqqTfEyDaVGcSEwrCyk5Tzi2yt4/onMhalgAlw7CZDpy483qkltsMnNJb
xwJfslTtbTPWhMZrzrjhLmQL5NeZFwPhs5zrAELqPjMq8dPwpCQFT4FoSLJ0tvzBFtoqnm7hiPEw
AbbsLV+PSUWsM61/gxQkHg2ezwfMRjxKkdUzd1DVldjPblWxh1pz83R+yiHLgGq093oDm2hVwir3
wWkVhIbV2XbonB7BOGcdlmIW+hO4FUnEWsorLrQhJk67JEUbCzfoE1nFP210tO9idJPzYhKCyzqR
+CeEiqsqtQhYkd64NvUIS26W35xR1nKINZcrJ6pGPp2patwPbdLeIYz+ikZgAMKzLjxQTOuZJuGg
79NLrBnF4A9pe+scyAueT55idb2t6XqHbcXhCfun7cabnaehfLQYmU6FG+8B0kTPstG75XYRjboP
Y2iZYTxKiWRAeccSGulOyKL9aaIHt5i5h9Lqz41WkISiz3JNxtDYruHFI5+J+yR8iBgWPfJ0Ja9Z
WRtvk2mBIZagVSJNRJuwCtWZmN583ciB/jJcSObuc0N/Q3XZP2cKHJjtFmCaUmW4+xiqDZp2J/rl
Rcr165A8Uc9Ry2MD1edIelWx4bbIA0dCZoW3jhVe6aPJ+gXbBl0ynkurbA5aSvdlRsAYBHy+vdZ7
fXe7Q6y1yt1l09mjOjFo6fcqzrSPLIqcF6uj0C5pknadBh9+cMB+zUmabIye7F1zHr6A4Zv7ZDJh
b0qTfDDc6skxVNN84YnMKant9r1yxvQnjnhm6XGkHqU0Meks9Du1v7A+RsHgMzVeoW/knxlTkqcl
CjG3stxwZ1xIffdozEV3srMKNb3uluMd6aCEu0N3xvBNr7VrEkA/vcr0y2LFwGQ1pzB2nhED4nJ6
NCoGKYTSS+VTOFrmf7F3HsuVI9mW/ZceN9IAOOAODHrwrhYk76UmYwJjKIfW+ut7ITKzOjKyXj0r
szfptp6VyCR5SYjj++y99l1YFgwiMPQXwubA/cytV4Lh2RfenD6H5A7dysBCNTfFrVEYzyo3vgms
nU9ZaVTEMJxgB2IiWqbaol87EQV2Rt1fpk6rJzEm/YMx0X8dx/cDUuvOduLujdL65upaYnwz4GVs
Y4woZ1FE3rqDVvrGY+VNJqm4nYxlPhiy5E4kjn3O08bcpzrMrrqNknXg9snXvg+aXTXQd1JnfcRR
xeTpgMEKrAS0h3VV2jCusH9QZq6aat/X3vye6Yp8LJxK+0smFqRkU5rGKmVOPseRqzc5aJFD5UAp
aKSa17rs7HXlLNaIvKMzWejymJUS3Ue2+1qo7lQOFOeG0rLeXD+FjunxUxGnoz/+HrE1OvczBdBo
tjFfVY27ojSTo+5ScS1V1Wwz37c2NPl6Z3CMmGLz70AYd4SD8YEG9IcxRkNgm5YkFVhFKpqWdFUl
UY2lp9+9MPyKS+mbh9q61myxI2Ja45LXqpbkVllRJyeTAvyssc8hwK0ySAllMhF5zvobXeubQRUv
IwlTb5zVZoQ/tjKsyWRvHG65Zded5Wz6SFnHtF8K9awDjiHaZyjnABsL5XwgSOWyFWpXw8giC5Ia
6m9jkhgyDjAxTqlwDpQk0eiA+j1Zko0QX/LQeGO8c6D/0CQ7Rxwmuy7+pEDc7Ayl41tPRckjcQ/5
5OacGIs5QgrPoHD+z/+TyVRJqz+MMHRuOQKbu9nTyT6n3fn5hznvvyHm8eVn6s7/RdSBhWv9k0Fx
of38QfFZcEL/63/8R9N8ZD/HQH7/F/4A8MDSsYRNgyYedgmA+2cAD0s4vrZ0HNOxf/w/f2ZA1G+E
MzhQKrnE+T2BPfDPDIjzGzABFx+7hSsN77X172RA5BJB+ck+jM2WjATfCaAP9B2+1y8GRxggA458
lt20DRBCNkcDbn6HpZtdPGCNfO0Vc3r1ooDkIj5aL1/3gD3h/7dxma1DPKsNCF1T1ZuZPd6ONTsp
WJGRSziMRheQkJsc4+BxhNsSaXG+cWwTA4k8FZ0cN+1SxLylgMHvoyMGo23s5s3ViXL73m8sSW/l
JLGHGfnNaPvRkUF9vO1s59FzymbNb3Dam6VVb4rCbm/jhn4/OidjZ4i3LnBHNjFrVXbdZq4J5eIQ
xUzfkumeaw/s8ZTgO0o6eyvcDvBk5d8GHD7ueqPR0HdAClhRdAb7hf3VoM9vxjWxQz/6WoJGwsTY
fMkz2K1Jifm0bWjV6MZgOjLhtfczKh8redz5Ps8dLDyI2LnVfqjR8Jh2TdAFXcnE6fM9vUh+o9TD
og9i/Dp3HYCGceIQEBt3suJGjufPcDiPhhabNgtex4pKnSq94QSPCbA7ZQ7uzdBkj6Uq44sD1GcX
jOIr7Y37xqFGIJETihV5cXsQT9oPe0hu8bx1k6VyWXNspgLzlX3FSNZVvUEzuIlrC+VTbYZmqNdR
NwK505W38TqjPzOn1xj2rVOWFdN+ipz9aOC+gpR1TeqSxdE8NtnW0RntAqXzeRqMH4qteT8LafOG
c2lcrJ3uU9bYGW4e2esvdsBqOIxHvkIneORag/OlrhGK067yLlmm1VmMcvpe+y2uDYdD64q1+3xm
qh5u6jC5mFa5hP+hkCZTSTXKsn9lJYrNKErbr2XCNsrwjAer8k/ESbM1Nk2C1bNRiwuNw8GBstNr
UlCZMsj5wQuL+0SZbHEHdZ2zaDhC2o3OUdXS72kmgX0lU1st1O0v4KfHnWeknzIyHreNkkfDTmcg
URR0PjBvu7gVqpieOpbglaTYk3PXNh8FTE0nn85toi6W4bgPrW4a64YxHLujGeYWad/JiAQY9STD
dJQBxSSiO2hjy6aYmTbu+bDLyob7LpadT8V1B1l768xBZtIpE0s+MG2cD7Xn4RqMBeQFXkhs1Dep
nE1z3fUVacSSFTM99gqLwWaew4g2T6sIFNS5gLFIxxZoyc7IQ1iIuu71jeFEWXvoLL9s16GdNKy9
EicqX40krtHkYPu3M63mHo4PtdQZ2T2T1p0bxmRLPdLI05mS+XTYeSB1CIjndU0eG9t9cUzwEhff
yySaQVzQ1rsgSmAQwgyi4H01UbHusNn3cStOPt6ste5Nt9iHQpKShWMPfaK1zSjEYWF4zdfC7kOo
p2y8ejwOdP3iMPLdT6atp9d84I7x2zi41rr2pg0JbTxLqBhhcUDlTeFI9rQmryU0TV7SBQVZiB4p
vyyVGKu6d7YUJevnJDa5Q1ritXbESTGJ8+yxiXX7bQg4dW6icBhwxLPrSa6yiLN4N8ME8bYZHi19
xyafv74DmHCv+9Fut3bAbLg2pTfD5ddGiRzRITccZVW36ZeqNrpo56uEIm078wIsG701f+S+YmAZ
u/CBZgUTHiAIFZ4pyabFSsgHBaveHadgRO6tQKKllODAN7I/JTIKb3PfaT8GDtn4pcKxuu0KzJCr
0JvjYzbK+cNzKYQJSfqbsnmKW/UUtrSX5fG4aXI2SZ47VLs5CdN7EVs89iItdzrP20dHqWJHXsd7
1xQtEc9unfmTRVptQIFfTv35SwB7v4TlYGD2XWV1354lX7deydZEdeQRijn8pmXVJfa+EfAb7bFf
r6UeoPyn1O5cpjq1tkY4Bt1eD+jVm0KxJt7aeZ4OZ57aL30LsXAHobB9JEKfiocgreDGpkp5GMUb
eaazHkbGVLfm+OCmESaZlJzvpkcBCx9TZYVfDWpsXJgFdDtuvNqBfoVo1uN8nNuafuZRzUsHeoNE
rkmmU9N9wG/8eQxjVkaSa5l8soawa+tyXtw+8brGmn5tqXW7OEaOWEaq/tYT3f3E4v4InTK+9yQi
PBBsVv+zqW4MAk7vzeiW96VhArPsJ99/Ih0/3U9BnaXX3i+KzzmFHoeOleAx6DPFuh2c5IcMIuse
WFjNgar1L2MLL3nVWrH3Wdte95pyyq82de5GclVDS+VU0Arvu5fO1U05dcN33OcDPQPAcylzNipF
EBG2zxq+IBk2heuZXrElcraODdD6Sd/Lh6Kw5GuGZADyLIKH4dOhmEK+rUaeCrjfDGQmQJ8gZNdQ
kfNvWFeL770yhjekC6idlRP6G+nSTQySp0UPjVBVL0YRiVudNkYGHL90nthyVNlNXo6UmiFdODQC
4VaOt74Zem8KUoK3BqY37mG2FPZJWonzteBYhYnI9p5Mihxu8qiNMLa0gXpOa8v9NHe8QVhY85BU
2aTfZG+Y9/ZocYxM2VfeFhNymmcreQAeJ7aWdq1zyAn72Dt20uNpwrfiEh41eEYUdbLz6hrP2EwH
IMV//tw8jyHVVVRyZoituuE8LmEL1bcZ9QkQMXWWDzwlK8AhNdSidWfOU7oNiV6cmnbs7N0sROPe
13GfviFQctEVWgs6CTgsCTRRXxFLzbGPHGGftsHRwKZUH0xnYetVPzh7vWsb08WVQWjfG2yCptX4
g8tHuI6FeSOoOt6UIR+dvdvC8cuMBIxZ5EEQ3Gtg3vomyukAXvcLAtD6QQMkq+GaN0NMYxh+0oUY
WOLPJaUARXCOjYldWBW55UuQuesxc/N1nMbkGBcIYZ5wy7Po9NeDJfvbRFnACtvKf8JfJu9jJhcS
SQHPfTlWEeQlUIe+y3a6XPCHvM+yC06ZjLRNQ1B0wSQSXC9SUMPNfNMEDuaFHAH7HAmEVzIWP0iL
+Cq/jAhB1E8tKMYOJmNDi9YGefPBXHCNdRMF2xaU36oBAPPmWVhZskXQiZuqXSeYKbDJlFI/OT9Y
kEw3NCAsgEjaKFBP6h/cSMLdMCTlD54kSBZWjJw7nfa6ED0uXoPelC4YSmdYiJTpDzpl8Tup8ndq
5QKwNDxQlpPVYxUDX6D01p+67nEU8cAmjwLVE/5J/ZXXHA/LoB7ccdXDfNSHNDLR7Dl/fIAU8M+T
Y6bX2SmuFfGffRN11ir1Szgy+ezCOSy9Td65Z7AfYpvb7ZOWUYJPNA/Og+HOH7ww4F8pO/1aUlq+
r5KKUgx8EMnRauuAol5HVV81ujiIETc4arotWHVkvKDKMVQ4G6CJ46NtOI5jycVpHQleBPthXNr3
3JBwSMOy2OfgO86XxGnqddVOxZeymb6w+kzoqrPwqyEKYtPYdSL1A6gdGbaCnw5n/yQf/tfA3d9P
PEv06qf0mBi73CyKdjzSOsYaW7hNfcpTI376978NWVGf8LtElXJ/yb33c5azQDGGoxpBIlF1o2Pq
glA0/ouP89e0+/Jxlr8vETVhciLkv/714wDutFvPd7vj3OXdR7y84WU7cyLQk0fufTSS6Fvaz5A2
nDazvf/iu9t/Dar9/u0VuXCHNDCn218/ZjTohMiEaI8g9stduAwCtpex8FyGg35o0nuvEtUuKZzp
PZkKcmJME73pP81MF86PMYP283QZPHIYLPt5vBIoL45SAF4/maZuscvNkHhw6kXphd0Lj6pCgdku
Y0wDUEN+r+lFfIDp+08uj79/IE7CJlFffrGEan+UXP10eYDgCVVasGKmfKGJVxXWC2oAimggUgRz
jXe8Tj1x/NcXy9+/qYA/5ViWx2RK2c0v12QdUC/ZJz4RkEjPN0IJZun23az1KVJTBQH4H5iKf/IJ
/xqfXP5kfDPKnPmAfCXHWSSBnz6hxkUGAyVrj8McGVsX/NSYGLvMHNv/4lP9/U4TXJYuqUmFyEFU
/K/fCGsq+cwqyo9Rl9nthVRLwIszt9zu8K8/kfVPfn+UoXGKZEwET6x+SQzrJHJiFvvpsXUseQ5x
7YDtpnflBvVDdJuEXHez9+doqcYMh+ZCbg7om2e5iJ2MfN2P6Q/blcYn3gUzm6plPqx/zIr/+kf9
2++ERRWXlo+ww6/F/ZVAoA1HY3/2InIfoamOJaYMmH8jh6V/+/tQbLggJRYliXzzX3/3sgrp5tGk
cfOAwwB1BHZOAwvdTr8nwv+75b7/51CklrQcD3YLct4/7r2/KYOn8KNOQgCkP6uDP/2bv0uEHmqf
C7fRVz4yIaQLrt7h29Lq5wkK+kzHWe4i/0fj9Z8Cofub7ZHepZtdAM6WLjfEnwKh9ZuvuMR8ri4C
31L+W5AY9cutpRDvhUckxTP5cg6y2S+PJjMzYx0YEwWsljPX67RjmsaVj2GEnJXboVq4gXxt9GSm
bMYlNFDaT2iNoF2XRGzT2A7gxxIj1WAyR2Ofp4SpTZnrvbFrd9YQtg8F3nEQIgXkSjcjjVpOaXQI
yf+d+YGyTeYUw2HwOzncTq43jDeyMOtziUcjIkPYaeKrUoTRJk1jFWKfU4295d2QPuCCc6fVnE3T
hC9iFvaWitScGikVzgJtLeK93GkXhJUXx0hzPsG3QwI876Hv3OpAfkCRlBjzN6p9R3/dBVb3lQ8H
QN9rYGdJLbonRXCCQd5AOGEhaAX7wS0heMIdxgUG9k2QPETowuhdcTyGPwLjqRmD6C5qLfgQFNU4
2UYrWJQnOwkErR808CVwPpOA8h7QG+bBwbROfx9HUbUYVCT4lTA3PhWoIj6ZuCm6oTQs/qiYxG4a
myPAisFURecRk/+88dKpzYGaqFqSZiNBvSrw9r7poejeUzsZnJXs2uKbPRvie0jUylgbWI1Yw0UT
VkU0C8KlflOxN/cnqsDKMTlYhj1cjdno72NRZ19EFrIwTuKQzpGpGoy3pnImY4NZia2Yw17lathu
UG5sR6ds6uiWogiEypanQqQ9ltfWbOu1Q3q3WC+Z4e+yNMHsIcam77NqRbDrDDScVaBmzphRjTgW
Ek6Gv6GSmakeCN7ZIuy0s8q839h1U13LySivYV/XB9EW1UMYe+ZdBWXbYJSIM+Qz3llb9tHlh8lh
646GKtGtpwpPR4HWczKgjG/BFZHVG8tm00ReX9JhkE/71qF9pXDhkYY6IaI7kQ82dQ5CnpzOy1gW
0Svhc/aFYvaGtQcn8y0L2vnRKsbxmmsAYk479lDd/OESW14Ct4ukITak5LYjObXr+Fp7lWIoCyz8
UU3Teuzkc9pSGn6kYa4xq+LYujU6TYgiqIOTZbXFwc5Cf5cLme9dM8xeasspMdWKZykcyrWlPWKf
IoTVn3ub22DlZxGnzmFIHvweO1cU8kmHzvQ2kRc1Z7js5gY22PRc6pyATdeNJ9GSdQ3V3K8rVKEJ
0az21xYth7jTbFpqLdea7wWi3wYf8HjhWhd7EtxUv4WYqL972JDvWVZDfOxc63HWw/wCmE4eUgRI
qtDjSsGqh6T5koY0PKNcly8JzpXvXVjHLwpjMNiR7uDgUbjEZhANSAlQFCc7q94rxoz7HCH8Y/AD
iJ3wZPxHO+rwPYUcj9Zx1rkR9MQpTVZjLOItTvCZJhJpfwwz8uSqNBrn2bYrfXF6mtLx3GWfRx2r
i1cL+SlmObINMzdAI4IvT9uYQjQuMYtHWZF+VQ0ENeIgpo2R0HCnS6xywt++CS/QjsjcLxfCk5jV
/J1Ny0BJyWCmz3NlqvspG6+qQMVYjWGb1Wu2NAOfE88pbhnPehdChwbu0DEH2pqmwR1TeHeaeEY8
BGOkv9HNNdIb2Y/TK6CotF01PJoPAsUD2rAIIMvVxRzzlxdgh5rEBh/g55ZNgwHMeTL8+qHOdP4h
a4e7nygGfkivTK8mrhcbt1heE8ryxhvX1lQx0mxHiqls8RYQQuWoR2LE9syawAXXQF1P1U47ttmS
fXJQyUyX/XydUja5ya0OjW3yqBxFDuoYugSNT2SNKSeRhKzXXms3D9pOgVPQrFyscOM3jzHFnVvJ
IeBokjA/C5kGDzp1nPcA++sJXkTwyRiaR7PMxptYdwgXpTnF98Tbk4waJ2SkvpltGFNCd8dkJO67
grdvHwlkihuZeO1tWiUhSTzph0QURv+OtQ7w0Xg2sIUVoFLvBwnA72BHbfsYmFH6FBIX/2THcOn7
nrUEJjkTT1o8nCLHlzep3WenKOkySq863FhJMvqXLJ/wXRaje0Imp5mWYjVAoJybmbvbppXGzosQ
TNaD9KtbbgX7WYZNca+rGO9F28vTBD/wYySl8WHQ+bKHj8/PPAjIvlbbwp4tIvuptyJvOzvww7wq
9NhR1+UXwozDh1/GM7g/4bbeOjFAppA0GOoDPXUx2bY2xa5l5d+DBvVqtUwbBxpfBNljYUwbG1zR
sQ3G4iYeErErOAYhQ4qIRdPgUgGP+fwYhn1ybyjHkOva9LJyF40J71uv9Ks7HxUcTDaYL3DVcFU/
DJEGZDmxpD2EbK6+i548wMVKMJBx3TkoakOm8tuAQX6Xd/ha62yKebPXTX2fFwpdoClIluLGVQ7K
DK+6nAwNL69eJndNM+qdCrPiFLokaVYOps6vKhvQy3F0DZgABEBp350Gf2eTuXiWKo1eeGcnEYDh
skUC9Iv+E0En90z7abnnoOs/+yEOckvVP5ag2EvWid0tBrNgJpfdN/kTxhhClFXb0MpXEck9hxDk
XvEr0Kw7uvURkZjsK3n34tQ3Q3XG32c/sBGyT44fJrugMY215WH7mQkxXue84Rfi89BdGaptX12/
guWEGezVHGoJtaXKjw0dOzhHvfzBDyrnRtXChuIhG/na2jXGv5YKQ3/lagd9BsyDvI3CMLqjlCt5
LXxL3jKwVc4+qPKOgtzGT2/Qmbx3DkYjZh75ZjosDicJOgq0FZezduaNX/8uvybHUGbpCCqkZDeQ
Q6d4jrHH5NuSLOU+xHv1nmtzeLF5dHJkt+vy7IeWvw1btk4rbEn0ZWKcPZEuYjcxgfO2WxLeSCS7
iPBvtaK1ASRANPSfJsL5MY40Ym2pUMm7BzajxUksvEMdmN6dmLrQ3lSW2X8L3MbfdiMiO4PR1iwj
VoCi+cij0jsMA5d/1ybu2Wq9JwftfD9gabRUX77WdGCgI9aUe6ieiDedrq7JOhOFirtfp48Rl8lr
NZr0agX9fIgGo8+27M+jB3v2+/HUGZCq1+gErd7mwnbe/KadPpe4ryP8dxGF1kPq81SPs6DpDjPN
dOGaNiL4ohprzZo/M7IwdmvC0l2ZvkeVHPgl+n2/muD0qH0Q29Z6Djug11POneoTBdoUk2GwVIqe
UlOrq46c4CkyY0VSSdCc1TlDt7HigmREaRbGt9LNzCdqOMQhTidevYWud/BWnHUa9eJpYPewFGXM
Dv94BruuyUzzhmCvsx2ymnIXn8S5ysPsiM01XyvKZq6N15YbQ1p3KousO0RM6vZqc7hn8RXdJHNq
7RKyiyFCHu9YfN02SThVDWrTo8rvusyP76xxrG80+cRkazSwBw50T7a39cywiBDuyhcXKzMhQKh5
yNwTCvQZS3H70ulaehsxOvoFrxE+I5IOD6UabCoZO6ZEQqh5SuzfwEK5cpF4nmMQ4neQ9MMrRkKy
VK6eJiC60zifvLqv3hppyWdiCtONTBVGOifv5UsjC/eeh50F8rUyw3duYHNHwD9nhDYIl3PP5I9q
HvVtmbg1T9S2sDf+XHonmw/+3Zd9hh0Y9CHoCObNY04SnjayOfcbbPeYpQ9lRoUN3rgmJJ5dipyn
5mQZm65xA1xA1NywRDAz/kotev/a6RoVbRUVSjbJBMf4WIqLH3MdzMilzOybEgffhWbA7r0AzcA6
pZ/yW9gLWLA82a6JyDHiTNjAkaJl+t4kIye0EDtpdmny0GTpVmGQ3rghHhWCowEkJ6sf8YtjKsAV
MpaWw6TJpXwIett/DWiSDVa9CgBrJopLdZ119Adh8nUMGpjyiWyJnK3XpkHo2COte6Q6hwE6jK0j
qgy8bLrPinrqEAghVza1owtcV1k97QKzVUQmFXb4Taq5OC6tcDhypGnBxs4LrZmXXuoPvKumB+4Z
oAsst0eYZIQzap7+uKB7HNhZfh4hvb3yWHIfJGRBkE9Ug+f91IJtTpqEaWp+HWbN0swPwRPy+AVG
XBMAgAEF3l/+rpH+f4nkaSqxP318zaJ86Seqoy/tX4QOdzE7/efqCD0sIf0s1/rj67cm/Pu/+Yc6
Ag+Xt61yfReVG0X9H+qIkvw/1B1KKHB/iiB/6COW/5tFSYVCG2eRpFBA/1BHLPs3aS/NZnw5lHnk
mz9L3P4QTsEP/6dSsbVo6z+zF5dvwYRoodsgFLu/shfB5xq91cXtru400yilvN7TrIycsFDhywsN
e16zMayi2uH0LXaO2cbk0rEV/PRr+yeC7tLw9stPwo8B8oWSGRebGWjGX7YAptvLyJh8KgespnlJ
oFFvAukHxx4zDoG2yL8ZpWRYJ4VG6de6LADXQdPZWvHoHvifop1BvJPKxzD75IalucrDiPxKKqMI
o1DgXs12Co6z3dgbltHdXQjtCQ9I5SZbpzLs+7CpmSkrOz9C+qzXBlG2dj3qFBBMnZBoctW0zTV7
ztDshjdguMretZJ8VcwB8CwB9kwr3ybjGvPP08bSESSrAzl+FAYAqy527rJI4COTMQ6TmbDHB20O
6a3LVFlz09JCvRrN6jzyyItwdHwWouVxAersCe4Big/LXCzNQ3ON0gRfVBwmFP2igXxuldccEfbr
Czs762QWlr2RodcthKL2qqUICFPa09aMxYlu6cMYGYRIO6mfKbmFCRU7E0/22JJvFnrMmppM+zkc
CAZjxxBUAoiAqVvYsADg8/OPMGSoQG6KIawPDfLijTbEcOwhQRPETXf5RANl5VTdeWoNEGeAebYl
xuqt6qqFsI51czcxgm+D1pm2Gpf4k1uZ5caPFiCvhgCR5oP7RrA92NZTU29FbfLOacTMR6uuc8ID
NZPGcKszYFPdMBqv2FX6XezWwcHGqIh2ZEfbqqDcVsx1/7XKYsAcWZLfO5kngL1Lo7sdyqxmOhTO
xpL2rhnJ24QVPh/jzBEEOwi2sF1vqgsklBCBJyG0PtMrbWc5u3GCL1uVoHMkYuLQ2tB16YRTeqCp
eZMHM/DjONs2OJ6xPtEeEAaEdTo6CZhKooNg97sp27q6K5OkfQPm0WJiJQY5U6tMCNkwPqu5Grde
n093GfPUxh+4njjxkHXpmmRbsiBe/pP8qms2ksNY6tfZNijONqx+utUOmmBKf/29OQrr2mU0o5ul
MWON7sfNQB8xCeL8Ei1x/TCDHV/qtr1PU5cBfTk0Om0Qb6vZiFDc6CygrD26kn4gTUYUcUsNLaBR
0sIgd2wHlw3Ok5qG+XWv2pJja1m+pLkQ/DWZ+HIcKdvcz76LgR5Ca/Czp8CB7qCmWpFU4Kt3YSUP
/ejPNyOc5WPBQW+f5/SOiHyCWFpkip264fvbWpvemi5Y3pNaRIe6ZfpOUGzHvXLJVUP4q102rm7P
Gh9B+Q6yr9wY5agE3OMpO8S4r08UM9PWgxvvEjWGeGBIYEZo7sZynvfY4hYMpANRNEWEc3pp3Wov
pAku9dEJnIvZUd4dMgdoMyebbonoCymV8HumSRj4ECnXlj8HN5NFTeOsRPWmeeofRJfKU9335W2O
gnSc897F76zkhdSNua46F1Egd8SHXXrRScYQmtuh674w3FcPPJk9XOxF/cmuiCJZ9O+tfS2zcF1C
/MpXrqNlckTyXo9c/JjFVddNe7os0AdDHWNQpBaGUsEwIdEF/qWEKGYOOX22+K07SoU3YW3EO+BS
6JGF1yz1RjpcW3mt2o1dmUutStcLiqYEBfN9FLwIsM4Xh97beW27fkG+O1zO4H5kt+57ZnndvWEX
EvKd2dQvDegPdMJAX2RbZyc2AEAcRTjteKZN+wYe7mmYsvC9tPK+X1NFzn0d9hw7RuEnu7kccBrZ
JFbFTcikelIOwsxWlP63CX+7BlucV9uBEoOTlzbumxP5CxixyJxVv/hzc0/JfY77fl75sA++RwXu
ym0w1+13DBj01ODRf8tAWh1KKjzy0OCoNDTQf0xrxTmTrCKFIfQcpBZz4iR9ClzM2XlPVSIxpoe6
eHOyOj36MccE3xyo2h2IM0xZBowKWya+DlJ/4GarIL1a6AfWPgsGZzzKeOr9mzILrOQb+fOme7Di
zHkkSiHGXVsa5UfDrfARBHb+UqShAWRasgoPCl7QWwvSAXfvPDyXsUNxglEFzovu+7cEKMAZhWoM
zqaD3UnKYSZN1KIempEYBBoo179mzf2Qj16GIzjPGwriJ/ndmmz3gVdh4x0Hhdvlvm2a4tiCzXrs
6oqRwOpGuRGwZ9w7gqDVd501uGHCSMlXLFLiyzR40xHB3cVP28szLmXvm58pzh+BbcYHgx3lTRA7
tEyBx64eOVHJ23zB2idJqva9hQTi4NSi2SWQ1XvmyOrB4Wn9CGCjOsS5QQ9no22iz0noSfL93ngr
5kAcSATqrSLfuhucQK1Iv6mXhhHYu9DkibeoTx4Mv/fOsR0jWjsJ9ZPE4ss1ZKTKREyoo/fBjTvy
nDRyUW+d6lZsOdq7nyQgovwSz4BYtm2ULxJk6plb+i6h45BOsu4tmH88bg2SgoM7vKV1aT0LYxCP
OMizk2817s4WY3EJYKg/5yh0kDcbWruxaNWULXcDZ768RiYdSZxWeL/PlnI87OmeAcnRLvZWBas4
H+bim4pGe+f10MIw5AX9cz1aUBNxweU9RUPJeDclrKa3lB/YYjWHPcYlnUFdjS3O0oPWR+Sx8XOI
XW3DqSV81ajNt0robE2Sglhi5og1OxJ7Pfe8PzOyHgbMwSMBsvnStQu1gGY2YBd0SjOLeftxjOla
wDqeNZS7BNhQziA6EVtWdDLbEOfGeTg1RRyeGGeKzWRbcfjE2CCfnKYLxzUKbT7sCSNZ16TivDIA
jkdcISC0jmtRoy5VOzeeqHDCTDmt8WBtZGqq86CbaRsWgPg3eVM3b2UgoTbE7kSAzW53mFA1ryPB
FqFiS1JYKt0HxawvPcfsXetwjTph7d1IY0HY66VQkNyK8y00j2Odv2Ff/AhcmrNEcrLVW90PAqt3
H5BERVL5zHyJZGixO9rkEPRejXCqrmkNs04kaHCblJ3oHR3rct5PZifjTZP4ew9r8UYnCwMqcJ0D
/hnJdiPyNpQB9dVdQbfz2nM7C/g9XIIxMK3pCj7EhjVVzO6t9LP+GrqhQdGESONzBMLqqadvGHi+
ae7BSqTHuHHjax+Gotli3J++9YRU1VpTRfrqtbiPcggX0cYnWCDgzArJlsQSBQW5mUe/wZg3ZhwQ
1cW5SNCQ3LVHRx6IyHJoyGZm+uCOiCwzvqsdbt78JledeRcPqqIRq0teRhQO+0Qy3NjEg8VWwSfQ
mR5iL84Xhj4ytDW7Bz4yFu/eMg696K3PXaPF1Rnshrm6mcxHnjahy4Xb4aQMR1z9GBzxCAb9KdE+
GFeM51iYtww95V4HOfElF8nJ7lLjYx6Cttn3sjVOrD8/kH39C74tehiJeqXfulzpS8JTkbd/C6i4
Hh1ODx0brw0EifwWBZXpDYjZC6lr/8oLDgwU6tHZ9412R+CFIz4byFU8FsF3HMrpNsGOchndaKGw
KGztxaAsnqKl8WJI+GyQjVEfUMZyfOwoUltFOv0BjjIC1dja4g7tj84ufx4/3DgN7iee4ntbY9Gj
moGxzCJe1aXNt9ohmCI1jYRsVErenPp/c3cmu5EjbZZ9l1o3f9A4c1Ebp9Nn1zzGhlBICpLGeTby
6etQ1fV3Zg8FNFCbbuQyQxGQO2nD/e49N+LQuQgADhNUKw4F6WSeTb6hUM6ZG46gAMANu1bosNGA
uWxkWKSRe52TPHkRQ3vTGE6/6yjV3dNO0TFM43JzWdlIZydrmVw5Rj4cKu4YWx/kw1G37PnewuhO
QLsEk5s/O0bxTY3HbT960GlposW8TYcwY9wJ46bHzgTckgIeKohEv9zmTVN8Yn0ebitOX5ueU8Al
wXJ9IME2nVzxO0Nb7/vegq+bISiq+WBqVsJdCobGnMzFTrAhxRuSOnBx0zg+OCkZFzzumyo5Mgc9
JbNzacv4nC2pc43dWJwB/7V42c2JRHlt19tcjBpHxuLLm5pYbLpxeqp5mXZWGVeB4811oCOTbdGn
s/t45kQbtbA9vH6w7i1R0NCl12OI89jfupqXUgKYyvMwuzCwzaoVHEFhePMYog9iFw41Bf6lstUh
yh1nDyriBNYJot20sgj2urv6XudgKm0CJRABTxG19UFrSHVuGdtskawJxi0VyrJwC7GT2IVx6EJN
CoqstUg4qIOVMtHXOUMs1ugFtoHeCNk3P0ZLwfo3jnzVUV1pAY5YLay6RMPt2/hvul1b+y6axSuQ
Pyvwmzg/1WpBaNVEjLPTtkIbVZn8tzR+eVgpXglB1g+cgCXzkxRCXRmtbL+aDAqugodsaTLWSnut
WCrb5NJCnr0m9JWGOoe2TyEEV2hRm5JJcfWFLm6DQ+0viiwJcHabNs3ot67Y+8wZK2pmA9XVnhrJ
YMKYR0q7Jr87aHPuHpUx+FdcCP6jF8l+WzJUIhfBAXZ0SzPsSJ3BRKHvnMwJjMNq6wAETPBzbV29
oJFMZZwTyvZDOKW1RfqMAgyb2rEzjYPKFjqQzbQIiev0N2sU+OT62YNdJYHtUVRiWO1NZbw2OmGt
TAdO4+2M3nnPkum2nHQYe7Rreb7cQbR8mIv2EGVi3ZYceMlizcQW7Wsb+29FAVhvTD9ahA2CQ1kD
06RMHtZ0xgG8Awv7ZJYXK5sMnmMAir6XnT07KWjBsZYz2EcyM7aXozDTpz5nJIRkQhmtXqbHqc/j
vTkOj7pZ4v6YSxLkORe8ZdRIWtgcw4+MMJ0Dtsns0zRkdcnA/i0BjhGHGTZrpKFrB/AN5tbuc30f
+0UERceNzis1PtQguZEg5qZP/ES6lzSGxOApOso6bzy2eZbvU/cohuQsyEotZtGEtUjtZwia/UW3
XPM5lfC4NiQk/NAmA7fss6IonE0WzZTTeUzRdwtMzBdt8vOtZ3JFWRxQ7phn6nNS6eNj7RZ3ma1v
5Gzz50cnhDJ86ovmu2QwdS2yWSsAj0AmZIE/6RiDG2g8OySm+rhaT4KGKPLWILdzXQwxEj839E+T
349M/ZCtPWHKehs0rzmO0vPusNTa6Lcj014XNl6cE61ndrJzRkreTHRtLPtvpqPpD5hrwG8ZykcG
xsdngP1y2l1ve8Z+SsuV5qrz0QN/gXI3+eEE6QoeGKgMqDrW1qmdCdYKaLrRrK4xEEO1iG8Ly+am
W9yT7z8qPSOBY97NaX4serro4uF7ZnRg4uOuOIgbDdgz24kbKlVBELFtasFk5+BYDE0PK62YboZs
FNyytfTAzkXYwD4ItwMKMG4n6k2h0eBC9ypeKLcI2W2/ncm40Uobd7O7HGxNnG1mdhvOWrtmHN8H
Y4rhOJlmdmzYDh5boc83ZpS8D6axBG2lvZipb98WROA+NNukLAYKXJlxbHG5QBzNhtsYRxTtUfnm
tTKBzUqwZm5VO5fGWE0wtvHGAh5vHL2xX0yIQoSj6ZgHSPlSuA79UY7XEnlMdpyhg7bOgrnqvwe9
MzYjW/PGd8ntZWCpNnPh/MlcOBdJeizoeEqm4qlxUo6XGJzSZiRXwAa+K6Ia0d/c5+X8RgLA4u3R
sjCdmJFvclDXj1yyu11upVcZjeneF/3d1OYc9Rge3zFSeJaVPweuIl0hcp3zokAxcoUxbMwu3WH+
xw+TGjlSnrBulHJoACRkjXVJRlubGjGj00MHg1Mb2GI8WRlpGf1cTymOsap8HGSxUgZPkd8BhuyG
G2fxVbvthgF+aSWKp7ip1Bs4u5NcOpjWXDg2Ra0OTpOrfV+nBvBYwgLHtAd8pQE+OmoiMQ4ZrMC7
ZhnjX3EmMCu55gdX/ieT6NZ0h/VjEM2Xi871NKVc/+CJRccEZYjA33ghT8SF2nEWop0M2S0jl9xN
htu4QG4Zhqp+MYVcDpkEAbBJoS2Goq7lhsxRu23qub4YLooZ14ZoNwLIelySKQ0ifSGislgKLdNw
mqPjSEyewIS3pa8umguo1p+k4ovSY5w4ETMkw539TVOb6fNoK+uG5yw0hvkyO/D+ZUSjBbw3VK/j
IsGA8bPdW9dZ2pFmiTSsTH3e8m+6nwBJaWXyQQlF8hF0Y7J3cevsWwpQX7QS5bux27sBX8RGprDB
s8aJtqAZyRSyz3NOHvFgJaC6jbx+cHTGnQvnhHlxLUY/GhPupcaM1EzTu12RXJtZxamMjq1rrhuQ
t8dEQyImEQRAJuY7O0zK9C5uXMP5QBeq3S0sm2xLwmXcJmWCQtXYXy5SFwaY2bgrifbdUynSiG22
6uG+Tot01KsdSNz4FURQdum8qjxhpVK0hjM3ItoYdRTURrMCVAKa+lcrp37fZybNzZw0OVBlAw5F
duR00VtJXQp4AdaFORewxlyik6Mzn0tbai+RAXdJ1lw9wk4T4gn3LlB7w8syUD9VIS+q40jGKFIc
YNHoZ7AEuEWY75EyVLPj3rh0HZzpZ20O/IgZ6nhTLtzljZfUz21CGk7zp0tqjo6R1V2mlgtTqZmE
mko7vtWcyqSnuJV7YL0cgITTCDJUAzvvWBf2RR97rE9ZYJIUp4MbleLit7bxiHM7PjE+Np5Y+Mvb
AaflfoRYVG70tmn2Bn1jzU7phWFD264hbiRNzdbHgHa2GhLXdkOSg+ILI/nwHNaLTQqP59kQ3nXw
aTdzGa3eyabCaKGs7wjr+m/dFFWyNTwz+orytMA8Vb4TC8VNkrX3xtA9GT6otXEVvIZlOmBFqXcZ
Z+ezUjqPq43w5TnlSPx8KT9qO3UPXm3JoI4jnTb2nqcIeRBQV7bc6cNIWYKeYwChKwfZLDN6Xi0L
gY5ULXWZ7o68dH3jAdQM6ka5+z7pn8c5If5ktK+pYFjbpkW5p4PWuVn6OH2Yta75ZcWeBis8cqc9
6XKrCQaLFlsKwfbATZ8IQflHYgAcdwYMXDQ3g0UhKuwoeZoN90/K8X9j0lKyzZCgWAlIAgbj4PlP
xGHYTDpQa8CY6Z5zluhucJc7h8DhfeICPBFjXu+q3vgsE4+H0SZFpwrOxq1cTGhms/Yx0pgWRpX/
y++Fd6AagZIInL/BDKmFxQP2ICOiXB7VaIgDuy5XY+OUcmp6luQibwzB4wc2Kz5BjNUOXOxg8rb5
fZ862kYxmNq5TX8RHNQxC4x7c0GVDEdARsesK7Ubxu8+Iob1lNQ4e8usYLzSZnKTAG7cDoZEwm/5
5fN69RDcakujXwQuVgCMtjzhleFSnGU+ypCTnftSPQgD8xKeMBilwMBO5OIeZ9WvTpzyUecl2uj2
tGupbgtVj+E0lzczfhToIzU1WwYh3c2SCdcN7GHRD2Dz+53BCYe1EGmUXglgTfFmIuB39gGfQVHX
W4uHecIMJBwWZIE75nn2Neersl1Uy4p8GwcLQnm+3R0rHsPt7NWkkOclq0FulvLaJx0B5GVZTnPv
eFd6HPIgq+WzHTv3DnUqu8HyP4B4nnMVXzzU7r1lY8JtZ/Pe51x0TpMhaBtCbEX7Mg/yzR4rhNau
ToKmojI3u6efJdkuDFgeWwbkWJNxQpt61Z6Z0/fbMXaSF9uQDqTriSON6mgiar0tFDV32yS1hdmg
1vZF70NmuFfMmq5r38FJ8q59FBiXoyB3a47dBCXEBpt0E8SlfREDcW0AuMDiPHjG8WiRtxXtUQBT
JhlmUyruzYwEcXZpuJtdmqCjIofep9uWjuSIdZWAp8/X6BXGC/RB8ufuUNtHT+Xlb4HWwPszGNWF
v1SeIDk99x4SVa4Zu4r17UpDp3QDbVTa55JxMGM/nO7TaRmPMbzcldjf62922mpP3PvNC1YV+0Vh
GAkUGnuyxYbW3bIu4HOO6WP6RZpv/EzcnnsdooFPUTB6q72cO6KzGeqtNbzYfQeDXFO8xnPGl8CM
ia4f6EUSy3mfcszE3eE/5cLpjomqFparVh/fJ3z2z0MiknKfu+hUZWzTc5Mrun85DRr5bWx7WkkP
hSLES0p0WvhIUvy8dKymz0M+tUfGURzjysFId9yorYM7FLRXOVUNiNU1oI35YJnfMKJ+JgB7gn7u
P7mW4zNt0kpu9cb4zDnwMXBbEKywXSGJYB31MAdDn2L+x3/boS676+xUCUdK3X4rZca7xP/Wu6tm
Ot1vMzdwo3dGVO3qYbS/JAfy3TJaDnHUGNtZjrQK45MY/chMGHNWv6vT3L4fHIsVLaGgWg8bl2+P
mnDzoGlRy/wpoWDFY+yD0kUgvTPHbz6dYVf2ihYZQFsHoAUPjqItCIQihd/SIqouI1o88PeoR5S1
ZEc3WrAsELED8uJFD/PbAVEx4++Kt66jkq1LY9nvqmr6kWIWgDudlgOz64EKGaiyB1fl5m0+aRlo
3cijQBP8Fqxih1MlRRcU17psfCqlyUrbN5ArccZ6HxhpYnC1kbzjwW/CRfOHI0U5xi3cnw+/Q9Hb
pJxpN8M0vlt1PwSdFTcwPZe7IRnhatWFvyEAPFCjZcyB0xcL5QVvdbrNOlCFpgEaMnUrfr4RzzE9
VvQWtHs/hRpXjjDYVVy14SABtiklQLPkLQ0KNrcOd2kP3AKTXQfbEc+Mzlo/OL9U1CdzKEuvIcU7
tlfpIX4pJLAHC8gf0AiKaZ4YNhF0J9V+P5VTuuuVpt6jXnznC6JD5kfWLRCH4qVM2TuqDGwWYZX0
fiDjsR9tB757C7gk3TBFcZZALjhwUmRJbh2ZlE/JoPcPQFiLgm6NNAbCBsPhbPtUNXEttQT+bPZk
O3MDjE5qte2IQ2oP497CqQufd52qpcfZqhidmqMbrju1y8UDSAYR3RpDABDtRgfUVK/tCjjWrX6E
nQvhf0vsYwwru37iZsYppbfavUfXyVVOctwVRE+2c2b8Yv4WnTmIQDflNBkUDReaOS2csw0FMBil
JOvA7O9KXYT96mpLWMT6tJOpOR86rLmHrK7JqCwi3WVDpz8kkzHuGTIgc/b1VKPdzHWz78spekxG
BeiG15K/laGg25Qwcnke7/hU8V45wCKodYE4xXStVLCdiHKRgKBjoVyU+2eeyyKnPpyymHXqpmix
9TFVWwtPD1rqU7xYw6051HfaymhEzbs2qneOVu5ir9Udu4KjGyPGNbq98AfaEeBvLbLAp0kYugbE
8slhpOJW5vCVYx0AO5pHBzPO+feqrjb2goPC2dLVIS/m/iMjdi5Cf9SAZ8d2mb7w/WLobOReISKw
dTFX38SF4Nqmoq0jO0ynMtknVorDeBIJrE4LmQ5xh/mdviUapeGyMwcnnDKHkWIrxvO8UEjnYWJ9
72dzxiDJ/ggiE4hbwsWgNauzW9pw0PGXs9kwM+f838xJ+tA3XoNcLDsT6iYrdF/pd8wadunE81vY
87OA7vy1aEX6BEPB/WIC51/sQZzSQZoE2dsId6cHVbZkLRQQV5VWvWkMZG8r0ZBFLUvBU4GbT6eC
7Nfkr/ECFY2ZsbprkYI5M3yigXLzMBrzNqbaMsQYRImNh4mPwb860vZHUqNTln6Oi5RXW/YMmLTV
PN9rmN9V+8tPOG8A4h4pH2lddptR2vIzQqzkmmBNzt6chDzg2YGkXg3NK8LQe5osvyfl52zjTvts
Gkl+TBsbeyzbafomuH++9jPdKqxC+nyYSIpvuGsA0Zdk4zOPO8s29lMwxJkq7725WAC3e85tT/Vh
aGDFOywUbeDJND0iXVRoWbuyBqMO8FBG9FFMvRbMObVt6wUnQ5bYLW57z8SL4pe0oiGGThZ1AKLv
M8rQvL3WKOO+svTx4uJ7P/WsRw+YPLRgQenfcmhXd+QXrIPR9/FbQjblucl6mpvBp7Ae5DpmDs2i
wmhY9XEta8UNKGB0J70tPAZefRdMbbatUnvF1cTsBClGffqVUioTxEQIVBPGRR/yMuhLggmUGzhG
va08qEt0wwKFdrs/UqQ9NRIRtvpOYmdos3wJDVM8uWj7QaoLf++wmobMd4uLlht39lguu9VfujGg
et/MbQOgOlXq95ibDYBjb/LuLYbfLVcknKs6MNoHhrSEWTRL3THAdn4bXlKetZmeJjJB40m27gxw
L86HwKwS79GamTLOZv8GeZEkGZULy9XElL/DSdPu2Urxu6TzcDsYxYOwneyiOHMdpN8BjJ+8F1yY
ybYjeMFREtzcM8ma8m4aFbQBfbDki2oWZgSat2BuSsc6qM3l2vJABGUGGRFSnnvskmxP22BysosU
OTLyvJO07Zs6yortYBbeoazm8oiWQW0ERHPeCDWdqBVf7hfZom8S3iuCyJv1N8AZuD5M03zVHPOB
Rq1nsljTXdKC3XAjbnFZSzVoMdnJtlDyPmFOmOKGOtD6zfvj+zPN5DXKa67Km6wCsFm22dHkOHsP
egzdgEsU5veV7sflybzWBAAO6H6fXlc/Wfp8jgkvchKzT2VTMLTRvXg4yEjpb0nbwBnLC39vW1bx
LAaXhatnJn0sZXkSlTOc0QTwhFi22qbCaF5ywMlXEoP0a4A8oriPQTVWX6dbl3StCbB+57u4ieXB
0FJsHSv+ttCbejdRbQG+fJgNHRrqSmaF73DPMj0ScbAyFbJzVDtmkvp5MMbvuhVoPV1sH0hIIe3R
N1HfsG7ZUDrM+YSfwGI6HaunsY/VjVdG02Elzz5gsczDBfb3beyL8qHhcPEwUTEKv7yo3+d8lAnm
ezWeVaF3QeIL74+jzOhlxEy8SagJLlCkiRjw5kNuYbzkv5bg/beUnKIaJHTyZoBrQxvK91GSHjkW
iWvci9RJb8yyQyhfkhW9PZn9HdpA8plPzJM3aV3SC4MQid2BTDchB+sNNIliPVs6VENln4dl9ttg
zlSObytlngAe4bOJfOvEQSX+RCTkDCFXKcps5H3KJZx2sHawT17/tkpBr3qEKwtrvd6/L5FjvKBu
pO/405ZbtA0zjH0Q2kvry+9Es8TDrBwmB1GVP0UySkLGAlzvKbyi6rh2H21d6PtkaOyAfrfkYYQX
FNPmN+SnPpHZn0qY42PJ9spgZo5uoa/asPhrkCZFL61Qk1F0Gig22DUdew2X51K/y/N5AgLQOFdG
Vnno0ZOR8chb3S0TA+uxGLiAa9WcPWaV9lt2rbdzWvZPHNqnJMbXnJh2exs3SnzY5YismPHOQFfu
gZm7qYYxCLgSLSHwzzMSQcgz4wN4Zw6AxjS027ykVm9pETJq6U8kwgzxx5BedMahU5fE5gYgTzOF
Z3cOh4Mdwzhazyrew6ltCh5brvpcnVELmEYZD1PVRQ/S96swxgjwVEbpI7srZx6buzTbr3loC+rt
7SnJzl2Wq2dnotByXnl9lpYDmzU41oIQH7JXApYzYjQs1LfRotto4+dyQnZA3ybhz1yIDEK2cwEy
QntauRJ16uy9hOld1xdm4HPlDHzZsF0x63tEDesPtg2RfVpW7b3Wh+4P5poZ8mFsPy7UmRzHecgD
vrduw6XLP9UZWZORET35jxi+klXQfzJ2LrrC7GgEnpDNeSyZYMMRHtP+vlhEjzOuH3eDH3k73GSc
OeMU3h2jm8duhHQRj5190C3Si0HnicnmUjl7fxbNsdkpAENlCZ+BY3XmLs2d6liNU3TTyqG9BSkP
HmYtrokXjIK48i2Pj1x8s+Bo1zGauz4ES+WRiiBE2G/+G14xKaWRk2EdJ5saCa/6tpsqolopyt/z
fo4ZoWAZfnZy5h827qu7sYzkL/AU441tMnRBp8UMm420tJIkKO9/3Mz/1Xb5/5cAohbp/b9Yuv8X
TsDtV9olUDy+yz7t5+PXv/4Lqvr6I/8EBFiODgcADphn+p4FzOG/AwLEP8hlYCgQOgAW2AEY7v8D
EWD8w3b/Hf8AWERnP/8fJnj3Hx5tJg4/IwAIwBb4v3HBu85aRv43G7xnwy0xHZ1jBfHPH8boX4Ai
+NYabir9sqvzqiGMVNjkvDkb69fEbZOwdUFnDvQKh37BeDY08iK6oPjkuyhXzZn7IHR9JORoOzIL
g2hNT9zGMCDII/tNbrtH4GmvSqSJy1rdqxDLrYf3Kp0A9/hz80bBaI54WHGoNfOEea+kt7EY+3DE
M3Vo6OK4TS2XepuGs56/xUJPtUqRgQqkYMkaSJRYbVseDS+3zikmGi7j1LCGEUTK60SPVoOFuaW4
pvCV9k2cC4XSo8/zd+q3XqDrk3eluyA9VQPxzE2BG+vikVp47Uj6qVDoCd7QrAaLyGG3HUHdmwNh
YvalF9nn7xPO6Cup9qcIUTCwmQrB43faDwZGydkymuQhantnhWHnVz2Vxl6NJJJ1lyhmSoEda5Om
QQXUj73WcoyoyiX0+ehCEcsEiyMjQpI800ML8IlrO4IjHRpnMr1pEHfZF5Q6ezMQKXuIPJsjjKjz
kKnF/EvhKbskNrZNeOAa1pqUuBfSgGeap2yFiAadbi60RAw1kMgqt72zhv7NKAwrCvpMLgSNMmpi
Hsd27z2LeNHvnLlTZM7zHP27TI1uA1uiuc1MNdOYVxjdB2SGqTnSejKckakZROh0BN9WHihj8liA
ohHRiBeep1pwncCTmliEJdlkGSPF/l03xqg1Ts8SiJPeKk+dgr8XscsaqPEeqmmMVpbu1nV0S6+P
vIn9zqDsQZO/tBHoWtSRui8liC9+pTF/aGLfe677zg7tniw03Mvxtsccx1dJ3SCqgvJWTP/Ujo/e
KhZsSCkYr4M9OS9VLVp2zakV94RRnFvHsMaC1oeoOgxoxYfCt6Y1dj/Orz14yt+Nncr7jtl1aFJl
1YQynWfsWvxK7Bq5qEJ7ztsoYJCYPiTu4B16N0OyzmK1W6um8iDKxurQ1G51zY2838Xjo9GmA8Rp
anK15KWaGoVQM483NLI0R9G58l25zXBn0xYQ2Bj4N15b3vZKkK+cGZANarnHY4gw0mh8ZFqLQCmK
hq5VZOU9CIWetxp4Jvt9S8kM3vseVGZrtEs4+ITvAgzk9tbS9Okb7/V7T7XuRTZmeZ0aXyHLgpEj
bu02h6ErrEtFh+ipxB/RccEW0a0kQdbSXBOVZxwuFOoak0BxbPXUved02b0Q7kiImGChvna+aN+U
sSLIRVtDzwAxuAo1IICOk2d0w7HEB0yz3Wh68y+aU1PzsaOPatsB9vgiUlY5cSAasn4Xj2cf4RUD
aSpe6TJX6phI1xbcUEfkMqrhMowQThQB9icUTT8VoWi+iirzMfUhXp9S1AMz0AkTPAOT5xKBe+5V
GIo8bVKlhNz1LJPrRXaQBF9ZpjHlmkD5XXvIX9NUTfvBbzWbTg3nZWj86SLMvrvRJgYweYtvKIjh
jdFIlSv9y3Wlu4cmkl9bo8p2TEeZEQM4dTblvJiIEmr+XXaReM/prAncFoO84i1ihaUfxJN9zbya
gQ7NBYtNaQEkzOorHvvqfqGx9VtqHWxLd1i+2kmNEON0/mIBYTIOc5PR817Fpt09pRqxLUbiOM7I
4lWeeqACDMeWSyqbyX7DHz3G0hTbvmyjif7VMoepaKgMBPEwFfm1LJiZHovBHArMLuk0MOOJlyc5
WAT4TWI5Jrcdh9xH51kEodcJH473zs+uyqZ3tnVjc1eLBM14AZW+MUBA7sk/LIHuAwij4/Q274r8
0np4XLlKKzRv+ko2JhsPnVxdfcJyii43wFahyVYV15jRyDON1fGlJ8ZF2ZVl1L+Gll8naDNeiU1H
bAQ27ACNOda4EO8at6DOgjynKw9ZTOgziNJi/uQ8t+oz2ez/ThoaJjhJ4yCCJ7vyZ+YfFg1uMbg0
+g+jxkpti1bjFV3T/VBsqAmBaBP90G2cH9JN80O9gcTZnqcimaqjXGrrONV0UF7zlZNj2szVBNzM
c7VSdCbIuT4aP91Mkk4FGimT/sFVkHe6vNU/mn7Bqka8FJ08wg1FsRkCrNZp+rZHXUCXLUdcicaS
OR/Ue4L4yWrlvHKHAvxjObWMD1m/jEk4/OQmVwP5wpot+0CfJ9o2hK8/26KfHns/5s5erRlMx9T9
c8M7vFGaYT0wT7ReQZYW0AtL69TZsF5t2a5USsxHfm5RheYk08ZjOL/4y8n4yYB2Il++ip9k6PCT
EkVZ5aic4sTXiKSuw1WmqKRKu5a2yz1NOeYfDk7kTuufDKpJEPoZwzPz32ENqeJAc+J9Soz6WSrJ
egejra9PTeX3bdgWTX+r/SRftTUES+K9OOAjR53FCtuYq+tn7WP5Sc86XNIJDxdtZuNj7viiQRqs
aVtFV2Po4Tt+b6JMv21/krmFSfYsaNfQ7tqMXVMkRpS3WUO9wxrvrX6SvnFsd4/dGv/1PJMksP2T
Ch5iAsL6T1Y4+ckNG7lV3PJbN6co0fTu4NQ6iZssGbrvDjHVJMk30c4ceb7lHiqwQGgRA47fdVSS
crPXExZs0rsaZvK+mK4udSDwqsvemdByRf0FMM/GmVWOQEqTxmQoNTWf9Fbmh7rBGzJY44L0rOgg
J5xMPAP/ebGEMOAkJwepx+9gVNqLrUs84Cmh6A1YUnkdRfWMLk3jcN6lsQhd17XPRdvJUBYjtpaE
FmX8xBFbWdS+LSV0wLZZg2zj4Ax08dUgchN9nfVUDMaLQRLwyx0vm3dlNjR3MsX+iY0DUW+TE0jD
3dA0wztXHPLbse4LgXBgTG9M9RnRZJmQcah5VnzWLC9+Jr6RfEM4Z5IajWvzUjVUiwjSZcUIq7ho
tmCBa4agOBMMmAowC1xh4ruKsEYwtR/QSTB/byjLbfctlUEo1Uy3aX9ZwmVO9hxID5merel3Kcsd
8NwabtDi9JtMwYI1vRUjtY7h9c5lCUyLrHudUvpc4chh76HrisMlT+UpxjBx6LHeXaoxnp4ahldB
3kcF4RNLvUOiz/Oga/Xmd4wImnL3TcxPrAHBFI1hlFXLexI537i4uT47enzoIgMztIf1kD5rTIIb
f6icClxDMWPnQ0/ek6wnF6n1rf4mLHaj16TBPwcD3rTvzNHxVoAilcR4pPLmAMYR7jcQLzqYwdBk
v9GzFEl3FgisdRW8bcdLtBFZ268PJKxIt7MH4FXGJlT56fQSQU/d2BOVK/sOpuxAA8hKM8KJ2eCg
nQ9aV3gK0GmJxlMa/vTkZTkIG0yc1R4LfPHbFRwSDKAS9pb+Pg2bOAQizhoOf7fy2ntWIIJ4g24y
Qsjwet/peGkvlg5Rfkse178D9N0+6oSbsn1E30pN9qJsfjkp1Rubrpal2HJAg4/tqfqTMhfeDrcH
Pn7mxeNgmJZJ9eE72FewrZkXtCjjrlCie/ZML6tDsx4YlpqxQ0wWVrkdUKzo7y2DKApPz0RrMcHZ
L6uf/fSwtnucHZMiWpZaZvGU604eHLZ5dT3JjuJyQzeSQ54XmKq0zo3fDJdqpplHhUQvdQBMcnEz
/MQlxYfvdcNJOFN8nQyIRpvZW49gq0QY5MViQHzTgQltOBOS3vHn7jJH9LECk5pxiiwGnvx9UlrF
N4uE/JDT5F5J+6BgzaopQz4zOklpbqKjqsf3vqXwKwLrGlWQFuR45mWlEBG4RjDWpjgx1FMbpGtr
k4BWDllVyy3ZG0PQM87EEVqPNMFoLHP8TFuS/xX7Na92mzjZbypZ5KWtbeo83dRTiPldK36bQ1pv
lZ7EAZKQsatn7o2TVdZhZWAdj1B/myWTIT2s+a0pl/IOiMIqSmm0SfkdBIFNXcnjBIQGZ7PW0DSq
u+BqSDmlGSMVlTcFk0Yg+tfZL+Xv2mCWv6g8xjYlsjcDJP8jhFTufy57yM1Y19G0NwSBVcorDCYW
vFg6QWgdVHKftu3Z4LUIVTHRZI2/mNHBTHvf4wz62KCqe5nvfeLuNAjUuCcH13fPc1wivw6YW0hv
mclBLRwutq2TL0nQll3y5Zg0OnlV5IWN7Rb7lRgd7+yiTM5x7w93Du6HNRCh4UYb80fWi+YSM3Be
20pFxtGF/G4/AV2Yl3lkYqqdSEtwo4LN5kpWW+Vb8WNTLf9eIvN/TNbTr/J3RYE2FBN7nPNTT+Ks
ssZfEaWeyQdr1j2251bI+3pa+huLxqDtUgr3lC4k30TJLP8vmsv/Jka/QkL/JmPAfWWggMnZ49MX
5pqx/4uMYdCHuURupvbIaPmFawH572iqtqZOBqte2mHHlcw5dgSmv//zf/nv+NKVschxgqM+dWfW
ynT8n9L7tW1Pbl50y77xavy+jOOBglWOdsb1ky0wnKMVMQlp4b9aZPv/Ftv5nxb6BEny0fdpF3+0
f8dSYDkm5KHzw/9kU1jocrrNsYvHBpLeP4U5/R/G38Q3/s9/CHM0+Oh81/B3kZpR0/jrOvxkyb/+
i3D/gTTB+MeBBur8G3vnsRy7cmXRL8KLRMJPyxt68tJNEDSXCQ8kPPD1vVAy8WSiuzXXQApJFF+R
rELmMXuvTZ1j/UeDueDfDOY8G5ev9GGs83rLJ/5Pn2gRJn3Kv8adR+as3HHdwCBrEmYkHFezXFnV
TJVVE7bsYxYKJxLXCcwhF2eUo7Fq3dZeD4Err4rlLKDw4a7plhPC8bzsMV1ODWc5P9RY9nfucqYw
w0cJUy8nTTOmwZZbkMtxOYdovTmSkGn50aZdTqpwdLPn+XJ8hRlpXsoskNhH0kWbOoTTvTuWTG3q
+VF1F6sL8gIWHiswa86WdWZ9jnxwEsxfOEAnkorIMhgZDK69bDKGfSEHfROXE0dvRyzLY0gczKs1
juoRXQ6eSCGTT305ty9H+GT086cqSQoZYWDirerqj4Gxzjow0yUek4ugtkjZKBMzlQiQw+JubJrs
tlpujwJ0BjXHeFairbZmHsl1bNVyZ4pMAfDhBmKWZn76l2uJ3I1Qrlo/TkFCcG8NLoa2VXq5zUrs
rvJyxSWX6y6+XH1Kcgu2jhi4prgZMd6MFNNKnugljTViGFBBy106lggCL9erJ8c4xWtScIVfLuB5
uYsje04tDjPXu+6Wuzpebm1xucDpP7jM8cQ2dG/LHT8HxI9WDj5/OpmlCAguBQEJTS3toUWZQN2k
rlt/CE5jUFRviBq51PJLcUEOd4lqaak5ahSRr/mlECHDMTpYDa8Dgo9ChR6bogX4E3j+ycGMtvAs
CVuPgjA+0K2AWr0UPlxG44EREFzMzqMwkkuNJC/lkncpnbKlimqXeor0G/sqXGostN/lh7oUXu6l
CGv/UpAttZlG6PHWBDAeNoiDKd4YVlXvJoJPIJ+X8o5CvAYTRs1n26YRbjBmBVfJUhPmkdbMyYoI
jiI+3/oepfH4jEyeUpLL3vjdVey7N/5Sa9pL1YlcoNz748TXy6UqbS4FqmovxeqlcB0uRWy/1LNE
aq3YBVPiGku1q2DoPTOUqB6ctpyPFrZpnttUH7xLqWxXLmUzOgOx0ZdiOkQi/6l4uJZvDSm37Uvp
LS5lOIY0/9gT/HGHZ40yXV5KdqVZtaOVtACccIvvwQ1SHfqXUt9aqn7f0kKtGlEPJsokX0EyizDO
0SqEmZzfBsWAmzQ/Kx+srxI6erwWTN8/WacxkbSXzmNk0r3Ri3eZucLwNA5ddRUtvUrq2PKEdokG
xll6GcVefqunsXmZL60OyFMbdgT9D96Y8oQKmKbIWvqjYqqKXTqhQ0RxDI2TNoqfe96WS2fVDyM9
1tJtdUvfNUsvfA6WXqxoLfDfbhq4a8NcmrXp0rgNSw8XXdo5NFPCXOcDbdGSy2Mjno10/JtknejX
7EXRWaRMpra6tWgUDZue0eBBMXdaWrSS6dJV5pcGUxlLs0mkEY/2nDsaIC3jILiGS2tKljiMLaNq
V63ncLB0SxerLw3ttPS2Ldbw10Z44Rpl+Xd6aYGLpRtmbu6eoyAloI04LtrlOdC/RCuT69mXNNNB
NPYv9tJh4y+K3sweIMGqWDpwxLk04wiuaMxzLxeEBy39elOgAlV5+yX0ojAlsak8cZXQ4qsk09+2
ocCNGHXHqrRoh+EabgaQFZJBJkYbZoJn1Wg6P2IKQH4H+inteocuyCIfRYwyYdiLoPk92ciO18NI
3TwD0ldMwVn1LjMKFyxKzl9KsOtHIMxmO8P0KZsFjVYulDQ7dltxyC/wtERZgNTMzHVozzorQxQW
CBs4L/vxH6zu/km0oNjMpmlYGy2AtnZBtWGAANo2M1fdZIPWb7HXMJ2pAt+/b5lVP08eUIOVq1P0
PlEpfwULGQ5Hi48nOlML83ZBx/mVsm6r1i+Y4kOW0xP8Go4Nl77fa5Dv7CYUc+Rfxv315LXoHe2F
UxeYncg3Y+mZP0IL0z/zEwK1c/sFcBf5k//Wjj5boS6TzTXPLTC80JaoberBIcgx9uorkBHJDZID
iHE++uzxQtQbDTZFq+xC2ssW6J6x4PeSKfRepgSmdFaO+W0KqGHNVKhCfVXGdzBYEA3OponZAnIM
uwoNUk+kvyoU/xtz6t4q4VlPbdXbd+y+5aZbuIF6IQjqhSWIBRKsoGTKsakW1mBywQ4ihA6f8oVF
CMj2qSyFcRcunML0gizs0T3cEd0CPdauym5Nv8yyhPtujraxIAcLKaSZRuvJS+AfhJk/Lp+EzKo+
YsQpwE1hc2N5SpHLEk14ACbpHVtF6dBnw/yVRWa8wSCQIO3pyugWckpzlVeIQavBjd/jtn7LgSzu
x45YoDAG4um5efwRdmR5kjaTPvgeux4DFdzB6aNip43BR1Xo494pBhLvYEyi+5RNI+trjwXLO6Il
yL4sVkd/S14A4axFLexjpioOFxRX9rGL4vZJz0MJCKWOroNU1Nu2mTyeOZXEq7Qkt1g0trW3OYDW
JVLtJ4er5R6Bg0U6EsRULLip727x0Tcfs5kMyIYsgEKcCCz6yjBCJ9rLR2Ej5zRZsvQrYGLelVC9
+2g5UBUY4afmfmgsuU/80b+ZZgI0zqwAMOexnMyu3cTLPiqwsm/dlKYPrWcGPzVLHo9bmVJiXUYV
4TAmcrqB/6U2KjaSXZHdxaONC8qxeIthsJKbVzctCIjWLqcXOTsw21nG3aUVSyB4JJ6OcfOZ1oeL
ENtllKyiZ3ZuUb0bAr80bkanZrepkpkNzBCGeyvCsAY5oZuGYxB6TXlosZS/9AZPZJHH/QNkK9Sy
aW7eDjIi0Lh1mhYYkcHx4MIp2Lt51r5h6Snva0LUsA2rLj51WuizG6U8qwjpE4yj1nRVu3ro1waq
0nsK2AEMatBHrxEJNwoER9+OKzuNrCeRjPoFhU91FzRJuh0Zedz4navgXSP7GjeOrnlHWXzN8G1y
77u0oQ6gP5XTjcHO6nShGNR4Dxnuon5kGeK5X/Pst+aSKTZ94CNCBEyekLFF39t/osdI/F1g4TpE
AhXAXJiH+z5tze4vv6W2PXTNOKregt57shLmiMM8OC88nJaNsL+o7nwAukhP8l+gWB+yKI9Jp1XN
VQBLkmc2ZCmb2j2SE6hY7EGmCk+4JXnjQ0BxLywruUHCijiXNdy8PF550reeiRrWV4FZLiFPpfvQ
5251TfOSXcH7z15JLXKStQtr4Cud5mg/p8C91uh8nZvRd1nWNlk7vvvxJKZTieGTbVJg9qhVCmku
+Hw1HVrLcb7CTNX7sBAYBAtjoLhUlVeVyG394IbN3Xwwubl+G2bj/lYqrLttn6RgZbpZ+PXGzXmv
sRlYsdxLRoW/ela6RCxnyetsGKjbsGZDNZ7KgLst6tkbBtED5MoMnlM3382x1ZLPzDR5qvEmr/jD
M7AaVPgASKH5HLF5Xnv4Gp9wy5xNIjVcuF+9+7Hs8sbtYPssbAVpXAS+uVO36mdp3fqpN2wE9Bh0
c1D0eJ8zJ+jYw9tpeiC4l7lmrxsODcwKjKo76bwKZRKY1umWhE0R1wNybFF92YZuD0NZx9clZor7
OB/0S41c7rvRTnDIitR87tEszesROusRs1KzJCpAhWZv06qjEdizcUwLLQ6YR0bkwtZkrpwpat8j
+lwWMHXbXbFyBg6SukQa4tNukitagvjg1oM8VOBkIE2QTbk1oQI+OBOcBLSARVVtrCqfNe4LyBpr
gUwXi2vZkAy6bB/7kVqOkDKzvAOROBNByvhwNVldAsKlSQ6+U+AWGlDZPig+mYcBNcgnQbP5+9Jl
X1C/OYoOtN+Poqu7uzwz65d01NMRhgjeO82Fv3ascF5XZuPwlV5QYkDPOjcCw2wZKCA7sRWV4brM
iEZgrllHB+wt6laWOb9Cih7D5nkgZruDsFa3lmvxuOTssrPkziDSEldP1rHxnh3nzBrY7EmFM8RT
4oTBA8axeWv7M4qybOpwoiW6pyApe6s5NTFedpYoNps8BdsON4AWqNyK2KA1jZLlUo5z51C3DW8N
E2+Ro1XtHbQsLTfSR5y6rBmLOGygngCCRLCH3oD46bYNe5TDmFXnocVQkjYu1j3UEJjN2R9sRwgg
6N0AR9RIsb9z30RlzTYTICLbpAUgGKFWwTcXHwOkXL9HlWKhr1NOEoPE9HtteuJX7iw9ReujpwED
MGHP8k0kZp1pXeVuC+FI9MWhT73mWHRTBPO9yMdnArCk2OcQ6Y7A68N37GQxo313ZrUboGg7WnU9
qxePKSUFoDegm/jvMOuiBHv6PwCrAfzRP00a/0VXdv3xHU3/nrD6l2/96xhL/oGCy3Y95lLCgbDL
HOkv+jLPXtKrBTMuCh9KG0Cqf5tiuX8wJTXZHttQKk1mzX+fYknzD+FRCAfkXVvOIlj7T6ZYJhX0
Pw9mTeG6kCQx0Xq2YIP9j2Os2MQrMqdzsxuzjsuMWKxozygruiXoVjxHTmu++GQe4scAhHwVg2s2
T35RtUd/iJPHwpYxel5Myys9TPY3Dj7Sx4o2qEBcIaa4Couui54V2eoTvoHSfwZSIZERSLkZ8U/T
/SIEsq3xF7BEB4lD19/CKHpGsc6QrCqGp9ipAAvMRfGNsse6rUWeHKQNExqsUXSsVc4JhkiZVBDP
GZeQkzbH4x5BlWzl1IL9nhrSKtpiPiMYgVZfdz6T/i4kHCWJUWGeZK0hz2F/eeByo/p2ozl/rIQ/
s+9BUvaYm2UenGZ7wE8eCHBaK9+WUX+UKiP/0+rD6huZQscRrIswI56bqvCqG4sgOPWhRHY7Dbas
76cprb5t8iBigCZj2j+DuAm+S7rYT2yQJVn2eLpyoqJxVahkAPIZBwHgHsNNyWd0fK8YTrPh9D+E
bLblzQjW5j2TnflUAkBaWXXo30t7cvYof47Y/izjVBmwZvdl5rufUx3b/RHIFlowIkg05Vjkoj6L
RrKy4bOWOxazxEWEJgUa6Y8CIloZv3WZrb47bZD0yIb0JveI9Nwi7mm3IRhuGJt5NZzBS4AJZZjP
DefUiJd6jZmvdbglsHz2YBHiamkD0mGtzFZdWeQTpe8zH44HVvcGhFlRiJNRg/8osXKs21kRG1qF
EwGwWALjddUx4Mmw1uJyAIDj2AAF9kkxeCcsKeqK2vmry/m0jIVOFUtcuqE5Vsmj3wCgbzAHr0TG
7935oQsBdzZZctlj+SGWposYR+tHZbn/YrO5zdamaFLrPao8d+mW+jXn6ieWebEKQIkd4PmqDTkf
8V4Qm8esNQ/iM47Ch8pKGBwuyCHHmZx7duzBW11nMfZecgq22VLAaWi4X3XODHKdCiN77eux61ak
94z0bbEa1ZpxM7Vhh6QwZbaYjegfoyypTk1BerfnzxQx01J1slWOF0zig58QnIfHx9Z7e6laL55Y
2+7f6qWiBRLF5z0YwPase/wE/m5ZVVkHEebzh5MT5PZCqEkUr2MSJikxIiLK8SwZw3AUHrhvNFd4
jlCcClLmTOlzbVdLPd8MMQO03FQtcT2W149X+tIXAPPUQCF8aUU7O3XpJCJjMEkVjPFNVm7tvhHV
AkaDCF/PCJkqdfYLeBlt3DiX9iV2sF8zR5cmyra+wayZugMoiGEaJ7FJLk2SFAVhQLg2VTHe2NpT
3XXY+wMIUp2I/DEO+H89RHSgoP690BxeWj5d7Ps8PLM7Muj9EsxQJJYxV0DDWS39ZLt0lqTv4oem
etePaVNO/paUAbwJA8Pbqz4r8TdZTgWjbcKS8Vzzg8o1STrp72xoA/bwYVhXtGkEVWxoGrOGD9Jc
YF7y0Y3SQpthv8nn7Ae7g17nrjVACUiqtDnyyRy7FWgUesSgtu/rPi5uisJxvl1jLOTBpvil2YK2
9WkFGRhogmn0JoycsV+xtsUqG4y0caw8fuEPJyKdKZq9y1JbAbertFpHfuWtPfRWqBJMKOCb0Mlp
bVmwRmgrp5a4BMytmua0AVFA1FNo8EWLfXk2puz4mdYOb31f+Nd96hQvJZ64fDU4w3TTDZKwmNoK
mKlU1bjlHGKbPzbBcAC0Nlz3gQ7uiAzIUK0kRCgl2IjvnRFWmk2P8pD3RcQGpHUStU7hnh1DLckg
qZg4H009xee2RV/jGLV+MgtpveTswHcmRfaKkZV77Fj9tqucKzKnOhPic1R9trYMOSZLerGat8qf
u72YOpCmJRa5wmiwbaVl3qGrL6pboy27D8HW4j0eTJsFL8sIt+uTnaj78IHbMvb3lG3NUwnG+1PT
kH+D1xyehjofdpScjwHHEiYM7QVkGPXlI5I6gDHNHKFs0iknL0MldUDUiTSo6Z19XxRkcDh4Za21
kwSkqsPemWv6OPdNeQVva8cy55y6WBNA/narImb7QPsjDknbUr17uaHguAk5HITsrC0aWp80o6w8
5Hlfbus6GW6cRoP/1CVwuN1k8gu3ND+/ic4yrrpw2e/LQpnV1ZRbcP2bei5/6WzI6FNHuBQoQtG7
Yavpz2kakRRQer6NWUK08buD6e++76ZFsQojAsMX4SgACL64mmtWGqp5I+WDeSABtNWpGlN1zsmT
4WeZOKgcC3N5DpywZKrRB7f8LO17PgTimaYIAVQ3lPODxGJ+jJ2leQ5dbGBe8tv1JYA/ssm2Q5jH
7Q3vXvEm0E0TAdMa+6RunX0p7WQTl9U3AJ/5Lgpm/4bKBQNqUOSvk4n7SQdGTFZjCcmKwKR6m5JH
w/PmjdbGJJHpXlToyAGewM0yO/z/jwWN1UnaC96Y7V2+VXaHGjsscatthhp7CH6epmX/0NvvjV/1
92NGSt7RiYr0taQ1VbeT3RJ5LxK7+CyHpv0KLThLq4Y1knFqIN6Rko79NdkhQPYeSfVmlWY5mXeq
/BZPEFFb/PsUOYaPA1FxmAlYFf2mLuMCgJrmi2nYOvd2IkuEWwi7wI1a5jM80KLdIuCnzea7801F
YYZS3Bnj/URn8wM5n+1R2vPf2d90P87Q9sdscKqrwa29k2PE1X1alnQ9DdGo0cbBn/YrK3SxZ/bR
gMcAsS7c0D1h4OUfhL81e0nMjCjcwG24bCb+OHj7ca9EgLX4YoDALTjUIG8SBCLW/KGRcthb4LzT
B7SK8KttRvzxTdMXiifWhoAqxylK70ymHWfeeLJqJN9erHVeYTbLvaa41SnGOgrTCMUL2VYEZsEu
2aDAnPmwGqHayyAp3wPyonjerGLYQasBRoKGmxwxR1dv2LQQJcck33ykEz2oHYbhh9V1zbZnAoJw
CZj0WZXadHC6O+nR40faKs7MhaEgypfWV/prhvmOPa1kIBNHDuilRcT1AJpsvKqbqngq0WORDl2X
zg2RpH28HqqY1k7PytqS1lfecepPm7r2gvlAsVNWKyFC9Ss0s+XcoQe3Gxkg2soDtK11SNG0mcqk
yNco+jWDn4SrxicM/Rb1i8MUqhs7Fu8l/PcoaUpM9Wl6y9ymtqG3IJjBPsW6nSG/N163tdlh2EIK
90vNbfAU6CplM8w/7CaeIoGRlMzUzeiN9qtAuhI9pgx677Qd4WXkgPG/W2pLaNijmMJdw81M/N7k
nCI8TUyZ89Y/MMY2sEQgIaNT5292AGPa7x2wms3KMWvvPp4Tw2PZN8hHl1tnU7mqe45gezxak/Tv
hklRt0WObu4z2Tr9TgSz01CSELZOZQ/2CX6fch97N4hvk34mNg1+3HTrWDr9gntuPWgMeNxEVsmg
KDYcd+v0jvHNiZfsuJ/dnZz85Lc3oQqlFHJ+BWNQmjtCo9wH0Q3uO+luXrwOIiteu3rh4AxTG5wi
t/TeUqYCd7mojU+8E8mjmKI6Pkvsb0sMiveDlSiurmbVLNTMxsm/LXtsn+cBkCgLhf7sVQ5sT+Ir
RMJshwXezo1qkC1xwSl0QFjrHkhoMn65TAH7bdZUzV60TnvOI2IBvSkWwNmdijnyxPRmjYU6O4kU
WzBAVOwOZBO0W8wSDEC9ydMeAs8YBJdZVuitQdxsDBXXWwDm8XlUjTiaefc6ipYVgSrjDbmUHT+I
1O9hiRSJq6k6jZHlH+O64uSxlQ33xWuxS0gIBfHE/hCoN/UYHgiZmj5bUfIQ+RQyTWmCnxKASuNa
9XEkM22r/Tbb2UY07v0hQu0YT+Hv0KiaW5R4nH+QfhivjHSHRmvv2VFhfqBEsDdy7GE4MCO9I60v
OmoiIHfmZBQHsxnSs1Ze94WZt7r3DOCFCEkpjbLRK59s7r6d64NOJy1KvVPOwIFlPhkXHM1Nxw8K
Go1gUZwGK48FwLlyYOpVAQK8UXXNVSeRADuIFzZDjHc5dNujWaJ8RMeRp9u+GNrvVBdIB5IhA3yb
RP57oiWB24V229PAB2RtGFN9rjXuILtMk1PQpP3H7OvvuTKorTI7XK5TurEqKsIjuY/1aTLkvKcF
UhgOIrraeLLENWE7SAw8x1proOOrWvVyR0ige9/mYvLXmtinM2s28JZVVB3J59TJxndqcevMjloT
v+5eWWX4xMf+3kV7248d0YmDfccW3Uf7nc1r7Ks4u8lBQI/aLJAbBcBCzws+1WgLsHCYNJ/hwEcv
AhwWzpAcn3xQ6F+uaMePuErHO3eWABxQdifX08yy0pUAmktICdZejA00N8b+8xvTrNu0aurbNLeZ
ETTtgflXTQXYFSiWM6t7p+rEiZM6zmszlf0nKprrPMr0ucmSfMklQwQf55b6lEEoPhXlBlEA5L9M
3YRVrDXmc0+W3U2S9d1jHvHalq+dDdlP3U6TPQbbrjacYz7n8qZ0veGp9ajNJyIvSWvKjBb9ONDO
1pR4MvIuWgHBaD7xU6ldFngjFJVweAwV+GHht2LHiJrbjVSHnWWY7ouPJBW1SqXUwlDrZ7GlGsFp
jBVom/cs0NH5mPlWsxjrSWnsinbNFLLlCjd1tCYs0qMbNqBbwH6AHRcZXf/j4Sv1njw1LgAyWRR0
Jq0kBYzb5LuWgN3XaZaPh2SOi/dR1YwnOjboIYzNpFJ3eVKJZ0i5JeV3mt/BVJXvEh7YrQQ49t0k
Bt6v1M6YlFe8D8eO7mZHfh+NhDeP8XPKMBhGrl/J+LGq0FccRqX9baXQ72/9TM+vPTuto8cE6AgJ
ZoHbjVZxZ6aZdA/LgOQDZ7257VOcz/joRuT4lo3vHvRDazyaQLYRQPZkDsKSecRt1H7ILOYAaMz8
IJ0YHmAZna2maSFHdlhnxcCchb4uMzduWDpP2pvaQ1Pg8rhW44TZxipqZNEk6czg5ERuGTtrNJIW
S2Fe+M/gFximVtya1oqQ4aVkxAU2EK441Al/CESbgNsbgWElYbn2U4mxu/EJcXsRIwbqVTRZYNfT
1kte4yKuT0xwihKvjwaaJKsxOxleYuVPsL/nx6I1e/cqJ360QXczIuecgUdvkRXhZ2YqsUcx8Rbk
cLm2mvZtj/mTfdGESmJYW6YzX9N01u8khc5QCIbYQcbUDPgNLOOp8oG0gvXGSRAkrNE74hV55OL6
hiPftc+6y5NbM7Tsryzp/BcmM9iKuY+opIlCKJBX3zhBpb/sWmHViQNlgUDuTIBrUfadGJURHrSf
xKieozrF5AMliNlOkNcOFR8DA6RtskZlW+Fw3tRxNVwnKRB02kK23ts408A/EQO17IKbAgcohqjB
WVtN6YlzFnVOvooJXqUcRltO9DDuAuvQ0Iklu9ybII/1Xi82WDxab23XVfdqhXoplZuSNWJMBOVT
yjjQQZKWdbcF7Qv/a44eF7o0H0yUJ0HqnrST2x+IYuxV3eHXX6fDlFLhcEVNnmMQSEeKwGkIKvcz
zczqxc1N/5UEJxhAqo6Mu9JfGNANrmFwJlYz7fyJJErs4V19pBLPdj2YMGyBU4fZMWcJpNcVli9/
5US+erf1VO0Lt3NJhyxAOMki92H7oLFCFeU7Xy7zD8D0MgNybmesUGNqntekMZp6b7qdZufhWne5
g3E/y1viHADVZA+FgdZ/CC1dryM2rVCV8f1kvCVucWUmppKrRuc8JDlKNhjBJMHpfShzA7jsgPYY
+HBQh90W9XSyT3vPHpEFhONb79Jg8Zv4zTPEM8y7bjcSqDd4uBPWEgdStfKCiQEacsfwo0Ma8OQj
koLw1foudUKqrDPhvaw2lNMnHzgCZ+YW8WiYu0mZpHDmPTy7U4DX7SUpOpouPp7EDWKuXLx/wI3U
awwSdk+AkXtiIOLFu8K3ij3T2uwbQohk0zEF7PKQpnSrvPFqUnIQyzwTXJ286EH0JFEinOfXnPEm
rlPDYwsCRg6K2cBH5US6FvtXNieQYLpeBU95XNPNwxwQQFDN5DOcBrA1nZRawkL2cU8pQeA1XFMn
N6HkoXXaKz/oLXxh7DU3cTJ6X7XT1b8yV0Y0YyydQPlKRnqruPUmwihdZo/0AtB7U7aLyaqEUaE+
WN15RIejzuOxS/ybBEJ/Qz1Raw5s7LoZuH3DmmF62EpA5G1nb50VJgMbF/qFIOmmhzpCUijcH9Ac
by6wjA02z+6NJ6mWV7UQ3V5VqumuKiF7h3oZpd3GsBr1HZpxEu0glycUe8RiaBBm5OMyNmU39yux
evs0Y+zDzNu12gXiA34du0ow7G0XE4UhyQVa9ZWAalsYbIXpIg0gHPWo1XYGxJ9sZRTP9xIDVrX3
qYxqWqag2WjBM7/tUbNcD6MRDmuo7PNWi0VNM6Q54y+kTC1yB87OHqfyyH55EN3VNDgFiR+aW4ZN
YMUcLa4FwySW/ZwDcxT4Nw1UUKbM3Gy0YO5UbMIkKWnOccO6+9JXLuXpoBgWoWGN0VaOTXjdgNMO
d1lu/mBU8R9q3zN3MaZwd2UbZTtuRJRgcnWirEKGliGT3DYcmyCgW23cK1oN/1nGM/Fgbh/TwCQt
ksXB7I0dbb0d/9h2Mb1nFGRQhWMZPzDFxfVH4YoObvDihzTzJzSGLBB2UTp6z1XcVWfk/+o5ydmJ
rwq/Su4ynb1WYOG3Zex56THhEsEwL5GHQtYLN90YFh8sdIzvMq6mpyQLOoMs8BGclMexO50zrkLQ
bH6W39BDjv5BD8ssO+2DL4q5+lMkfv5rBvhHTkQ1NFuatehkmCyb1i3+Qqgb2POBVLmSQzWzf5uG
HnZMLazdyEDhzEjHXieW0901YkK0ZOSlBevTG+aDxQf3odXIKkNkYitESgiJIqRNjzVoXBY8qDSe
UkzI4znSHQgU5iuKpavXR+vcaJhEmVUDzTm0O6y/Ph9fgIbsfplbxtGQ3DBswHo2z2Y/X1UWnNdD
MzoW65mohZYdp9I8tlP0GGmsYkwSpw8CzfF82+WmEux1fT1nA7FAUGPLQMtXarLR4W5LIvcxpTUB
jJb61SquXfVUw9F9ohaFYycCjDLEFTkIbEukiMQQiPInkFTObF6YA+CYFflv2bDXXftWkm0Kd2TY
j9GZXa0c8djmHPRUlLWb7/+7n/3/7Ge9QFg0C//bhnZf/gP24+/f8ZfFLOtXGbgOKZYQAlwPU8zf
F7PWH65j2ZLNlS2kdUnF/Otm1nSge9huwFKWVSrCBXwsf/MX2H/4LAhMAfuGla3r/0eb2X9xrfCD
YXnwbaI0PbbEi/vgT+4C6Q09gRwDzSW709UIr2fHzFSuTTOiHoBof/rTX+bf+HNYNv+jP+fyeryg
AxOWv8c/mYKQYxJLR3j6drabBFO2+qHCYUo5sK/5319JWv+S7Olg6hBeIDHfO57zz86JznWkZUXR
sJWmYNmZOw4bWxWZx0TK6joNVX/N5inZM/kpNkrXwTd72v4OyX16hOxApaGNlDjJaeB5hABpM9cP
VP1i4+geVjFxojeuq8xTJ2TzOQ2zE64bMoBcmhMfiA+LGASzg1USG8Mxh5nVfMr9GoCQ5cXaPAOt
FERZygbZYDyHKOw8GwdeVLL6BGPJs551P91oRL+VSyhQWnjWpgyz+Y4TxbVWLduwve6JxUu7tr9P
3Nk4a9wq/UHbUL7ZrgT8KJ0Xhi8+Ezg6hwi9MMFPmafgcwKdpVg3vH01W4Qf4VLnpu4CxOCrhulK
yZ67r39yMhdPXuMePcXngfATuTU8UpAm92mh6FakcFnhaVa0wzGe/rtxzMgxJIzLJkliDUrk1ciJ
r/GFvE/sGSwHSkc2UeDxAhmtmJ3ptRUY9dUS07MWXddD7kYRnpkokFlJ+5SsKfGkpjGmJ2NqXuOg
Yzg72swoAeGuKHB9IFXeTVuQgp01Aa4g0POWOTI7MgLGrMUErhtQGVjERhoPk+43DtsWMnqAXvge
A00ocEepzR6As8XLs95Y4Rf9YYlCCHuX8B+wz3mCBR47/2DdZ14BML4RG9fmxaWbUy754h4OIviB
subRKdSHkul1XlAkS1d9EmGfrEwC1DZ2YezjQdyXab3xl79oakW4jO3okUWKWotRfjsdXJ3UO+oy
ydaZme9FRVfEFqpCx2rdhxapDmVufiduvrNS+oG8a/e4236EdCkCMVdjzf7pQxLWreQnDeKrvFXk
3qXmmqhvzbhcPyrKFsTkOIP7cxSmtIiAxMjy2lbBxOduRInO+p6B0VVi2QM7UfhUt7plAA0qs+gT
kCcMG1fWkJ1FMP52MUxs0rF2d2nOm1czQmCPHRSrHtfhlgs2XZF2j4c+YMre2f6NnCJFfgaZbGHz
MrKhBxkxkGBppUxBQ/DOlrqaEk/AoiQ3qjSacC09gtTSkBLHVWeF13nv1vKVio5fIGTxGvJy2RB/
ho7Nzh4Ba+Za3hqmxwrZMggEwUsT8kH4Tdmy4ECyuuaNvQceFqzDEkSwkTEFY1ds4QGQ81NrMAUO
G+9pIG5oVXj5VU9sIF1E9Rmostz+93L9/1yul/vrT8f6v4ifrj5SoFrfw+/f1Z/JWn/9vr9fsCaH
P/5L14Jg5QR/J2t58g+xXG8ony4SJpuv/O2CNf/whEOGNG7NpX6zsdX99YL1/4e9M2uOG9mu9V/p
8LOhwJBIAA/34VYBNZDF4iiK4guCpETM84xffz+U+rZJqi25HX6xwxEnzonTagrFApC5c++1vvVJ
lxoKJpwkeKqFVP8RWct4799bLLD4eS0LUzm7Hk6eD45UE/hRWFOvunIgFzFrtigl0kOQ1Y9tA3JH
WKqL/mAxgHdbH0Ll2rTQQ/lSPRRN/2AM8Vf4x0e0y9N2DPtu11btVRzkFlpVat6iUyISRhqxrs30
oWXPwPyVPEBodJ1+OjNw/q3ybkm9IyRHH+LLN3fjb7bz9+XD6ZezDdpECzUM17L48MtBlg3JbiiE
O2axq8H5TvxXoJ9XGNTW/+xKDI00U0IO1/iPQI/wvlAJlFqz+iwTmFbAtMMb5C0/TG3haqS4/vpS
xlKEvDMRI6PD1ySFNEz+Z1HMvS2KJhkNmTJUCuV1/2L5FcqGLAeuSy+9drS93xd0u2VPn7Ai+NhC
srtWJXbfJbt5ixqEGNau3IrI+sq/dZfn2QVOn9k1zfohUIZz+sFPeugKhB6uKYvnesymNW4n5gF5
dZhEADPJjIaNb6hnsEWaPWYaclR7YKGCJEE39Kcn2c9fqyp6NKDW0LFQzd983dpy5z58B+QbqKYu
iaU1EcO8/w5Iggz7yUCGX9j2NuRMo2WwHsoQBnzhb53ioczkk2LTHQrRIEeErIg++5ZSrfz6Zpwu
9P6DQHUwELEjYNRtXHfvP8gEvinIAjP00pbDtVYhxe4V68EOmpp0gvQl7ZJzAaGHOOfzupvvCnO6
RvxnbY0SQXPm6NdGV9/SAWGWj34psJ7mOHjMJm0zp+bNbz7sx5LTktJmEUItqy7iK+PDU5rHNpGX
7Rh6qjrHayx/WN6GO8hut5UiL8oWJnUH74fzJPjrbVSp98yp0IwJ2qt44es5dnuNBACCM9YzJVEo
5d1QMlv99ef86e7yOR00zMj8eZVMVrr3X6oZVBap8JZCpye9Leksb4YsQ7A+jJd0V88xgsJqQ/W1
EpKWSVLPj301k0cLoh5O968/zEdl6IfPYi/f6ZsjiCoBEaSMH1yflN+R2HoMBmzoHGYJFGt+e7nT
mvT2gVquJxc5rOBOWfrHI49l+Mz1U2yExMsTNEXu8MpuSUvIBp4Kcasxw6ENmxVujzoCPYAVXclw
2gs1fMR9YuDb9RsvAHq1yp38YYG6B7ARAZLfzUQmnOuhJMPSd9CBmdE1QJKOyh58kzEf7LYhBFX6
I+N+ek41JH2SbjWPgLNzHOXxmgiyzBOiOqSVEmz8iYDy0oGu29oEPRVmNa/MjCafXjPbb4356tc3
4v1iDrVg+WJ0ZLrsVYTtsu+9uxFMAFOqI27EPAvOZwEM+eMY00HNLn59oeX4/G5xsWhcUH9ZKjEA
7L/mh23DnJl15z7vtBFbRAok33MT+7WwS+ivjtG5ThN+icfhVlTzvu2mG2b1X307awCC+I9IUNeg
4b8F1rzK1WRXp/pd2wKXLNIfPY9/l2Ahfn40339O6od3jyaekEAvq4TUbLnkmhMgajFNj7MHDDfM
rtQet3vZgy5ScNSCqb6oRybidkn2+YyYpBhm5YhpSvHGEcQU6s3+Ag5JRk9+SHZmbvvbgKnM2Szr
5L6DobMuq/bYF0NP2dqhUmvJz1L0UvCocWGp9hM21yld+ZVgfIVWAI4rGY7EJ3dEfRdfxjZ+8sMS
Vn05TI/kBt7rsy3BmYT9K746ALhYSzd+VwXnWD3mTRKm97++tz8/RFQ7pqDqYZsG//HhbWa2Rblh
5A76RP+IFIBFsMdKb239Ut/8+lLa312LmgOBOt0TzdQ+7NNjrFbMRQrHJZvIOOto/AMkN85L/GP3
IWo70qwqEqKniyZ4xZk8rAu86yvGGTWTCgJS5kmT3BSzvtKc6Tcfbrn2+1XGMlAF8jXwUlGvfnjE
07jXMpMURpc2+tkUbJgGnc/V5998Ax8rFV4kW3VYxBYEhaZbH76BWk+Crpdp4MVauIRTjruJYzni
y3Y7RyFHJtLVOTqWT2llfo6H6dokcyxWEfxZIu/I0sjKVVVHOd628cquzfDAbBrqvG+J3xQUf/dJ
pS3YFHksdM35sLi09AnogdLHsCWq8jjKNj0DAgxJIUMQOsoytDYIk85t2s+//pI+ImEsy6aKsem9
mezK5sfFprezdi4wBrhZad3DomWJgRzrwIRBHtpPHd6a6jeX1P7umlLTdSmwVrDAfbgvDg58RA+m
4zqVv810jOR6VI5npaCHo0eU9ln3Eib9ZzKSnrAHPOkzs3ZfeW5B1CJnLoqjPeavsWUgBbHWUXz3
669E/LQA4wCX2D6WRRj/yenzv9lzR6VCbK63CjhGhDgxzj2GFT4akRX8aRD+yZyeCx4ifPivsRme
dbN8ZC46blrpf60rZnWxFDf60L/GIVwrYkKDHqGekkRXg0y2ZTiwVRX4VcviRbLf4lxCaYKrkzyt
ZDuXYjhjlou6e2yATHXVJjFxmWNUxtn7lfAJt5nyTV8nG4Hg3+sNhFG//gas98cyNjuoYBxb8KIt
+Ba45++X9pxRIKeN0HIbvJh6Zl4z09tBxcMNwoR9nTowAxszvCjHALm+zz8pyLWpp7Tx2qC5aevh
RtQxm4Gi22uIZKDFazZ4C/JCpj5YlSTYwGkw4Br1AQpCyyCNxbsaIKsMEg5DlhB5KAY3YthpEx+F
ldK+7Q3nq6ZHF1qA8T7V93XMbhAzcBpUSZIUFM8w7kswydWx7iK354NqanaJ8uMwxvEhSRPmbJX5
1LctwzgjQFY9bNtWXhRKsgXON3ujkzD7yBl9CJyj3mjAQ1VUjfmVFqzabHQnDQV7KJA4jFJZ8Udn
ulm+EER4WaQP1uwgC/n+m1vxcaW0DcplXk2OdvS0P64Mncz93KoYH5I3X+HgsHYLA9dYaURrnK70
Xw1M+m9EJdeWBebN1/1TA+X8e/2UPr3rnfz4kT97J9Yng6wH9mrVtk9esL+GE8uYwaAzLLVld8XV
9G+9E53eCapyCJOGDd5rWVH/rXci6PDz9zHVYF+S8p/YxngMPj4bbJ/s61jaQOUahvxQgNHtVQZo
jgnOBwj4fsHUFfUr09mQD3TIY1TXvtrpkPTmYocOp90XQDvTtZ055UWYKO0XMVC4M+4M4wdZAmUA
tpkXe6LHGNoSNm1bq4rwGeiRvX2phqwJe4QKQ0Q0fFW8iHk5DJGHXNPkl2gWuiLq+k1APzRaixn2
j9cSXcsEPyLSlz4pRvkwS4NvOTiwzLV7G0sqgzq8wG1KDvhqIvYmPyeZzPqsTjGm9FwLxwOEbv98
bqq6O7NDVX4BP6B/8TFv3xFhPlwWc8su2c+NQjGjBme9ZqOKA17XoKpLOzzRWjIfm3xAVZIqatSu
eiisPY4zP1S9ofYRg0tAj7cqkbXmhuxFjL3VNFdkUUN3xcSLnzB3sWSN/mVoIazwzHAGtlBkAjt3
w1R3uJQ9mugDGx4KBt2HSrMuiwTMUhhrCCE7K6hV9qmsfOUMWRx02lIAzpE+A4WOVXNHx9wQa/ot
JpnpxOvdDrOeLcRaHYNC245pi1+Wc5I7OMCmadWWyUuiQBvZT1qXLoVMwgXIi7UfFhbOZaL4Doos
S9ypdtzvJt+fjmArnCv2pLxdVA/16DWNWnxmBkTfYI7JPdxKvLJnSAlUmE6IKO7VMrHgY6vyRR1t
I/I6uaiGsm7kq7ExdqA1ikm278yGJPQu6r7YgSn6zZCKxmaowdkOZrKFjga/wC1Sn6oFrl7Rai5b
/E17BLnE4fnohN3Q5gqu2ap95nWdYdzEmSh2nMOja8jZaG96LZYvKHNZ5ysIBBacd31Y5IXhOcKp
FOi5Jr+LPOQ87M8mFGS/R0u8a/zZ2YMEiNlbzEhnaG8NpGnnmnysrG7RsUgVp98wO9mIxluUYjOo
wB52E2J1fzV1xAG6nRS4ELu+s75WeRDiXjckLmh7Jj8cCyRpRzDtkHCoZd29Sm0eEcvOZg7cRsUK
ts7I0kCIa1fdBmOfjbXFyP3rrGcwr5cTuebJuBgfhtCpNRDjU4lGQm/rQ4WR+VsXIUHZ25mCe9JH
6uLKNC6w3w0ixKnHG53dkklnu43V2QhoCTjVFRRI7L335ewcU5xzXt7VqIXRhJKcruoV6H9L7hD4
DPFObdT4HpCYukUwMXtWJOYDvPj0fAoRtxJR5Vfs3oM1LPDHVlsGRcV9PRh0Txtjp5n90K0doy3j
M0Eq3W0Qxl6bNlO/jX2ScvYwcOQKYa95oXZ2hKqSyJeBCxgw7VUfm8MzgrX5oPdaDycLyEh3pkAl
mu5NYZOyUE1TD5rJIJUG8nenpjUdxh7TDs2XhGGGQnLA0OWLeGyo4AoD2gr3w5Tm82WEnmxaa7wy
3cahkwiC1Q5GZPCO0yKkhtDSzQSkddN8oWCxvSdBEm1kZbQ0abtRTENM8a131k5pJ5Z5Zh2hrayC
xEJoqFTVUzGWMEfsGMoLxM+J4o4RtrEuTRT9FNn8tqt/NZkXqV3ZEYOYjeVVo/ftltzr5MdR6r96
2/4fxzmkLJLsuiAhf3Qsftrc756yKP3j+PSte7vB//ljf9rC1U+0Vyhzdfp9pI4YnFT+tIXLT8y9
kSbA6kZP8G6DNz6JBWyIxACCIbN6/c0GzxFK56cECxuKF/UfbfA/HQodQ6f4MHSTq+kAFdn+3xxD
ajweHaiE2osCYDh+hmFQqR4zAUmnnulttMmZaEbYEw124Tff1NWPk/gfeYfWOMrb5v/8C7OhD7UF
TGtLwpLlOzEY98gPvVqEg2o8WGRlaAvewl+sOsqyXtdjg7egY0GZ01g/RETxbondjDA2aOoLhs7A
c0qU6V7YCgp8UEgEBJkAd8eZPCuEtBgVyWw+Q1DA+LpuHPLbGtvt6om61kftOO18tXRxclrXqH/N
5KJcYM4VrV4jZDml5cRfaM04deYRY6sotHRZo+FLQY6O2PjbdWGS1MKIEwCZmTbG0QIScqepFYLE
Es/dQtDRD7rdKHcWkP+1tAvncjBQ4YKrFLDx1XwbYRr4HEcVLikLTx7uQ3zaqey2yBXNc+K5na0J
cmsPBUOQ+lcrChICjDbJTljoFy2zko1bK1E3QIwwC+O8Yrli6kF/dRtEC2xRAbEMjGiyH21fQINO
sOPfUI4yym4yhzDgVuFba4xpN/Vxc2iDGlxuUoXZNbr7/nvmT+rXXDQMz1VTyac1Vld+lG1xeFi4
LAmC8SG7zY3mC95xk2E/kgJHb89twjcdcC+7IK6bXQ/JYkv8xaPsVIdlWozSTdnhYbY0nQ5FJO4w
V8fGyNQmG8djBwadm5Uk5z0I4i0G9mSrUwx067iyi0POzHAfpmO2M/pwuAuMIoa4R95gxPABcZ5N
2ljH7W60RH1Kc6l6Mi8ZYDvkSG0TxbnMpmo4OAlK/6QkHs/gZFbQ2AGgNyxCA6WxdxoaYA8gqGO6
Y9tphwkvcblG+0l2Rjz4hFArKbe/zuaN02GlDEgNh7qjO5teMGeSbdd8QZhif7GSRL0omdfXY2Ce
2xqnqmZ5zgl5SdeIRcSFMdXOXU92DEScrnWHpmg8Ax8FbiWHVBkGWsTDodm9s/Q5RRBh1sktoxdH
c/tlbIT/z1EaspcxsWFDZqD5GNudoW1KLJUqX7GaVwTg9vQoQ20wOc/PMxGBxqBTRpHiApAJWctz
Lvz2hqqBPByLPJ3tlNtUiIZvfce/X9+CG3E+t20Dd3wKO+URxeN4iLpM3BkJzWx3LMbKAi6MdtzL
x57Ont+bPjZeRam2nF84pg9qhJNoTMhe2EMlH57LaYxA/SAFOsS1VmuPILOn7WyZE3A8za54r2X8
3Ix1ejWwGYNn7NK7BpELrrVq3+SRubPT4XVuEXlj0KXIIejwNYDl/S0isGY3BWZ0UZFJvZ9rUhM0
v0QbHFRGf5ROSJliRiUv9ai1hKTpzkvsG/5eKeTsKmaKixiQGPyABsgMGo+4IoSwaS5mjSQmwJv1
F5ppFVaFQTuqxWw++XOfbzC3Rq/LaBvb1ZAj4+7t22JwtKcsmOWV1mFT9kMUINNoN5/9GGtU2jfq
oWW89hDGZnWPa8P4TMNE7MMGh05ZTq3vmslCVADNOmzLpiETKsnTsVkz8NPqF0wUhIGGRh0QFBmn
tvisF1Ex4Ntq/Yd6xnwfT+Gr7xv4dASlwuwRDlvMO31QZpS4UcxUg/RDewrxWzvmjO817ijP14FK
Iboyx0niFlIcJn1xHz3xpI3TKvfxRyAqdiLVVXAVeCQIUQ+HSeHjuaPvnbuU/JTZVmU5BxBd2dkM
M6nZVHDVghUJpTYmcFt7NBXTuSJfs99XkBq/AFyradcq/YBmnrhkxfP9ntemjxT/CdnvYl9uneEc
C+Jw38V5a+190nl8t4JkdQ0YYLHjGwjW/SAan/J4LI9tHTb6WZjZSJGU6Ssqt1x3sRz627xPldu8
M8rvlT/1e+B4oTdYet95qKAgCdAsaitXTln+wMM/B142U0+vcRfgc8KUyxSoMwF/MrLr5QCcrlqU
5WgDGKMMpfZ1LHvD7dsw0RbqfC5WyP3br0o+NITDJ6X4wlFAfagiuBcq6YEvUYfozxAzHct2rjdQ
b5vLYZTOt4aT9RFYkxNvDY4vzIHlDLMpnZeAlmDsTbCQMjqv2gozMMwv486nmqXaF7z0q0K0ZAfG
NR+ATK0EUVw4D3jhyG8tKTbhcsBASsqSNVOwXjDbiNItAUcc4XA/dcA7OdmPGztBvrDNZEGJqi/7
DjKQ4p6txw9cjtEWIL6xLz8nUTsDyIoJA1ZI9R5ikmwFOYQHcqDZ8JAkkZZcWe1Zj30YvRAmF3i3
BQmpFYlg+A55HUrO5tjUJvMKIXIYEncGDSbusQYSkFCvAwZXh2yqB1ZTsr0ypxq2YQLLeGXZMs7X
TFyhijhM828UhAySzt1ybhf9oC4vOvQQoiZI5VQd+xuIA57bboKtgNzXaV7rSbUvZwi/xRq7G1Jv
FWDmmrg0+LuiFy6e4PZaQftktHK8YsLh3MzJENxr0A1A03Jo9GsV2WJJuiPpspm5DmldHJowCC8b
Ovyc3KUiPhPw1r/0U4RXN4lqi6SBYBpX2kJq4VALLMcQZn0B6hktAoaoumdD7qpmK9SipILQw7t+
hAGAcJMfDkWVHPVC0a7SKDWOYtQk9llLiW5GmBgrDOoqEq3JmzPyJMmDviH1oV9xstfW1GSbSCUL
lgL2hTOs6eIOv0ymgBznCaKniEuuxw/KTe9n1llbDAV8Oqlz4ixhf4BZR8MW59h4w4I2hmw0I3MT
HZ/nqpBlcY7ImnaBIwaJLyIhHInpffEKO2w+Tg1d3r0dAZeTeoycEpkaYSBDzwfa62FGeLVOLgw+
oK7+ziHKbrfCjtqXzsZEu8nahaHW12W5s3pdpfGaM8utYFCU6xhzkcnSaubNCku1P+zziJCdFUHl
VGvJqVMgJnyGUzt3yAmXVoJ1aiuUS4ehXXoNA2YGzzo1IJZSRYLxXhoT9PBE5MVLvwJbkHUtyGK6
14B0BeuK3OMlPqQkdEOn+vLqpfdRBVkD3PfUEkHphre6KecjSMt+Vy+9k3jpoqi6HnNSpLMynpos
46nhAsJyLPf+GC2q10zSCumXs94aaA72y8pM6u/OqXkDLY9GDjql6db80d5pRqBq+anto0IiOHSK
EzbehGzuEC4dovbULApOjSPuC00kDp80lGh2sohF/WA2h/rUdMpPDag6UGhGpVnfQ2wLcN9eBjRT
chc+LXe9PDWy4lNTK6EgNjfA8fTb/tT26nwLq1jc63p/5uBlsjfa0iuzi9Q563ortSl71JEKWOIo
1yZBdwhQHpjdpfkGtUX/gn9afuGljvszTdQGtAkadvOpd9cvbbyp9Pv8nPM73T3EOdVA5gsdU9cm
WJCSteQYPecpoT8MakfXV2bkoyjTakKl9Zwuos7JoSc9QtJd5J7QaQxpZn1JISLcM23oowOeA7qS
ZjsE+7QgwIDwYuW7qsX+WXLqYqrsKvtpHFiKi6XNaQxLxzNamp/c7fJCaDNS0nlpjppLm9RvUv2c
8T5AcNNvDwgK6Keap94qv7oH9tXpAECK8VhCuQ1dKwx8jIqUR3Bjiby9I+quwqny6/OY9rHVyynT
QXjA1JSTKgovTr5vz4K53rVdGgkcKHhv90UbPOdRfltp5YPhZLeIi9lYLdSyFJmPDf6Y619ff+kk
v53XLpdHFbII4TUVsdmHTnPiN3qWDErr1X7DIGsu8wNffnr+66v8pGZaLuPoy4lT5TrmRxnb1My9
PswCo1LQcibsuxIek2Io9k6EM2qqpC8h5utOHn7L2Z50Vx+qlEBzcLkPJMGZuK7z7iDLrL1JAPNc
LF/ZWmIvIF2unB50nYMC+EH0cR37YnuFbrLw/7cf8yO09XeoPpWJLsLAN7f8p5aM+5Q95X885d/+
IF/3bVdG++uH/5y86J8YkvBPLcFY2sTr8VdjRv1kY/lAK6oJa5Gf8ij+qVrV1U/8CWsPG5UOCmsJ
i2DQscRO8EeLTcRZNHs/Rjb/ZPLi0OF59zosaRio2DT+IzSbkc77t7GssWLRRRaeFkevtFOPVm1u
S+ncxT5pECppr/RXx1Wv+HewUa7LWX616mDbOY/hQESdpgTnfjjfJ53c0jleTmJefIC2d9Yyghmt
1Av8/iIc1PtKp55tg005m9t4rncws4rQ90RanmuLR5Q87IGfrXgd43onqnSfSOOajOyjKY3tUIlr
4WtHUtwWpf0YhGC8ncUyfmsr5e08+h7Je5CginWScR5tn+f0dlqSObN5ay7RhoKItNLed0F20Epx
zMV4XzKpKNv8ivmxV07TNuXEGtetO+n+HeIb26WdcdfIYFejp818fHesSxDKzXo3+3TCiTW6Jqtg
Z5QEl0Zm/9hyxgZz+xALvrJAFVvDl3u8JR7ShBelNRDwZgcRp96bJ+9vWlwnaeTbNe10Ey0GqwYP
E0/NhzWN8lInzU8RHjoYN6CpDjf+EAzVpTlNlyDSSBcHAYdp3lNQsbHv/kbz8ZN+yqQ/SJNNRUJq
/R30sYIU7eiR7yngm8syOthdvcE/qFFMmKaXhDrR14ncdv4M03y+7/PIODAPVPbAy8AXr75PRltv
kEfJdZ8YJPrRJPT8Yj6MKfHAoGdobQXKXuXYk80AGIUJXWybD5ODaBFDhj2k3mA402pMlxrQN3e+
Q6dqxOQRWr6KmlHHpgczchjn606NtnMTaWvevS9GpZ/7MGzsuDvPq7A6K9jzfuwG/6ix/R/rWv+7
/9ZyrZcCnmIUhG3zV3jQsi69+z/eSY5/3X2vp5vvTZe2b5vK/9E//DPb+jfL5DLHR+Pz5ln9aZX8
v/m3v9bJY/RSPD/Vf+yblGWzebtm/vU3/VgyHeMTqxuuMc1AuEH4Ds/zj162o39Ct8jKKBwdmc8J
fvr/hf6Y7OhYM0emT2nRYqau+HPJlJ8sON/SQf9i6kT5SO2fLJlL5M/bJdOm02RxOjJQMdC1tfnb
3hUwTVM19NHGehsOFMSxmT3npc3k2rJ4z+j2bgrIfK3kiDA7yXOhIbF1ODdRunNMigqOIHbeuD4k
jLU/RPd9gRfnzZf8dwvChxpr+YigXGEpsYewUyzbx9saC4goK30CqNvOEKHSg+EkGtIUnELn0DP0
AZB6lE3nNgG5zolkkPmf+gDoAnW+KgvpzfsPALuntAfO0Vs/4ANwtO/XqH85PrBGhFVJdh+IrFXn
tGcdvt1VrPE5fv0RljLyzZp4+grQaKuaMFmb7I8GxEaAqkqztNrWXUDPSbPuuhBjE/vLr68jPsw2
/ryQ5DKCODD06+9/VbokTTsxN9vmBX3/lqS2jdWWDwUkjg2cgWg9oWeg698Yq34YaPv7an5QRv3a
zDVaDD6NZANv9lMTm4NXj7p6YyS41Jb3YuuYY73v8mLa1plIPKXEo5RwkPJMWZaQKIhNx0uOlbPT
r6C4pTx/fJFTJb+i7N6rNf1pEVX+WZBjYUNfOm0bcw4vJv8zuB6e1gwZPVXBRozDeORU+KoZc+KR
kvGcK/ToyLA+zrbzvQ+zG1ibX379zX3QzvHFnZTB+D2oWyFfLHfwzVDImnO6TxGjBODgUGjG6WtM
3KAtQIH4oH/YzANnZUF8/Y1i82NtzoWFidncovpCuccy8v7CWelYZePY8dZuwtSDIhXvoaG2O9yi
uotxtSHBcO7XePzMc1pA5SYnxXJt2Tk3NB11Lw2DTUemMQ4e3ilmTolLEIK9KqqBIiL227XNNCqB
HZfrv9nq9Q/12vLZJWp2h1INvan1Ubutdo4AChamW4pOonqUE/F8sUL2zk06dIWXWPTVW7/NjuWI
xsXQ9kMSnHUpLEw/k/sfC5AYN4V5kJYEntp0xorefuNC6MO9mkIoG4355Z/ea+w1DCxNpiaOKT6q
ZGlVKDQj+NiDUi8J0SwK6F2TH190LUtnXXWYLhWR6r97P39aB7iyWM58jCl+Poh1Op0ZQrrTrd83
BA51jr1yorZxf/37LRXW+9UG2RJqV3RU/HIsOO8fqTxlGgdaIt2Gk5VvrbpKzhDlPP/6IvZHOefp
7mOJ0jmeaMJh1vv+MmieLGh8Pa1TPX31Lb9GT9swfQwYjq2sxafqKAN7C7pAFEdzcpaZ6asWiJnC
PfbMvAvZd3BCagKZQtaaihfOgbpLGx7yJB70da0qEdAj+06RyrTB3XUEn1jvyfnGHjDiye211Nko
xtDC5VF1D83IVh1Z30xtJEkNMiaMCf61JjS1AwUrdreOoabj8/Oisul3zxjA0arbKyhjEJAXNzo0
KIe8JWrH0EG3ouvN/YjDDVEJ4gW/jZ+zOXo2Y+M6K2f/zC9xWQg8r7Xe4dXtQnq9Tr5TRjJ0Ok5Z
m5TxSB1gFu0K1tzKoBHDkJMHbhmL5UFDZGiZPsueZ1AkwWdErvOmT507THc8gW3C5zaIrXcYUqId
8Qy9fSAF1FkPy+oNdrv5Uo6YagWIaReVl75OBBdLnVg8aSQarGodLN7iUW2AbLlGVenrQKbIT3Tz
Ma/1eB10GYLkYqB4iJgpy1mSOZLGr1rIL33qF2QZnzdo2xuE398lkQnrwcBLOJCG0tss3ENXNh78
XA2M8Uxru1YeLLVsXOHD9AMyiAKJ1K51Bwd5w1qWbxMzekaSyfCxkhFJUOzA6dQSGCeyg5mWt7Hm
3FVNlvEacgBKfDvcUvwYbCzQtFKDW5M39Y2MAHllZXdJgbH1rfy5Vpt63zCaXClAED1n5G5m0zKH
rGK5tlO5qar0NXdqfUVTjuFBfz5nySvWamc7NlPjBoJftBkyyDLGhc+4cAm2sl108MfEL/BYV+wB
iYEPXO/g1fglzznQacWbQJWsiX8u11OfvGJw54nlzk5W8Mq0kj9SK/OeTJaYO467XBdZQyJT8ArL
jYcgZLWmiWe7SlgcRovJMzPFiGFH9mwUWXrZoaNcy16xbxs93YCte0ZcUezCiSh36Vt3akt4WU15
epAxVvnTjaEyODaybr1EY/M4PbsTIx1agw46Jj9taddHz7ZPzWgGxrVhp862ndJnW+3jVcITrrW8
GqcHF00ED35OFCT4aUIK5Rae013pUMiElZr8eAUynjAMdddNWzPF7Sk+hSjni3zkZnXRUm0o/H1F
Vhorm7CxtaFx+xuV14U8PnVFpzQ8DCrndRIcgaLbPLRFGz2fPjgflyqmy2cwb+xppFXW57rJtBlw
gLPpWpX1uhx51aywvCgcp/Lo5uoQIsm6nitrr8nTZJkxSAT1eh2P/YGefrCOSbjcjC32buK7X5Vm
WbAsfP8zvwePLoaG5QZnqnmtp9VDUfJeyTF+rSSf2q/i59Ny0VnJaztSR9soqFZ5HHCBRjYoL9lB
SjlBfWSwvupI3kAkxR/A2AZBSI9u1ZsaeSZ6fEgBL7pJxarEQpV4ci4fTL04nHYnR+UpVgl53GAa
9c8ArL9Oqu9fQRtGAd8k60jim6qbvNyYI7EDk/MtB3y1MnSe3Jyia0Xr8jOQOZY8hb+3XyRhsuAm
jea2ttLnlvpqWc4mBNGLFON4WpQ6k+WFs98DVAk2RmBfOmPiXZXC5bUWHYfGqyLt+HlSIkgLBkfb
tOfmnk4T4VKwyMhQaGvysBbW8fQbMkZ8XV4JuEzXy1ZAEgRRanyw0z0odecYYYAl7IaueDIc7CA2
wRosjw2Y4pWv41IrtPoB7rB2MGswA2WQejXwPbdmlvRjpbMFiwmYsrtiMllRwVNgUnGGywbEmQfS
ycFC0Ogek2B+ChLuLk0an/YQdwd8Ex3puYBumoOninkPx3Iez04rMdN1CjEZpOAykT2wxwODmO07
K0W4QUhULvkk9rhpFgyB3XADGKuA3iuQZ0Bwio6Fg6LNNhm/k8OAnkTlGzvtK0bCh2qW4jmRJkpA
34MQPNGsYdhKNlK/Xp6wcWYxxmF1jb2h3PQzt2ooeOhqh4UnLXmsCPsjh6/n1hgOBcVyd8lQh+TH
G26FrPqcgvItkUg9Rz9OBaf1N11WR78KQWQkmrFSwJDuKnLAmftGz7XDBZAeLkAKXiBrTg5S8qn1
JSsxLrXEPZXDXUQLqRvq5ELx0+mzSpb7zsp4uwlSNFbqmDyfnpW8zZ5jO3zN5/HOVxnBE6cAF6Ln
q152G99hXUxaXgEf4cLFaMnElQpuN9ETeSdarBimjnSiK/NqA6KWaHlZR8dh0QniI6Y+N61NXFXh
LkUh7LKdVEdWyeo8EmG7FwMgCGi1cjUa4eh22uxskm6wvaJwGL5XuE2LZpiGFex5dVeXc/AcWgsw
xNBEtOm1krg0O8JEb8GqisbotaiKB7/OW6LmquxFcZL51iDM4FzNQSEGZXsbkz615ZwTLVlG2oMq
NNTA2USuuWXAjIKZj1xgVncwOzfmzDEJd/dSGpR9sccQZaGcyAgmmidI/MNCrZ+qYm8vB7gkpE6u
5vpoaKGgkzjCinGC505JkYJbMK0g2RmY7gk9SRgDn881r1OZs9gvxzyUIolL/h3/ZTfNhvjocOco
JIxHZoricoG4E6MFx0Rk6popJHSelCyMvoQuF2YAXlCi+Tjf6u/xTMHW9maJOzpPyV0oW48+9r51
qoeU+TXEaOaovSGB5RsgcxPbaLaEhdGchOzB5XF3g8/2XaF1/N1LoECkad2m7swzgDiPQRoM3xO0
DLussn13GH347rp8Ka0FGzS9dCPFs6KFLFqKCvvWBpSnVC0DPZ25eJzk0UpqKjgNUegqZ7hI4oYy
dkoMGcZoBpVZiHApnq/Q+q8VsG1sR90moOfl2QH3NAgvlKE+jzBxLYP0z5o6nJGObq/sKCMa0VG+
I3/lHRj0xNPJdQCFpzxhO0RMUgEbbWdxjdRA/3/UnVlv3EyWpv9Ko+9Z4B4kMD0XuWcqU5slWfIN
IckW1+AS3Pnr52HW11225La6eoAZtFH1wYBtZSaTjDhxzvs+Lz1c/ag0K13lJKPQw27Rr5FLs6vi
SF/VA3kuuB0I+0Snu9AZw7PYxm/GUPibaGYiGwErTZFH473V2NX8DU/LPmMHsnM3eOthnC5BeWUP
edXaF/akP3YI8Lgu9SN5LZRUaaWg2Ps2yxvWO9C1zTYtKIKjoZoIjKNi0jnDpYuEcAHYcjzftpYe
Z7RLFbI4gEdo1hrQWcSIin81n+jBa7IcWDymXkkhk+vGjUWi7SLLGe4ryX1bzLcoB+at3fcvhIt5
2zTvbiKPOybwyTvRciDsE1vB/D5njo1B92FbuwbHQnbrhU+Z3RrRS+oUj3pKGkXn6Df1RAJBowOu
7qN6OJxZUbEuGA+K8BpS5rEc0VPV2Lr0Drx6rZvqvtXSp4Q9LWzEtjJH/wDg3lpApEhPSc+78aiq
FrXfUF3Py+nUyOmUIvledV5TbnrHu4Mj84KY50iBMVxPYlBUgdaJSUXORfZBU8Yu50aUlI3Zx5hx
EY6beMdMkFaNmfFZwa1d4j2IrnVllE+xzrXPKZPXM24ns7nDyoy7oSW8gwKLa0qsLdcZJxlE4lxd
hFrc38lKgyWruN3MuXkVhyPsxzn/cgbcBDV1DgLG4VLTLLNduP68SEtOK11XUnvXzcSHpcY0pw5w
Z5yQoKCKXRYaW1ws9Z5x9luuRW8hu71S7EN17lwi/tdX5x0dSQjROZQ71Xyvhtwml4GNcDCkJuBw
ba4Ta9TWGm8Y6QR7Zj4WjA7nUwuK/WGBGDZdtaF6LNAS0e1v+ysQjgxOHJ0vm+iiLVbr4DDSmZwD
iIar1G3S26oFKS91Y62FEJ0GJh2bjBM9nGHuSdUU+THu4Cb59ujBifeNYwh3nLgI7mGI3tM3aYno
u4oHf0nXAriQz6TBJxV02WrcTT6z7uesr/kpSr6RuKC/SObpx4xd73z3c95cQ2yMDxxW32hC8Kky
99YjWMD1zRvyPDjqkTq4Skrtx9yocuyp2rWh352cim9kTOc9cCYttYXZLWHIz4tCWN6gzZVsZn65
jAwtWZp6dIkOx4Nbb6VribFpCRf2oJHHwIpbXozmhPag4uWZ/1Cvoj1ZxJp5NYtjoDfMEbvIcVZ+
RFeKu50truUr6nL75rz3+gPPaUTO6p8P/nND6n13gfmKMduw8HHq7zplrdkC4i76dGvPl2k+UgE9
psiowV8pB4Z6yP3355d0ftfRwEwLNsHkFXV37t791J3rkk50YTKmW8jinP0tesRO0zxWJX1IonGm
zUSSOheOG6uZUKlGppzjMMsHp/rqVSVzMAYsyFmnzVzZtELX1q4Qd2kXXuvmMC0tKbSdmakWjqVO
XGbfXbsQG1em11BzN+H9uXd6PpZhiP4eNzJ6cwc85k7j3qDtwCupNQZGpXE4uOUgj7POm3PQXAcL
jl3gkGOOaCTAa41DuTebH8/nvtawvNsWVZYWKJwPlY/baC48o5kzxjF75YReQHahMfzzXXmGEPBN
TGa7NCJm1t/PlxT5RSRDHk4w5ZxyCBAMDjXct51rUufJ1HmIz2s9owNQbzzhRk+d+uev9WPPFYI4
8xMI0AiwaSH/+hbwAc7uobTdJgKUMVjraEdqCxufW4H/0MjnjdyOCMQstj7pkBm/6VzSMZitCRZr
FO2rX1+axcRoSXNrt16FkcxhHyEPTTNu496VK5up4bdWTxjj6hOqLie5LjrZffFLcztag/H458vw
sWdv0x91BExG2s8U3r++FytvdI6bQbutA8tjako+UxXyOyMr7oZaddDTtH6VEzC5i0MysP/86r95
tJgT8AZ8j6+CUdavry75hFYDu2xbeRRjKQ2dZc6B4pPb7TeLBl1m7N+obH4zpmI3NR2mZAACDKQj
7YQ4WSXDN+h6l7WfPY0NaqA/fy7jdx8MLhd3ET5ruvvvPhiI3pCyRDb4ApL6ImhomMfQD/c8n7Ry
eu8OhXm+KHW6Z/MUXw7ZuO0GoyQfoWqXyHC+T/8kpmLumM5zREb43Hk0gd8tnQjoVezrJTd8mnwr
Smf88ffiN0XqXWRDdfnJJZh/3q9LtUN2HqyTWbUxDyJ//W5bU2hukKf11ovFpcJgs8o1whYKWL5Y
yNmADfJoAUvel7rcZ7q4VzH26y7uT62Zfm+YYy8mJ54+AbG8Z+FwGRwcMDARuNssw31vwLHAp4+h
CIFi+x19mozi2a147tHts2Wa5r4tqmNEk+wrHrhyUxd8RVokaelCAjTUQGOKOm6Rlaa5iAvSwGG0
XfZGgxMuSV7deuc0OkR6mxIEubRVWzdk5ry1YYRoPmyTtdaEBE7QqRFTSNhAzmxpnjqi6sc7qGfJ
0pZNQjD3fLbWdXMB51ySVaWhRpxbWfPY7rzLJJOu9n/+ysx52f31K5snyShzLDisKG7eDUt9oxtg
7OjllmRVMjwcUs5EExL60ZP3UyK4JvsIkcLQSKTsHSj5+WPSWiUghZyz0Zu1Hgjzl6hekBXqrbZ2
ADyuu7lungj52dQI80+0JOBteHRCQcJ9tlu/V4Dw/QoQqLhyLcdlKK2/21roZbDoKopNilI0fL6n
reip9YtcqEcii4tF5MojPhOFzkcge8vijer18pPd5ePND/YDsbNpMrnXzwqqnzc4mUxWSQRCtUXH
cDB7LsyMsozzzv3khcyPK81M2vN8wYRXmOL9SsMUhHi3DDB4kNMVTChCjDGdNmi+87cMgchKCLpS
8dxdroa2WECp5s2QyIVLtwtXfRm9gId5iXvmTUJy3kPa/XYmaxbzmTHn8E5/+6gsZvNWRhtOCzi7
/PnG+92XxgAPe5qDENT5MDnOObmaiMvLbVRLY2VmpH6rfMAAVFN1DmDY1lbffp/PS2ciZltFb6P0
Plmx3I93P7II5omg1+yPagZyTGpRGka51e3iBwqaaslloIOcQTjtx89ezfyoTBDCAimgIzA3SK99
v/MWRgOKwCyZX4LISMtiXM1jyak2EcAboUMDl4J6wnGH0dgOr+RUPBZDkZ5cSXFv6+FL6RnjKbMh
SHQcvBepnXIyx/uw0oK6OyVW/wn68OM+yjvGCkl16rKivxcSKGcQiKt5tMgDirdFTZycRljdutU5
P9HKBgurZ58MLX9TffNqMwvPp1wEofxuTcooHfqiMkk1SmhsVoVlcxAfsDAV9rCLZEM/lThnTrTt
Hsuke4H18ubcM6Tfrq2lWejELtFCCBgUrZq0w0nhWMaB1oqxqSgtS4sjZgSqeIXZ49GcOE2ceyK5
wcHJZPy8acS8msUO/dp5/GKbbYyDHl8ecPZoZ0/C3oYwPTEIWfcZJFWkgAz1SiL8FhNDh00k5so6
6HEXzhNKGJw3Q0+f5DzbKDIk98zcXueTsBs3vNygM6EIvlkaATxEw/RA2bkN//zE/XbZcEk+Mbi4
MBrea49LD1iSslk2wrGJrkm5oinAWWJjOnazoLGMcN3mkAu0+IW2Od1shy867yti+ghfW+eu6g8C
J93f13pp9oxGRwxeC7sunVXTmE/n0aZdGj6aH6kOknH3JelZn82bPxawAK+pLlAzYafV37OOVGgz
glWi3uaCzbgd+nyFNYhHwo66i1D5culDNXiyvUCsLNGln+yZM1D13Z7pmTa+YDQvaI2M9xIK3xtS
vx/yYqtnTNEKUw3XeGkaBJl0wq3Ktx8gY0h4YFG6JzcD9CnkgeVAAAKLMr9zCLpftbqQq3DiNmXv
YqIkGAC5o/1NN9pDOhaPWk3z9Tx/oLVhYHNjeJ2sIzCrj045TwMcmuwJTcmtLuce3zC3c6cyvlFo
Wh/0zFmVun9UHT4Gx52cDZx+uvah/8b/GXqA0PgBnDzb5h4CGwzx5if18G8qC/BLngHM1Mdn7byn
mnTM6vIEz8q2YkhxHhBIex4Jz5CAMuYxnJqsxx417Qc91RdTTMUQxA8MD8r9eQwz6ZCyS+VbS3br
m2xe3yr3ziacibl4+ZQz0V+FI7MIoctx++eH5eO6BzmJioLnXufM+P6M1GJ4rEFbF1vNs7dGwHxx
XirSkXbkuRuVBfKTVW+W6P1yV0HhZR2wOJTZVDK6mN/STz2HyMCKpVL6HLS2ywXBnWDM58n9eRZT
n7/elqFQx/qCkgPRCEFdzDmbyltYxdCuVYXdwkHMskCq8dni8X6jPL85GFIWz9usGpr//Kc3R4xq
QuZVnm7jqILKrngPGBKZAjAuy+ar8ufL/5uXmx9xlEqWwWHiw7aTlg62sCLd9s581yLoHTUKKrvm
3uHs+FkF6b2vggVrHCsKik6EbHCy5if+p48XqY5pI0HE2yiKnKMfdzZroRKrwfY3jJp8nH4pFUk8
w87BCDm72OmDnWFoOaJsW3ztbelfJ3CLXau9ql0Ps43bEILSd9W65xld0eqoLzKvzAEjY/dEeB0f
cwsSTNBJppsTcB6CR2nGd8qdZ9c3Me3wfdLmxqZI6mqlFSY8Rc8rd5xh7GipFSBy7dABzYUZcz/g
A6YjWa1VWNmg2ELrgJZDY6KSXpELRrg4crCtMC2uIfCPo1tpCfkuaXiVc07eTJ3WrbLcw6sR8QeR
qb0gE8ct11ftzUihtpFZkOCR4aQWFB0GDio6OoKkspHsHTD4TaV1QKDqoANL/WTlyirf5KVN2nKi
uh6lRZ7SsgqsrSUqb+fHvAetDEL6u1/Kxr4Ko9hcaXSHLzxXm+jFTMa3tscECs7D+eRBsz4+aBhT
UGIBYsKUwHn91y/bn0MQtIxdHgWFtzufe6wM1Uhe60y2qaUSU+pXZUVQa1D29tKaRntNIhlfID6u
FeEGBGQmEAkXQgnScrPoNTMTC4MvHjZ2BlLVuYHWo+YRHMgCCRBf5RuGCAju56vtWWAMxqK3j/78
45OiuWoi884RqE36wUVJ4hBI3CqZ78yk9j7p/rzfvJD98UDxBFPHsNC8twCxchpzrqeHw2raqmhc
0CL65Ol9v3ieX0KgMJyV8XCt3l1gTmEOjYDQQzCQECXb0QvtFCDptJwQgzTQ2EZN++xU9L4o4EVZ
OyGt0mGfl413KxRp5G7iRkpsqoKAQIZfallOesXYjVAAz2Kkp1lOvS+UHiztJq0/aWsZ72t7gSuF
AtmkgKe5Scfl17tqrCRmNlmIDRxyTK1DUvNtkz6VJPMLkty4L/3G27La3dF2SLeZ7Xb3f141zwq4
nw/z5/dAv9rkLIPo13tXOPPYKGEqzd0kbgr1eKzqHZgRxUFcryeYO6TQxVKvnwd9Ci65kPZlMaA6
zRvT+4LNb1pFnVDLureTTSsnXKW1yaWsaqq7qNzINFK3/TjWe4ec3X3ZROJYVbZ7FGVfPZghqgTY
3ka87f3m2hJhuYg6Lfuk+JqpLL9ukxSwtgvPxbLoIrM3v7vOEA3tii100/JUHXsLXKNehsbSx+58
OH8Iv42ya6KqxOwJNpYMHgFTzDHXGaFdy4kSbGXRi1haURDu/DDyVqJINJ5rvd4Pk/lWosXYaZ2L
hMwjrzQOrZsU9+e6VHF3mKao3mWVq1AATN7WHUTHVLteazN/YUb+rjO3mVD4FPOMPdc2sgRWoQIo
E2VEdqyq6suBfwk7opudKeHtqDkagRB9dj1O5cOkEotFqD04PaEnkw00NKyi7mTGonnUivz7n28Z
68NOy+WkI46mUtAKBjD76+UsfT+IJ85NmzBV9E5aTS1F0h3jsP8Chz5YWq0NQ7wBMxu7IwkVdLyW
iVN6u9QDFaDFdK9S5sugJHnMkhyQV5WG+nNFsgXjZX+64Ke4x26OYB80m8jLRpJ1GkbuNtW71ykp
/QtOeTpWcCR7TlPbm8qsckR9plpqbvHQZmO7IRztTtKQXqWT+qcrm/lAZOBPmzMMqOrfrRsAMiIG
bVyALnPekMx71/MXrkj7WPYG4Tl/vt7iw/I7O4QsZFa0Iwk9em+NlC0NF71tWCbQBK2AbPuPqKOi
C8AZBuwXAtssPUguibyLLkxP8dQqagijN0hp7yrKUK8PlsynvnZ+cCSO7QQnjQRfpCqDC4E3KWDe
cXN2CbpN/i78upm24XNxVcIaaPbcktSeb0VdTTfmDJMwqqn7YRRFvcMdbjCLGvJjUuvumizCcBOh
677vu0zdMrUOVoYZdTclSJOlbSI2SG2DPo07VWvSIbsTiiR/z1jxBkJYvfPTkdt/8tuTdHNxVFgE
Tr3O2lKXaUrSNW+HGVw2V5PdvTOGcFo71kqc854kmF0km6JquJUaLbk09UInfTLXv8FLISisM5jJ
RlGhbXwl6Z1CXd1UXEgMT4a7jmhoUEbRJJs+2dp+87hwk9BQmEXV81L/6+NSu26WyhBpp0eEDg8C
10+VDitsQSqacIrkk1PUe3OZx45GR4j9BMwy28uZcf9TZZrEzejyOTAXdpSWHg6ab+bQM6LlsSKJ
qfXMdVvg22+IAyQ3V2rIxKroAvSEtxttssCTiJRVmRXyHjQE4qOYTSElSptUUSfRNmZfsmy6XHyF
dHOlk4W5JnAiWRqxlyxbCJnrkcwOMtsNlC72l76zHm3NyBajL74EUfydk3i7KBllXpC2KHYhkqJT
mMfedcNpZx1lXrX2u4xmUR6VK9kPzdalc7W1GUhvGJuzDHe85OBn1icdxo9fFSM+FOmUWBzUnfen
dDclIE6bCod4QkkBUvJ6yOb8PZojbxdNTvXJ6xkfC0uObcSfceJFpi5ILfv15vCQt1VEedsbdEzW
Oh5RhhpQLI8EWjbbfNKji8EHbRASmF4WrdpBzeIRSCtrXUgur+hzRgG9CJakaydLv2Wj0jueEkjW
ClGC0WzLio8Su4W6lTXLtZPPm7sTKHaeOLt28uJ5nL+okFRGFNc8r66RPaNfxArqogpNilhbhfQm
7wqPzW5yvRPoxXTDlOGtKoBFT73zloqM4A7euwaeYzN6wXRBX8tcG+1AY6VQd/XEMmForPznrbVM
KbUUQU+PKMosUCII7g1EvmhEWIh8n10y4ukltzfTL/rGbraFO++mMkUMXlKXpKRZLltJWrA+L3Oj
ydKrZDu+5BN3UNqxREwVN2iqAF2himfvSbmxIapUDzEEgA3XzYLgwRsqBQlKdFymla9FTAHGavjr
TzOWCvLYtY0SJJouCpQhEIZ7cjuZ8y/GeddNIrPe2zHoYEXNgzqspx5oBlBTxlDvo0b3TkbFNL0F
DbT3m9Db1UAETnnEX9FDKog88JtVXSD+RvPdbOEFqcvYQEWUN0HBk8fH1Bwjuey0aVqVnVGvydKc
AzICwrlkzLXLHG+bTe69O4pXiV6XOGrb3LOwdUc8NdaaxZ+72Bm9LWGLlCwxZfR5pfRdLh9KU15B
4zkrfSodYsWZaMN15NDO13HeyP4pV+ddIfnf//rFnXl2XP6HV/N//0+ydJIHAaSZs8NPW/oHU+fd
Dwyc4XP+/LOF86d/+ReQ0Pjb7K6yYI/z80yeqH83cQrxN1ZzQaoHKnqyfkznP3zvho9ZnmMZKibH
xEvjsX78ZeKckxKZLVOgADBmkfnniMP8RFainw4KvCsa3pxVzkYaLPDvtrE4RV1qJcwgar25JbQ3
3kka7MsCGtEGeWb/I/FGBGeMDHdtQW6PGLJ600WutYORYm38IskRNHK6RIYN8eymdvtmYyAT3jeq
kMi60+FSBFQnlheKPfyVYtN4gfNdmUFBIs2QEDZEuOpLDZi1PiX0ZPSFGmL30XWM6KEp8/o0i8bI
KzGbOMDrp3sXgkYYXpy+oSUWOn6242RVwfbtARa3toaqIu9fKWYVcA/vAphS9+iakm5rQQW+4HLE
lA0EAu6U68WbCvhFSpnJgB4cXHKfS2GXy7xyYbqb2eAjGrQ9LV/mfiiv0sEmtYJ1tMxXkeY7pzbw
4nw7MJe8z5XePTHxmbBfi7jhlJcEWCTiIWO2m6ZE9iDgvxxT1TNr1gh2WzQMVK8a2CcPao4XXFM/
6xccyYiS68dLYzS6XWzU/WuhS/lNszJIHXVW11dNSkziqs9Jnx0zw3kI9N46NhYZ5lEq9PlwAD8S
Fn63JwCwJx4ozNfKCsPv3kiWIzacYX7jmbUpU957i5LVKTy1K1q0/2QBgyrka85f3JYQehz1NiHV
sW7yJplELmgzFZTsiXFlSh/sVCpGhlcFFABYY1azDB033pqQh/LFaKi9HdEV6ur+UIhaX5utqSWL
sI9u2yHWwA2HnQHCfcIByrmJraqd+mc8usmhh2d74oZqk2DheuCwXAKv16Q5ihXq1FU31MUq1Y1u
5U/K3QlNxg8lcS5kf2jVhaEV2a2mCbmUxExf0QAJt4UsRkRQvXUV+am+zrwk3Lmt1C/4RoO9qdUV
JWqqf6umaTpEgPivkUEmpzHhRlVFL16aFCuKbrHkp4WJOBh7WFX1y95XxTJIWgYp6dBDeVLlfWlB
IQlbz36OjXa8iHVlL0NyJzdUjQtKnfqrrpdPMorHhSGQAfE1PdTIVUPCy5ocZJnvxF/k0O/UkFyX
prHEtHtwyw0ZMAB3kJwy68CZUAGjJVYFqQLTSpPtqqzD+I7nQJxq7DK3fuq4+Y7NOzlkkRY81kL3
7uwmQadOtLDlbflLcbwoB0sS9q6y8YtZ6dUO1K5ziSWG3RGoVcAE0o9JCLWIBZWFy0wj8exLR3oA
g1XF2Y/woGARiJ7RcZeVTNQlPLNxCOoXPZPh/FB6/p3IDcT7TcxCEbo6hHDuk/E6suPoBqSWuxKc
/YiNmLzwuiT7Gm4c1MbbwfNGwtxG8KOwW7unMiakJ47JUxh1xKIcTJBc91Y38ZOyCt1oa9z6ZiV2
3gRifxGUTnfn+YN530rR79x+GF/8LJZ3Y2MWaoenxX7h/o7fkHtZzP4cgx56PprRMxEINszIwety
tPlCXCV2la9HXZrOwkqkRYRDkVTbPqwaXDxOEG1LUkivIgJC7zrarodAOeaXVNYWGuzK5E3K3L2O
4taQK9OtjLWumtDetnobXk19Ytx0KnS3SR83Rzos8jXhFuZbDSzzAUZlc8QtYoEKQu2JmCqmqs+8
S5LWJnK61Yi2U1iBjierNHYg2sILx+iSo+GlKQI7xzHwqGiGcac5LrHUws20Nc+vuBRpI288Feq3
NrHt5Ty2tKIDHChxH2ZSt5YtCobXfirIaqZbtMRcl5Dj5FRLt/UOSTU6PPMJZ7OFP3RqHWh0s2LZ
V5jyYi86ELAU7Xo/v9QT1WhMRh1tVVpUQZHfGLvBM+SNmzT90uHBXZP0HG8V/6HXPOVf6g5EYlPH
MAZj/6pL4vCUDtJ7TS0/PvUkYm4Ms5gOlcJLF7rS3InG0V/SqUpPXecMNCCCZhtJRxDuNfIdmqF7
DPwKqW6bgM8TdX6Rj2MygZZt+7WQ8oXE0mKNIlrtLBTuX7Wo2rhe+xUgernl0Y/2Rsp5siLJTkvS
7rtdxD+SuhRrt9ZG4rwNlLMFzNjMqg6xZldbp3XsPU2wKxOJ8soJXI3hXS52I92xfagFBz1UDpQO
d9BhbGvj44hXIkKGHqobiPOWtQpDrVwr21xB1LqbpBg2Emz/pojKx4yE8H1WNsYKM8rLDHHMDpxU
hbUo/ZYGe2j3+EFbWIJNYHe3Rmcnp6HTStCCZTMLsi6QAn1rh3IHN6/E1TilC4B57VKOgwEvzDwa
NqHiJL96OuWk8sHP9j7Bh4VokwsTayzq9XIaSTBzgoyyUue3bWHLLaLhg0oDWlaBM1bjaoqAT60M
rxklkqm+BFCbPcsxkwcX+u6TleFBX4K4jE/J2HTbPDIq0Oi4iG+xVKjtVBEfuVCM55aiGzhaRmEq
NyYkQTJTJoTzrWb9IPK1i9ds8XjobLqRFDMaMSZl38bdkvkd+0Bs1gWqJrPOydzKEvc1L+r2SrhN
D1o8InoqB3QjejYx329HvJ7mqSiISBjh4bJUjcmdVeuVtaSw7wu8Ef3wEATRd5/b/Wly3BVlzwn3
F4mQdZU8syBWt7HLxLVoHMnYcqgHPtRMFU/ABwH3nJ60sNLXociGQ2Kp8yB2QnTSN+PS8hWUHi91
XmozDb6FvPAiNJphPWtaF1JqYqOsUt0Xost3eGrXGbTDg8tJ6bpMgvAhdWS5lfMJjuFi9th3drkx
BQR74hNyGe8y0MO7Pgejvuhg8iJXyGFywA7Jr9kD+m2bpd0lEaPTwaQge4gxuh2GWhsOFWDg2cmr
70sOsmxIwjmCYmVi7Jmxt48U18rxm+nVrBx954XzENyZgk0tK9RG0nC2aeRskWDej246LRonplPC
yau01Mqkt0x4YLAkCQgUhifbNd6uHxaTM6oTbsV0cNdQUVC/VEz5mx61rKutXHO80azKOhSMUfZp
OTKRk0HxjCUR7LJNSeHUcnbW5PqGPELk/xOJS4nyvBssesj3g6qnM1sHpxxK5yIeA3NTZnm56uaz
dGyZl2HXXpjm+GYYdRRD0A30YYmKzvneYvUlMQMLi0mpdemnhb3JwQ1dNIj7tjQcFnrds6sQA9Dd
NbjL7ke7JZIsHohUMIZLfY4eEOTdrYhBYAjXDRhT+/m4HHCYG+0SrxxLWbS0rOGJf0QvVorpRXnT
sA4SPdlAhsiPeplaX7neHgBJt81TVCOx2JRRaq+dUNd2OT60gwiEuCk79nKUMAAqqyC9QhecXY7B
FNygbPCOEgfZEb1vamL3S51rnlBGzoAnifmxdIn3wHR+TDpQVhu1z5U1mMal05ruoVWZ88OPAv/k
zlQB2M3xF0tV1QXoBrtfgLKKnzRDNieWzWxfQfBc1ZV4DdvOJ4AoIerBTtrLxja8J9ueDftJnoNd
ZaOnLrKS8lQyUaHyj62YtJOwprPnlCOrR0OuwjTk5GAX7c5Xwt1rjhhvgySpJ1oE7aGIBSMNzc8P
1kAGQW/V+dUgo0cCSYNrZuvpU6971c4SZUzYMhNJRQ1O5xSfX+waazDH4FYjo7hUImGnY0q5Lqmb
1rnO4tz6LoYW5OpfdY4yXGZPXlUtCx71Y/EYAUz+5udZejDCnBtY1fbRM5pS4Nhs25IAlTC6CU3Q
x7J1W2aK0/BK/iF8p5h9L/BMXnkElFgL9vFBiPCCWda923ThV08LqDIlCQgtBZFS4X4KUwStDWIJ
mT3Dg+6u2VEHuKaUvCsdv/Ii1bWVjil/xTGrWXhl/xrDMrhL/VIeEtWP3NZdtycd1jjgPszWZp3q
ZNymAd5/D8toyQJZzXyQ7Hvf6f730CutPeNKLNUxUF69z9TrqEXjRda5IQ5sgiHpJxbaNpD43YBi
FZt86rl8dm9faY4HeTpK1TVZDznyq6J80blhLluAL4TVN4TNmwwNOPpQTsBS2DVibE7S1yN6NPH4
JQgIWyHoIntODX/iowC1l/kUvXIYM/dYsOABBJq96Pymute0qb9Nu0mQ/JZbxlMuCu2bpF2zqWK9
3MFc9tNF7GfIKKZBcuhpPONaod4mcaRe1V5ayGXn++nGg40mln5PG52THC6hsub7clDrPI750HNn
9e62ADkMsbk9WVq0dBFMiYL5uNu6xbKLvTefgh8P7HHIfX5+2SyHLqdDFYN4Fb1+SF2l48aRP6p+
2OF6uPPgry5do4uvY7bEBdzVcVd7ItyMtqqgmhTNHqZD81TpRfc8dYZa+yJwH4jf9QmiKYJXjZqJ
Dm2bg15Vjr/l67FpzHXiZE1ZeXQbWz4JL2ipjRxnX+iUtK2lESTrE5iCD4Dwtp0/gd9Z5IYGWDjP
WeKJYPS3phU5iwh1XkypX3ibgKnCq+6Pro0vzKGRlgXim4+TltmQ7qUPJSXSmgAN/7Lpp+wR80O8
HaMgxvZhDc9ujsdzgRwKrm47osi18+km1LTukDrTcAOXpafJ2ac4r+CCrANGlPuJTsWtL331HI4B
BinVl48l+xtLfG3txWjLtZv26uQ1zFkWVVO667bBHEMGSnHT4J/RqFg69UOfwu5Oy91eLOrOrk+u
U7jrvh0t8uoBDjwROFBtRW2+xWnuH+yIYeFiHGPr2gvBI/SQYh5YOBqgIVA4VqXmtLiIJxPyiWlu
tHGUj62TUrlOIrvOedwXUZMVl4HqnEsCUCZ6mvU0rooo77FoSbO+hl1TXlFcJ+XCCotxpxJz9s6x
id6GBZKFRRw52R6FKO5GY1JfkpIadkEJJ3fS9O2VzynmaIYGmNwsr+9dXcNKAoRoSapQ+GAnBAQE
CscHzPcu2fe5ay6cup8OkvLsUJHG9NhNVnfnU4Xe0BllN5kS60GaQ3zwye15CUXLXhT006UzOSUJ
8qUeHpWdGKe87qpFRN7awkkyZ6+XHcEDE8DtYkkzlKA2m57kwk8t/Vm6RlrRPJiGr3ZK/MPChMZK
46GxGdWHWOYutKk21lYBdn5B1sK0GQF5n9jHyyeCm8qHTlTOeiptDgYeHe3RM4sry7O9e1ek4kC4
I6qVtgOyrJny0qlGSqykqdNqgb2uezREQxq1nkRXgT2YW1UbE2ToPnWfJiPQKBp0fI+ll11oKZlY
Mk5EsdBau1qLKkiuAS2EfLXec9nTAYkSbTvRtNroI2dwPgesZwQgnWkxzfVYXQGtpphb5t6DIfmW
jIZAAaVl8h6zI6i9FBf+Op8a90WzOV8MU0K55KeuCxNQq2RDz6pkMjrHgPOpKW81d/gSB0l2im1G
xo455EtnsFHn/49p7f7Vfp67rh9wfXD//pEQcw48uSv+e3/pzz/oX36cKYKf8P9o3dI0/SW15vye
zvDBP/2I7LmJm/b7j3/7V5q6jKUchPwIWc+//vVfsiIP//pjQTvYRfzsME06//p7X/qnS/SfXYQ/
f77bD2TEjz/nTx/g75dn/50PwCwbGcz/1UWwjL8heqSh7Zkk8fCLTvnPF2Ful+PYmUmx51/0xHm9
//cX4bVo82bGSoY4fH7p/c8j2f/KJXj3E/5xH5gm6UX4j81/vwRIXn6+BP7MvEXVxBD4/Au51f+X
S/D8Xcb5KgapE782v1wCx5plOP+Vi/DuZ/zjIljW3/4Pc+f347QRxPF/5dSHPq5sx44dVUVquaon
4CiiVH3eni3iIwknJ2mV/vX9jHcdvIlzcBpU1k+Aw9g7npmdH9+ZFUhaUci5iv0VMqEwKTNW6Rz1
t7+VHJwsYKQM/ehjwdeo+JDNDZi5ClGY5MMiNzkFZsB1ThaS6IQBsK40YKmYMGM4NF2yNO2xvLEq
FCan1szwLapkcsVnEnspOJsL+9StAQYAUKVrjd62/jqxigx1rZIipXXP8QGUUWQmgYnaNEkI9FMr
CSn1U+A61BrlguBYIBaMxBUglRxBLheFzrgYcZzuq2JDmhkRBMClfOnR+hkJDJaZshpYSHfFtn5Q
MlLHVq0+WxiGS4Kq4euOFl/ODd1MCFn+jX2Di3sCnX44L1oXCT8RByBjnPAg5SEbcpNw9PsCDKcT
geh0AKAD+NJcy4esMjTGMNkZL2DKKJaGXizmvhSxugh8QVw7nSoUDPqmXxWM/hQPKm4zOnzej1WI
yxAy+1a9LeIcgYJEFZgBPJi7sUGYGTnEIcM/csyJThNIZ2daawhMCHxQInigKRHAKgJ7FISqZ1F0
TJjl9NVp9WDuwkYgnlNMqBKiCc7ZzhgE318xOopJStSr5UNpAK7TBsF45/4KY8eFCEM5o4nRC0N0
YdOMY3ldDHOS3HlCIiWDCWi89Cb6ZQYbZFWZnCEJpFF8iiE6JqSAhtVMIICeYfmYwDKlEWVlwBQu
aJvxu2OMGoGXICcI6HbInNODZJzJyCUe7REcryED5EuCp6OsxLVRgvhHktFYEl/8IeNcayVLyK0I
2BTI6bAnBPoBJLXAo8hxpJ3kxCgaDDoRPL1ONGYG6AOWUs4HH8uERFHzhJPZos20Jphx2oX0DKDR
SSSL3PWYAamRaWAkWb2FjM5ncCGEvLZOAgqMJDn1mXRK9tcpH+iDwxbT2DPcjss4gDTv8ypqRnBg
ECeoyRA2t9BQI4gjCpmSR2bB3Y4uwcQMPbU2kD8ocnwnKjDD1x4rBVaBI8kpzsTqQ87mBLxajZCY
iSJTP29itPqqNJTUmfkzKEp0JoEmZ3XVgfMEC3bbnJENUyJQkW3PYA+uhNsZo2PCYA/UupAacqxy
LuhkGa7KDD0YaEPiEhj/f/3tYo5N5vlpV5/iM9IkmOX55OolpCbrQs4lVksgiUbGH2htAVlmpmLI
uMgpbShTYk0ZrgCOqL8c22OSBXoutRF1iibIrDNOMwp8g5I0a9/0W8ZnBMQ7xKXRfv7E4BBkzL8J
iwzljCQCay9Krx3ROQOcoSbvrHIN08TkfPSS8aXhd58byliMgkp91jk6C4iXNte6AUg96Sg+86nU
kztJmMLHlMaevxEpO+2VMlRS99FTI9N6ARtOG/6FIRqQzLXb/gWcEl08MNmz+tSCc1oa0kZzDss8
sXoLw5g98Qt8aOzM6xeJwRf86Ijper5sV/UvArxqm+3oANfP/mDAOp0T8BimHqgERif4oYC7HGkH
4JC/PwtcjB5iNLo5QI765/j/7hd4/ujgWcOqhn+8aZvOdnfLQ3/j4F/ztV0DCePI2GVnr950tm62
yxBjI3izTy/043fB64704FH6261dD2SEMy6M0pIFemq7MVlX6dKSvbHd4bTT2pWT1ZTbtb1b2tUk
px2qTfuIF3a93l99b9cPP1y9tNvlug04hDMp0Yv2KS9ttwEs+cEOpHpxdy6xmjZyujoh3O+zWsKv
LLNRbf1P0zwEr+28Ny31W1svD9M65NLs2gf8Vre8/vjNfSiqJfxmX+/vlk3XHQLibp/TE9/c279C
wj1SS0v4rb23293SBqhIX+3V0v69ZZRHYLB8vUhL+J1dt6ur17bejzniPSkt8T92O476njDivvKp
pf9ns91d/dwwhmIVvL1LB2mp31qMOQZr1wUy7kvXWuq/7u+hvhu/9zF4VdP+GLzxEX2jpfvkg9wv
A8iP3uqju3S331zengj2XOFYu6zb9t+PXegOQNoXWrTE33Xtwz6UIE+cQEJL/NrWeEl2U6PB71G1
G/t3s2oHuv0WeAyJtc+SJzDypT6hLqVK6lFa6rd2I3waCPlX93VQNfHmPT6OPQRa8amSoiV/3ayW
p0z3OC81abu2m/4Dc/zcOXNkSqH2Ec/ZseoW6Qnd7CN+V09/aXe7dnv2BF/B+Qpq0O8z9oMsZOCH
c/+O2FvtIl6wFVyk/xXikc9OU1Ja0le2hj9j5kxW17VsmrZHVz9hoK4vSbJMnORgMZCRVF/ogEnl
WJrHX2Qq3jz2wpxHoUOjz9R/C0Ns+cXdqrHds/8AAAD//w==</cx:binary>
              </cx:geoCache>
            </cx:geography>
          </cx:layoutPr>
        </cx:series>
      </cx:plotAreaRegion>
    </cx:plotArea>
    <cx:legend pos="r" align="min" overlay="0"/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587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 cap="none" spc="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>
            <a:alpha val="70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 baseline="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128" b="0" i="0" kern="1200" cap="none" spc="5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497">
  <cs:axisTitle>
    <cs:lnRef idx="0"/>
    <cs:fillRef idx="0"/>
    <cs:effectRef idx="0"/>
    <cs:fontRef idx="minor">
      <a:schemeClr val="lt1">
        <a:lumMod val="95000"/>
      </a:schemeClr>
    </cs:fontRef>
    <cs:defRPr sz="900"/>
  </cs:axisTitle>
  <cs:categoryAxis>
    <cs:lnRef idx="0"/>
    <cs:fillRef idx="0"/>
    <cs:effectRef idx="0"/>
    <cs:fontRef idx="minor">
      <a:schemeClr val="lt1">
        <a:lumMod val="9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/>
  </cs:categoryAxis>
  <cs:chartArea>
    <cs:lnRef idx="0"/>
    <cs:fillRef idx="0"/>
    <cs:effectRef idx="0"/>
    <cs:fontRef idx="minor">
      <a:schemeClr val="dk1"/>
    </cs:fontRef>
    <cs:spPr>
      <a:solidFill>
        <a:schemeClr val="dk1"/>
      </a:solidFill>
    </cs:spPr>
    <cs:defRPr sz="1000"/>
  </cs:chartArea>
  <cs:dataLabel>
    <cs:lnRef idx="0"/>
    <cs:fillRef idx="0"/>
    <cs:effectRef idx="0"/>
    <cs:fontRef idx="minor">
      <a:schemeClr val="lt1">
        <a:lumMod val="95000"/>
      </a:schemeClr>
    </cs:fontRef>
    <cs:defRPr sz="85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lt1"/>
    </cs:fontRef>
    <cs:spPr>
      <a:solidFill>
        <a:schemeClr val="phClr"/>
      </a:solidFill>
      <a:ln w="3175">
        <a:solidFill>
          <a:schemeClr val="dk1"/>
        </a:solidFill>
      </a:ln>
    </cs:spPr>
  </cs:dataPoint>
  <cs:dataPoint3D>
    <cs:lnRef idx="0"/>
    <cs:fillRef idx="0">
      <cs:styleClr val="auto"/>
    </cs:fillRef>
    <cs:effectRef idx="0"/>
    <cs:fontRef idx="minor">
      <a:schemeClr val="lt1"/>
    </cs:fontRef>
    <cs:spPr>
      <a:solidFill>
        <a:schemeClr val="phClr"/>
      </a:solidFill>
    </cs:spPr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lt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lt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9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3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30000"/>
            <a:lumOff val="10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95000"/>
      </a:schemeClr>
    </cs:fontRef>
    <cs:defRPr sz="9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9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lt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lt1">
        <a:lumMod val="95000"/>
      </a:schemeClr>
    </cs:fontRef>
    <cs:defRPr sz="9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95000"/>
      </a:schemeClr>
    </cs:fontRef>
    <cs:defRPr sz="900"/>
  </cs:valueAxis>
  <cs:wall>
    <cs:lnRef idx="0"/>
    <cs:fillRef idx="0"/>
    <cs:effectRef idx="0"/>
    <cs:fontRef idx="minor">
      <a:schemeClr val="lt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1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587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 cap="none" spc="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>
            <a:alpha val="70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 baseline="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128" b="0" i="0" kern="1200" cap="none" spc="5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1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587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 cap="none" spc="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>
            <a:alpha val="70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 baseline="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128" b="0" i="0" kern="1200" cap="none" spc="5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1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587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 cap="none" spc="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>
            <a:alpha val="70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 baseline="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128" b="0" i="0" kern="1200" cap="none" spc="5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1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587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 cap="none" spc="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>
            <a:alpha val="70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 baseline="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128" b="0" i="0" kern="1200" cap="none" spc="5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1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587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 cap="none" spc="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>
            <a:alpha val="70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 baseline="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128" b="0" i="0" kern="1200" cap="none" spc="5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1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587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 cap="none" spc="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>
            <a:alpha val="70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 baseline="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128" b="0" i="0" kern="1200" cap="none" spc="5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21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587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 cap="none" spc="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>
            <a:alpha val="70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 baseline="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128" b="0" i="0" kern="1200" cap="none" spc="5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10.xml><?xml version="1.0" encoding="utf-8"?>
<cs:chartStyle xmlns:cs="http://schemas.microsoft.com/office/drawing/2012/chartStyle" xmlns:a="http://schemas.openxmlformats.org/drawingml/2006/main" id="21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587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 cap="none" spc="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>
            <a:alpha val="70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 baseline="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128" b="0" i="0" kern="1200" cap="none" spc="5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11.xml><?xml version="1.0" encoding="utf-8"?>
<cs:chartStyle xmlns:cs="http://schemas.microsoft.com/office/drawing/2012/chartStyle" xmlns:a="http://schemas.openxmlformats.org/drawingml/2006/main" id="21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587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 cap="none" spc="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>
            <a:alpha val="70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 baseline="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128" b="0" i="0" kern="1200" cap="none" spc="5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12.xml><?xml version="1.0" encoding="utf-8"?>
<cs:chartStyle xmlns:cs="http://schemas.microsoft.com/office/drawing/2012/chartStyle" xmlns:a="http://schemas.openxmlformats.org/drawingml/2006/main" id="21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587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 cap="none" spc="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>
            <a:alpha val="70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 baseline="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128" b="0" i="0" kern="1200" cap="none" spc="5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A6B5C-29BE-4C9F-BC1C-D26FDACC86BB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AAB86-8E1D-40F5-9C04-22E9C070F5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9627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A6B5C-29BE-4C9F-BC1C-D26FDACC86BB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AAB86-8E1D-40F5-9C04-22E9C070F5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6060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A6B5C-29BE-4C9F-BC1C-D26FDACC86BB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AAB86-8E1D-40F5-9C04-22E9C070F5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8249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A6B5C-29BE-4C9F-BC1C-D26FDACC86BB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AAB86-8E1D-40F5-9C04-22E9C070F5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6534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A6B5C-29BE-4C9F-BC1C-D26FDACC86BB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AAB86-8E1D-40F5-9C04-22E9C070F5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5587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A6B5C-29BE-4C9F-BC1C-D26FDACC86BB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AAB86-8E1D-40F5-9C04-22E9C070F5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2232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A6B5C-29BE-4C9F-BC1C-D26FDACC86BB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AAB86-8E1D-40F5-9C04-22E9C070F5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6125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A6B5C-29BE-4C9F-BC1C-D26FDACC86BB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AAB86-8E1D-40F5-9C04-22E9C070F5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1032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A6B5C-29BE-4C9F-BC1C-D26FDACC86BB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AAB86-8E1D-40F5-9C04-22E9C070F5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7693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A6B5C-29BE-4C9F-BC1C-D26FDACC86BB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AAB86-8E1D-40F5-9C04-22E9C070F5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9428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A6B5C-29BE-4C9F-BC1C-D26FDACC86BB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AAB86-8E1D-40F5-9C04-22E9C070F5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2418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BA6B5C-29BE-4C9F-BC1C-D26FDACC86BB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CAAB86-8E1D-40F5-9C04-22E9C070F5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0291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EB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769"/>
          <a:stretch/>
        </p:blipFill>
        <p:spPr>
          <a:xfrm>
            <a:off x="0" y="2012780"/>
            <a:ext cx="6072294" cy="48452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84023" y="1967061"/>
            <a:ext cx="7015607" cy="14619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50" b="1" dirty="0">
                <a:solidFill>
                  <a:srgbClr val="C00000"/>
                </a:solidFill>
                <a:latin typeface="Gill Sans MT" panose="020B0502020104020203" pitchFamily="34" charset="0"/>
              </a:rPr>
              <a:t>DOMESTIC VIOLENCE IN INDIA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7434" y="1921342"/>
            <a:ext cx="5472333" cy="45719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FF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567268" y="3383281"/>
            <a:ext cx="5472333" cy="4571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6297637" y="5257995"/>
            <a:ext cx="21857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1">
                    <a:lumMod val="50000"/>
                  </a:schemeClr>
                </a:solidFill>
              </a:rPr>
              <a:t>PRESENTED BY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1" y="5658105"/>
            <a:ext cx="40796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PRATIM SEN                     POOJA YADAV</a:t>
            </a:r>
          </a:p>
          <a:p>
            <a:endParaRPr lang="en-IN" b="1" dirty="0"/>
          </a:p>
          <a:p>
            <a:r>
              <a:rPr lang="en-IN" b="1" dirty="0"/>
              <a:t>ADITYA TRIBHUWAN      NIKHIL KUMAR            </a:t>
            </a:r>
          </a:p>
        </p:txBody>
      </p:sp>
    </p:spTree>
    <p:extLst>
      <p:ext uri="{BB962C8B-B14F-4D97-AF65-F5344CB8AC3E}">
        <p14:creationId xmlns:p14="http://schemas.microsoft.com/office/powerpoint/2010/main" val="1804138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715065" y="253219"/>
            <a:ext cx="67665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chemeClr val="accent2">
                    <a:lumMod val="50000"/>
                  </a:schemeClr>
                </a:solidFill>
                <a:latin typeface="Gill Sans MT" panose="020B0502020104020203" pitchFamily="34" charset="0"/>
              </a:rPr>
              <a:t>Why This Topic Matters</a:t>
            </a:r>
          </a:p>
          <a:p>
            <a:pPr algn="ctr"/>
            <a:endParaRPr lang="en-IN" sz="4000" b="1" dirty="0">
              <a:solidFill>
                <a:schemeClr val="accent1">
                  <a:lumMod val="50000"/>
                </a:schemeClr>
              </a:solidFill>
              <a:latin typeface="Gill Sans MT" panose="020B0502020104020203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77651" y="1576658"/>
            <a:ext cx="6142398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100" dirty="0"/>
              <a:t>Domestic violence severely affects women’s </a:t>
            </a:r>
            <a:r>
              <a:rPr lang="en-US" sz="2100" b="1" dirty="0"/>
              <a:t>physical, emotional, and mental health</a:t>
            </a:r>
            <a:r>
              <a:rPr lang="en-US" sz="21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1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100" dirty="0"/>
              <a:t>It leads to long-term consequences such as </a:t>
            </a:r>
            <a:r>
              <a:rPr lang="en-US" sz="2100" b="1" dirty="0"/>
              <a:t>injuries, depression, loss of autonomy</a:t>
            </a:r>
            <a:r>
              <a:rPr lang="en-US" sz="2100" dirty="0"/>
              <a:t>, and even death.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1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100" dirty="0"/>
              <a:t>Violence within the household remains </a:t>
            </a:r>
            <a:r>
              <a:rPr lang="en-US" sz="2100" b="1" dirty="0"/>
              <a:t>under-reported</a:t>
            </a:r>
            <a:r>
              <a:rPr lang="en-US" sz="2100" dirty="0"/>
              <a:t> due to social stigma and fear.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1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100" dirty="0"/>
              <a:t>Understanding associated factors helps in designing </a:t>
            </a:r>
            <a:r>
              <a:rPr lang="en-US" sz="2100" b="1" dirty="0"/>
              <a:t>policies and interventions</a:t>
            </a:r>
            <a:r>
              <a:rPr lang="en-US" sz="21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1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100" dirty="0"/>
              <a:t>NFHS-5 shows domestic violence is still </a:t>
            </a:r>
            <a:r>
              <a:rPr lang="en-US" sz="2100" b="1" dirty="0"/>
              <a:t>prevalent across India</a:t>
            </a:r>
            <a:r>
              <a:rPr lang="en-US" sz="2100" dirty="0"/>
              <a:t>, making this research socially relevant.</a:t>
            </a:r>
            <a:endParaRPr lang="en-IN" sz="210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2902" y="1911024"/>
            <a:ext cx="5309196" cy="3732471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541476" y="1724454"/>
            <a:ext cx="5552049" cy="410561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2050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27606" y="0"/>
            <a:ext cx="67665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chemeClr val="accent2">
                    <a:lumMod val="50000"/>
                  </a:schemeClr>
                </a:solidFill>
                <a:latin typeface="Gill Sans MT" panose="020B0502020104020203" pitchFamily="34" charset="0"/>
              </a:rPr>
              <a:t>Study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896" y="806361"/>
            <a:ext cx="8384344" cy="6309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   </a:t>
            </a:r>
          </a:p>
          <a:p>
            <a:r>
              <a:rPr lang="en-US" sz="2200" b="1" dirty="0"/>
              <a:t>Main Objectives:</a:t>
            </a:r>
          </a:p>
          <a:p>
            <a:endParaRPr lang="en-US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To estimate the </a:t>
            </a:r>
            <a:r>
              <a:rPr lang="en-US" sz="2000" b="1" dirty="0"/>
              <a:t>prevalence of domestic violence</a:t>
            </a:r>
            <a:r>
              <a:rPr lang="en-US" sz="2000" dirty="0"/>
              <a:t> among women </a:t>
            </a:r>
          </a:p>
          <a:p>
            <a:r>
              <a:rPr lang="en-US" sz="2000" dirty="0"/>
              <a:t>      in India.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To examine the relationship between domestic violence and: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Husband’s alcohol consumption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Age of the woman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Woman’s education level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Husband’s education level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Employment status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Wealth status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Place of residence (Urban/Rural)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Religion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Region and State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Marital status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To identify </a:t>
            </a:r>
            <a:r>
              <a:rPr lang="en-US" sz="2000" b="1" dirty="0"/>
              <a:t>sociodemographic risk factors</a:t>
            </a:r>
            <a:r>
              <a:rPr lang="en-US" sz="2000" dirty="0"/>
              <a:t> that increase the likelihood of domestic violence.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8584" y="1470642"/>
            <a:ext cx="3723249" cy="429994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751299" y="1294228"/>
            <a:ext cx="4220308" cy="465640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0340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27606" y="221953"/>
            <a:ext cx="67665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chemeClr val="accent2">
                    <a:lumMod val="50000"/>
                  </a:schemeClr>
                </a:solidFill>
                <a:latin typeface="Gill Sans MT" panose="020B0502020104020203" pitchFamily="34" charset="0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1606" y="1075299"/>
            <a:ext cx="6323429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Data Source:</a:t>
            </a:r>
            <a:br>
              <a:rPr lang="en-US" b="1" dirty="0"/>
            </a:br>
            <a:r>
              <a:rPr lang="en-US" dirty="0"/>
              <a:t>• National Family Health Survey (NFHS-5), India (2019–21)</a:t>
            </a:r>
            <a:br>
              <a:rPr lang="en-US" dirty="0"/>
            </a:br>
            <a:r>
              <a:rPr lang="en-US" dirty="0"/>
              <a:t>• Dataset used: Women’s Individual Recode (IR file)</a:t>
            </a:r>
          </a:p>
          <a:p>
            <a:endParaRPr lang="en-US" b="0" dirty="0">
              <a:effectLst/>
            </a:endParaRPr>
          </a:p>
          <a:p>
            <a:r>
              <a:rPr lang="en-US" b="1" dirty="0"/>
              <a:t>Study Population:</a:t>
            </a:r>
            <a:br>
              <a:rPr lang="en-US" b="1" dirty="0"/>
            </a:br>
            <a:r>
              <a:rPr lang="en-US" dirty="0"/>
              <a:t>• Women selected for the Domestic Violence (DV) module</a:t>
            </a:r>
            <a:br>
              <a:rPr lang="en-US" dirty="0"/>
            </a:br>
            <a:r>
              <a:rPr lang="en-US" dirty="0"/>
              <a:t>• Filter applied: keep if v044 != 0 (only DV-eligible respondents)</a:t>
            </a:r>
          </a:p>
          <a:p>
            <a:endParaRPr lang="en-US" b="0" dirty="0">
              <a:effectLst/>
            </a:endParaRPr>
          </a:p>
          <a:p>
            <a:r>
              <a:rPr lang="en-US" b="1" dirty="0"/>
              <a:t>Key Variable (Outcome):</a:t>
            </a:r>
            <a:br>
              <a:rPr lang="en-US" b="1" dirty="0"/>
            </a:br>
            <a:r>
              <a:rPr lang="en-US" dirty="0"/>
              <a:t>• </a:t>
            </a:r>
            <a:r>
              <a:rPr lang="en-US" i="1" dirty="0"/>
              <a:t>Domestic Violence (violence variable)</a:t>
            </a:r>
            <a:br>
              <a:rPr lang="en-US" i="1" dirty="0"/>
            </a:br>
            <a:r>
              <a:rPr lang="en-US" dirty="0"/>
              <a:t>• Defined as experiencing </a:t>
            </a:r>
            <a:r>
              <a:rPr lang="en-US" b="1" dirty="0"/>
              <a:t>any</a:t>
            </a:r>
            <a:r>
              <a:rPr lang="en-US" dirty="0"/>
              <a:t> of the following:</a:t>
            </a:r>
            <a:endParaRPr lang="en-US" b="0" dirty="0">
              <a:effectLst/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Physical violence (d105a–d105f)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Emotional violence (d104)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Sexual violence (d108)</a:t>
            </a:r>
            <a:br>
              <a:rPr lang="en-US" dirty="0"/>
            </a:br>
            <a:r>
              <a:rPr lang="en-US" dirty="0"/>
              <a:t>• Final coding: violence = 1 (Yes) if any type was present.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Analysis Performed:</a:t>
            </a:r>
            <a:br>
              <a:rPr lang="en-US" b="1" dirty="0"/>
            </a:br>
            <a:r>
              <a:rPr lang="en-US" dirty="0"/>
              <a:t>• Descriptive statistics (frequency &amp; percentages)</a:t>
            </a:r>
            <a:br>
              <a:rPr lang="en-US" dirty="0"/>
            </a:br>
            <a:r>
              <a:rPr lang="en-US" dirty="0"/>
              <a:t>• Cross-tabulations with Chi-square test for association</a:t>
            </a:r>
            <a:endParaRPr lang="en-US" b="0" dirty="0">
              <a:effectLst/>
            </a:endParaRPr>
          </a:p>
          <a:p>
            <a:br>
              <a:rPr lang="en-US" dirty="0"/>
            </a:b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5035" y="1215976"/>
            <a:ext cx="5128553" cy="5128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309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14953" y="140676"/>
            <a:ext cx="845468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Gill Sans MT" panose="020B0502020104020203" pitchFamily="34" charset="0"/>
              </a:rPr>
              <a:t>Overall Prevalence of Domestic Violence</a:t>
            </a:r>
            <a:endParaRPr lang="en-IN" sz="4000" b="1" dirty="0">
              <a:solidFill>
                <a:schemeClr val="accent2">
                  <a:lumMod val="50000"/>
                </a:schemeClr>
              </a:solidFill>
              <a:latin typeface="Gill Sans MT" panose="020B0502020104020203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394938" y="1888588"/>
            <a:ext cx="5552049" cy="410561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21612104"/>
              </p:ext>
            </p:extLst>
          </p:nvPr>
        </p:nvGraphicFramePr>
        <p:xfrm>
          <a:off x="6642295" y="1968005"/>
          <a:ext cx="5057333" cy="40261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86862" y="1888588"/>
            <a:ext cx="5760717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200" dirty="0"/>
              <a:t>Out of women eligible for the Domestic Violence (DV) module, </a:t>
            </a:r>
            <a:r>
              <a:rPr lang="en-US" sz="2200" b="1" dirty="0"/>
              <a:t>30.23%</a:t>
            </a:r>
            <a:r>
              <a:rPr lang="en-US" sz="2200" dirty="0"/>
              <a:t> reported experiencing domestic violence.</a:t>
            </a:r>
            <a:br>
              <a:rPr lang="en-US" sz="2200" dirty="0"/>
            </a:br>
            <a:endParaRPr lang="en-US" sz="22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200" dirty="0"/>
              <a:t>The majority (</a:t>
            </a:r>
            <a:r>
              <a:rPr lang="en-US" sz="2200" b="1" dirty="0"/>
              <a:t>69.77%</a:t>
            </a:r>
            <a:r>
              <a:rPr lang="en-US" sz="2200" dirty="0"/>
              <a:t>) reported </a:t>
            </a:r>
            <a:r>
              <a:rPr lang="en-US" sz="2200" b="1" dirty="0"/>
              <a:t>no violence</a:t>
            </a:r>
            <a:r>
              <a:rPr lang="en-US" sz="2200" dirty="0"/>
              <a:t>.</a:t>
            </a:r>
            <a:br>
              <a:rPr lang="en-US" sz="2200" dirty="0"/>
            </a:br>
            <a:endParaRPr lang="en-US" sz="22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200" dirty="0"/>
              <a:t>This means </a:t>
            </a:r>
            <a:r>
              <a:rPr lang="en-US" sz="2200" b="1" dirty="0"/>
              <a:t>approximately 1 in 3 women</a:t>
            </a:r>
            <a:r>
              <a:rPr lang="en-US" sz="2200" dirty="0"/>
              <a:t> have faced some form of emotional, physical, or sexual violence from their partner.</a:t>
            </a:r>
            <a:br>
              <a:rPr lang="en-US" sz="2200" dirty="0"/>
            </a:br>
            <a:endParaRPr lang="en-US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These findings indicate that domestic violence is a </a:t>
            </a:r>
            <a:r>
              <a:rPr lang="en-US" sz="2200" b="1" dirty="0"/>
              <a:t>significant public health and social issue</a:t>
            </a:r>
            <a:r>
              <a:rPr lang="en-US" sz="2200" dirty="0"/>
              <a:t>.</a:t>
            </a:r>
            <a:br>
              <a:rPr lang="en-US" sz="2200" dirty="0"/>
            </a:b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885665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05575" y="247209"/>
            <a:ext cx="78497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chemeClr val="accent2">
                    <a:lumMod val="50000"/>
                  </a:schemeClr>
                </a:solidFill>
                <a:latin typeface="Gill Sans MT" panose="020B0502020104020203" pitchFamily="34" charset="0"/>
              </a:rPr>
              <a:t>Domestic Violence by State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41406" y="1147040"/>
            <a:ext cx="6494231" cy="5647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IN" sz="1900" dirty="0"/>
              <a:t>Domestic violence shows </a:t>
            </a:r>
            <a:r>
              <a:rPr lang="en-IN" sz="1900" b="1" dirty="0"/>
              <a:t>wide variation across states</a:t>
            </a:r>
            <a:r>
              <a:rPr lang="en-IN" sz="1900" dirty="0"/>
              <a:t> in India.</a:t>
            </a:r>
            <a:br>
              <a:rPr lang="en-IN" sz="1900" dirty="0"/>
            </a:br>
            <a:endParaRPr lang="en-IN" sz="1900" dirty="0"/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IN" sz="1900" dirty="0"/>
              <a:t>States with </a:t>
            </a:r>
            <a:r>
              <a:rPr lang="en-IN" sz="1900" b="1" dirty="0"/>
              <a:t>highest prevalence</a:t>
            </a:r>
            <a:r>
              <a:rPr lang="en-IN" sz="1900" dirty="0"/>
              <a:t> include:</a:t>
            </a:r>
            <a:br>
              <a:rPr lang="en-IN" sz="1900" dirty="0"/>
            </a:br>
            <a:endParaRPr lang="en-IN" sz="1900" dirty="0"/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r>
              <a:rPr lang="en-IN" sz="1900" b="1" dirty="0"/>
              <a:t>Karnataka (48.10%)</a:t>
            </a:r>
            <a:endParaRPr lang="en-IN" sz="1900" dirty="0"/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r>
              <a:rPr lang="en-IN" sz="1900" b="1" dirty="0"/>
              <a:t>Bihar (42.28%)</a:t>
            </a:r>
            <a:br>
              <a:rPr lang="en-IN" sz="1900" b="1" dirty="0"/>
            </a:br>
            <a:endParaRPr lang="en-IN" sz="1900" dirty="0"/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IN" sz="1900" dirty="0"/>
              <a:t>States with </a:t>
            </a:r>
            <a:r>
              <a:rPr lang="en-IN" sz="1900" b="1" dirty="0"/>
              <a:t>lowest prevalence</a:t>
            </a:r>
            <a:r>
              <a:rPr lang="en-IN" sz="1900" dirty="0"/>
              <a:t> include:</a:t>
            </a:r>
          </a:p>
          <a:p>
            <a:pPr fontAlgn="base"/>
            <a:endParaRPr lang="en-IN" sz="1900" dirty="0"/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r>
              <a:rPr lang="en-IN" sz="1900" b="1" dirty="0"/>
              <a:t>Lakshadweep (1.33%)</a:t>
            </a:r>
            <a:endParaRPr lang="en-IN" sz="1900" dirty="0"/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r>
              <a:rPr lang="en-IN" sz="1900" b="1" dirty="0"/>
              <a:t>Goa (9.70%)</a:t>
            </a:r>
            <a:br>
              <a:rPr lang="en-IN" sz="1900" b="1" dirty="0"/>
            </a:br>
            <a:endParaRPr lang="en-IN" sz="1900" dirty="0"/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IN" sz="1900" dirty="0"/>
              <a:t>These differences reflect </a:t>
            </a:r>
            <a:r>
              <a:rPr lang="en-IN" sz="1900" b="1" dirty="0"/>
              <a:t>state-level socio-cultural norms</a:t>
            </a:r>
            <a:r>
              <a:rPr lang="en-IN" sz="1900" dirty="0"/>
              <a:t>, gender attitudes, and access to support systems.</a:t>
            </a:r>
            <a:br>
              <a:rPr lang="en-IN" sz="1900" dirty="0"/>
            </a:br>
            <a:endParaRPr lang="en-IN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900" dirty="0"/>
              <a:t>Domestic violence is not evenly distributed—some states have significantly higher risk, indicating need for targeted state-level interventions.</a:t>
            </a:r>
          </a:p>
        </p:txBody>
      </p:sp>
      <mc:AlternateContent xmlns:mc="http://schemas.openxmlformats.org/markup-compatibility/2006">
        <mc:Choice xmlns:cx4="http://schemas.microsoft.com/office/drawing/2016/5/10/chartex" Requires="cx4">
          <p:graphicFrame>
            <p:nvGraphicFramePr>
              <p:cNvPr id="4" name="Chart 3">
                <a:extLst>
                  <a:ext uri="{FF2B5EF4-FFF2-40B4-BE49-F238E27FC236}">
                    <a16:creationId xmlns:a16="http://schemas.microsoft.com/office/drawing/2014/main" id="{12849F66-DEEE-9A2B-649D-3B886C146E58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785315773"/>
                  </p:ext>
                </p:extLst>
              </p:nvPr>
            </p:nvGraphicFramePr>
            <p:xfrm>
              <a:off x="7177177" y="1735942"/>
              <a:ext cx="4455480" cy="4032253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Chart 3">
                <a:extLst>
                  <a:ext uri="{FF2B5EF4-FFF2-40B4-BE49-F238E27FC236}">
                    <a16:creationId xmlns:a16="http://schemas.microsoft.com/office/drawing/2014/main" id="{12849F66-DEEE-9A2B-649D-3B886C146E5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177177" y="1735942"/>
                <a:ext cx="4455480" cy="403225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71486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33711" y="190939"/>
            <a:ext cx="784977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Gill Sans MT" panose="020B0502020104020203" pitchFamily="34" charset="0"/>
              </a:rPr>
              <a:t>Domestic Violence by Place of Residence (Urban vs. Rural)</a:t>
            </a:r>
            <a:endParaRPr lang="en-US" sz="4000" b="1" dirty="0">
              <a:solidFill>
                <a:schemeClr val="accent2">
                  <a:lumMod val="50000"/>
                </a:schemeClr>
              </a:solidFill>
              <a:effectLst/>
              <a:latin typeface="Gill Sans MT" panose="020B0502020104020203" pitchFamily="34" charset="0"/>
            </a:endParaRPr>
          </a:p>
          <a:p>
            <a:pPr algn="ctr"/>
            <a:b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Gill Sans MT" panose="020B0502020104020203" pitchFamily="34" charset="0"/>
              </a:rPr>
            </a:br>
            <a:endParaRPr lang="en-IN" sz="4000" b="1" dirty="0">
              <a:solidFill>
                <a:schemeClr val="accent2">
                  <a:lumMod val="50000"/>
                </a:schemeClr>
              </a:solidFill>
              <a:latin typeface="Gill Sans MT" panose="020B0502020104020203" pitchFamily="34" charset="0"/>
            </a:endParaRPr>
          </a:p>
        </p:txBody>
      </p:sp>
      <p:graphicFrame>
        <p:nvGraphicFramePr>
          <p:cNvPr id="3" name="Chart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02170239"/>
              </p:ext>
            </p:extLst>
          </p:nvPr>
        </p:nvGraphicFramePr>
        <p:xfrm>
          <a:off x="6471138" y="2479430"/>
          <a:ext cx="5526259" cy="37384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Rectangle 3"/>
          <p:cNvSpPr/>
          <p:nvPr/>
        </p:nvSpPr>
        <p:spPr>
          <a:xfrm>
            <a:off x="6485206" y="2377440"/>
            <a:ext cx="5433647" cy="384048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341727" y="1856236"/>
            <a:ext cx="6654019" cy="52783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900" dirty="0"/>
              <a:t>Women in </a:t>
            </a:r>
            <a:r>
              <a:rPr lang="en-US" sz="1900" b="1" dirty="0"/>
              <a:t>rural areas</a:t>
            </a:r>
            <a:r>
              <a:rPr lang="en-US" sz="1900" dirty="0"/>
              <a:t> experience higher domestic violence (</a:t>
            </a:r>
            <a:r>
              <a:rPr lang="en-US" sz="1900" b="1" dirty="0"/>
              <a:t>33.71%</a:t>
            </a:r>
            <a:r>
              <a:rPr lang="en-US" sz="1900" dirty="0"/>
              <a:t>) compared to those in </a:t>
            </a:r>
            <a:r>
              <a:rPr lang="en-US" sz="1900" b="1" dirty="0"/>
              <a:t>urban areas</a:t>
            </a:r>
            <a:r>
              <a:rPr lang="en-US" sz="1900" dirty="0"/>
              <a:t> (</a:t>
            </a:r>
            <a:r>
              <a:rPr lang="en-US" sz="1900" b="1" dirty="0"/>
              <a:t>27.12%</a:t>
            </a:r>
            <a:r>
              <a:rPr lang="en-US" sz="1900" dirty="0"/>
              <a:t>).</a:t>
            </a:r>
            <a:br>
              <a:rPr lang="en-US" sz="1900" dirty="0"/>
            </a:br>
            <a:endParaRPr lang="en-US" sz="19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900" dirty="0"/>
              <a:t>The difference suggests that rural women are at a</a:t>
            </a:r>
          </a:p>
          <a:p>
            <a:pPr fontAlgn="base"/>
            <a:r>
              <a:rPr lang="en-US" sz="1900" dirty="0"/>
              <a:t>      </a:t>
            </a:r>
            <a:r>
              <a:rPr lang="en-US" sz="1900" b="1" dirty="0"/>
              <a:t>greater risk</a:t>
            </a:r>
            <a:r>
              <a:rPr lang="en-US" sz="1900" dirty="0"/>
              <a:t> of violence.</a:t>
            </a:r>
            <a:br>
              <a:rPr lang="en-US" sz="1900" dirty="0"/>
            </a:br>
            <a:endParaRPr lang="en-US" sz="19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900" dirty="0"/>
              <a:t>Possible reasons:</a:t>
            </a:r>
            <a:br>
              <a:rPr lang="en-US" sz="1900" dirty="0"/>
            </a:br>
            <a:endParaRPr lang="en-US" sz="1900" dirty="0"/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dirty="0"/>
              <a:t>Stronger </a:t>
            </a:r>
            <a:r>
              <a:rPr lang="en-US" b="1" dirty="0"/>
              <a:t>patriarchal norms</a:t>
            </a:r>
            <a:r>
              <a:rPr lang="en-US" dirty="0"/>
              <a:t> and traditional gender </a:t>
            </a:r>
          </a:p>
          <a:p>
            <a:pPr lvl="1" fontAlgn="base"/>
            <a:r>
              <a:rPr lang="en-US" dirty="0"/>
              <a:t>      roles in rural regions,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dirty="0"/>
              <a:t>Limited access to </a:t>
            </a:r>
            <a:r>
              <a:rPr lang="en-US" b="1" dirty="0"/>
              <a:t>legal and support services</a:t>
            </a:r>
            <a:r>
              <a:rPr lang="en-US" dirty="0"/>
              <a:t>,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dirty="0"/>
              <a:t>Greater economic dependency and lower mobility.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Domestic violence is </a:t>
            </a:r>
            <a:r>
              <a:rPr lang="en-US" b="1" dirty="0"/>
              <a:t>more preva</a:t>
            </a:r>
            <a:r>
              <a:rPr lang="en-US" sz="1900" b="1" dirty="0"/>
              <a:t>lent in rural households</a:t>
            </a:r>
            <a:r>
              <a:rPr lang="en-US" sz="1900" dirty="0"/>
              <a:t>, highlighting the need for targeted</a:t>
            </a:r>
          </a:p>
          <a:p>
            <a:r>
              <a:rPr lang="en-US" sz="1900" dirty="0"/>
              <a:t>     interventions in rural communities.</a:t>
            </a:r>
            <a:endParaRPr lang="en-US" sz="1900" b="0" dirty="0">
              <a:effectLst/>
            </a:endParaRPr>
          </a:p>
          <a:p>
            <a:br>
              <a:rPr lang="en-US" sz="1900" dirty="0"/>
            </a:br>
            <a:endParaRPr lang="en-IN" sz="1900" dirty="0"/>
          </a:p>
        </p:txBody>
      </p:sp>
    </p:spTree>
    <p:extLst>
      <p:ext uri="{BB962C8B-B14F-4D97-AF65-F5344CB8AC3E}">
        <p14:creationId xmlns:p14="http://schemas.microsoft.com/office/powerpoint/2010/main" val="31446014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60320" y="401954"/>
            <a:ext cx="78497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chemeClr val="accent2">
                    <a:lumMod val="50000"/>
                  </a:schemeClr>
                </a:solidFill>
                <a:latin typeface="Gill Sans MT" panose="020B0502020104020203" pitchFamily="34" charset="0"/>
              </a:rPr>
              <a:t>Domestic Violence by Religion</a:t>
            </a:r>
          </a:p>
        </p:txBody>
      </p:sp>
      <p:graphicFrame>
        <p:nvGraphicFramePr>
          <p:cNvPr id="3" name="Chart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90664917"/>
              </p:ext>
            </p:extLst>
          </p:nvPr>
        </p:nvGraphicFramePr>
        <p:xfrm>
          <a:off x="6569613" y="1860451"/>
          <a:ext cx="5216770" cy="43434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6485206" y="1860451"/>
            <a:ext cx="5433647" cy="435746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647114" y="1860451"/>
            <a:ext cx="531758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/>
              <a:t>Domestic violence prevalence varies across religious groups.</a:t>
            </a:r>
            <a:br>
              <a:rPr lang="en-US" sz="2000" dirty="0"/>
            </a:br>
            <a:endParaRPr lang="en-US" sz="2000" dirty="0"/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/>
              <a:t>Sikh and "No religion" groups show the </a:t>
            </a:r>
            <a:r>
              <a:rPr lang="en-US" sz="2000" b="1" dirty="0"/>
              <a:t>lowest prevalence</a:t>
            </a:r>
            <a:r>
              <a:rPr lang="en-US" sz="2000" dirty="0"/>
              <a:t>.</a:t>
            </a:r>
            <a:br>
              <a:rPr lang="en-US" sz="2000" dirty="0"/>
            </a:br>
            <a:endParaRPr lang="en-US" sz="2000" dirty="0"/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/>
              <a:t>Hindu, Muslim, and Buddhist groups show </a:t>
            </a:r>
            <a:r>
              <a:rPr lang="en-US" sz="2000" b="1" dirty="0"/>
              <a:t>moderate levels</a:t>
            </a:r>
            <a:r>
              <a:rPr lang="en-US" sz="2000" dirty="0"/>
              <a:t>.</a:t>
            </a:r>
            <a:br>
              <a:rPr lang="en-US" sz="2000" dirty="0"/>
            </a:br>
            <a:endParaRPr lang="en-US" sz="2000" dirty="0"/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/>
              <a:t>Some smaller groups show extreme values due to </a:t>
            </a:r>
            <a:r>
              <a:rPr lang="en-US" sz="2000" b="1" dirty="0"/>
              <a:t>very small sample sizes</a:t>
            </a:r>
            <a:r>
              <a:rPr lang="en-US" sz="2000" dirty="0"/>
              <a:t>.</a:t>
            </a:r>
            <a:br>
              <a:rPr lang="en-US" sz="2000" dirty="0"/>
            </a:br>
            <a:endParaRPr lang="en-US" sz="2000" dirty="0"/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/>
              <a:t>The variation reflects </a:t>
            </a:r>
            <a:r>
              <a:rPr lang="en-US" sz="2000" b="1" dirty="0"/>
              <a:t>socio-cultural and household factors</a:t>
            </a:r>
            <a:r>
              <a:rPr lang="en-US" sz="2000" dirty="0"/>
              <a:t>, not religion itself.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80110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715062" y="112540"/>
            <a:ext cx="806078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Gill Sans MT" panose="020B0502020104020203" pitchFamily="34" charset="0"/>
              </a:rPr>
              <a:t>Domestic Violence by Age Group of Women</a:t>
            </a:r>
          </a:p>
          <a:p>
            <a:br>
              <a:rPr lang="en-US" sz="4000" dirty="0"/>
            </a:br>
            <a:endParaRPr lang="en-IN" sz="4000" b="1" dirty="0">
              <a:solidFill>
                <a:schemeClr val="accent1">
                  <a:lumMod val="50000"/>
                </a:schemeClr>
              </a:solidFill>
              <a:latin typeface="Gill Sans MT" panose="020B0502020104020203" pitchFamily="34" charset="0"/>
            </a:endParaRPr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19325780"/>
              </p:ext>
            </p:extLst>
          </p:nvPr>
        </p:nvGraphicFramePr>
        <p:xfrm>
          <a:off x="6386733" y="1804182"/>
          <a:ext cx="5462952" cy="44559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6394938" y="1888588"/>
            <a:ext cx="5552049" cy="437153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572085" y="1804182"/>
            <a:ext cx="5444197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000" dirty="0"/>
              <a:t>Prevalence of domestic violence </a:t>
            </a:r>
            <a:r>
              <a:rPr lang="en-US" sz="2000" b="1" dirty="0"/>
              <a:t>increases with age</a:t>
            </a:r>
            <a:r>
              <a:rPr lang="en-US" sz="2000" dirty="0"/>
              <a:t>.</a:t>
            </a:r>
            <a:br>
              <a:rPr lang="en-US" sz="2000" dirty="0"/>
            </a:br>
            <a:endParaRPr lang="en-US" sz="20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000" dirty="0"/>
              <a:t>Only </a:t>
            </a:r>
            <a:r>
              <a:rPr lang="en-US" sz="2000" b="1" dirty="0"/>
              <a:t>23.16%</a:t>
            </a:r>
            <a:r>
              <a:rPr lang="en-US" sz="2000" dirty="0"/>
              <a:t> of women aged 15–19 experience violence- the lowest group.</a:t>
            </a:r>
            <a:br>
              <a:rPr lang="en-US" sz="2000" dirty="0"/>
            </a:br>
            <a:endParaRPr lang="en-US" sz="20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000" dirty="0"/>
              <a:t>Violence peaks among ages </a:t>
            </a:r>
            <a:r>
              <a:rPr lang="en-US" sz="2000" b="1" dirty="0"/>
              <a:t>40–44 (33.97%)</a:t>
            </a:r>
            <a:r>
              <a:rPr lang="en-US" sz="2000" dirty="0"/>
              <a:t>, and remains high in 45–49 age group (33.02%).</a:t>
            </a:r>
            <a:br>
              <a:rPr lang="en-US" sz="2000" dirty="0"/>
            </a:br>
            <a:endParaRPr lang="en-US" sz="20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000" dirty="0"/>
              <a:t>Older women have likely spent </a:t>
            </a:r>
            <a:r>
              <a:rPr lang="en-US" sz="2000" b="1" dirty="0"/>
              <a:t>more years in marriage/union</a:t>
            </a:r>
            <a:r>
              <a:rPr lang="en-US" sz="2000" dirty="0"/>
              <a:t>, increasing exposure to risk.</a:t>
            </a:r>
            <a:br>
              <a:rPr lang="en-US" sz="2000" dirty="0"/>
            </a:b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Indicates that domestic violence is </a:t>
            </a:r>
            <a:r>
              <a:rPr lang="en-US" sz="2000" b="1" dirty="0"/>
              <a:t>not a one-time event</a:t>
            </a:r>
            <a:r>
              <a:rPr lang="en-US" sz="2000" dirty="0"/>
              <a:t>, but can be </a:t>
            </a:r>
            <a:r>
              <a:rPr lang="en-US" sz="2000" b="1" dirty="0"/>
              <a:t>persistent and cumulative</a:t>
            </a:r>
            <a:r>
              <a:rPr lang="en-US" sz="2000" dirty="0"/>
              <a:t> over time.</a:t>
            </a:r>
            <a:br>
              <a:rPr lang="en-US" sz="2000" dirty="0"/>
            </a:b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638717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45332362"/>
              </p:ext>
            </p:extLst>
          </p:nvPr>
        </p:nvGraphicFramePr>
        <p:xfrm>
          <a:off x="6738426" y="2155873"/>
          <a:ext cx="5160498" cy="39073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913206" y="37072"/>
            <a:ext cx="87782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Gill Sans MT" panose="020B0502020104020203" pitchFamily="34" charset="0"/>
              </a:rPr>
              <a:t>Domestic Violence by Educational Level of Women</a:t>
            </a:r>
            <a:endParaRPr lang="en-IN" sz="4000" b="1" dirty="0">
              <a:solidFill>
                <a:schemeClr val="accent2">
                  <a:lumMod val="50000"/>
                </a:schemeClr>
              </a:solidFill>
              <a:latin typeface="Gill Sans MT" panose="020B0502020104020203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935372" y="1888588"/>
            <a:ext cx="5011615" cy="437153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647117" y="1782541"/>
            <a:ext cx="6240192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/>
              <a:t>There is a </a:t>
            </a:r>
            <a:r>
              <a:rPr lang="en-US" sz="2000" b="1" dirty="0"/>
              <a:t>strong inverse relationship</a:t>
            </a:r>
            <a:r>
              <a:rPr lang="en-US" sz="2000" dirty="0"/>
              <a:t> between education and domestic violence.</a:t>
            </a:r>
            <a:br>
              <a:rPr lang="en-US" sz="2000" dirty="0"/>
            </a:br>
            <a:endParaRPr lang="en-US" sz="2000" dirty="0"/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/>
              <a:t>Women with </a:t>
            </a:r>
            <a:r>
              <a:rPr lang="en-US" sz="2000" b="1" dirty="0"/>
              <a:t>no education</a:t>
            </a:r>
            <a:r>
              <a:rPr lang="en-US" sz="2000" dirty="0"/>
              <a:t> have the highest experience of violence (</a:t>
            </a:r>
            <a:r>
              <a:rPr lang="en-US" sz="2000" b="1" dirty="0"/>
              <a:t>40.35%</a:t>
            </a:r>
            <a:r>
              <a:rPr lang="en-US" sz="2000" dirty="0"/>
              <a:t>).</a:t>
            </a:r>
            <a:br>
              <a:rPr lang="en-US" sz="2000" dirty="0"/>
            </a:br>
            <a:endParaRPr lang="en-US" sz="2000" dirty="0"/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/>
              <a:t>Violence gradually decreases with education:</a:t>
            </a:r>
            <a:br>
              <a:rPr lang="en-US" sz="2000" dirty="0"/>
            </a:br>
            <a:endParaRPr lang="en-US" sz="2000" dirty="0"/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35.25%</a:t>
            </a:r>
            <a:r>
              <a:rPr lang="en-US" dirty="0"/>
              <a:t> among women with primary education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28.87%</a:t>
            </a:r>
            <a:r>
              <a:rPr lang="en-US" dirty="0"/>
              <a:t> among women with secondary education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dirty="0"/>
              <a:t>Only </a:t>
            </a:r>
            <a:r>
              <a:rPr lang="en-US" b="1" dirty="0"/>
              <a:t>16.87%</a:t>
            </a:r>
            <a:r>
              <a:rPr lang="en-US" dirty="0"/>
              <a:t> among women with higher education- </a:t>
            </a:r>
            <a:r>
              <a:rPr lang="en-US" b="1" dirty="0"/>
              <a:t>lowest risk group</a:t>
            </a:r>
            <a:br>
              <a:rPr lang="en-US" b="1" dirty="0"/>
            </a:br>
            <a:endParaRPr lang="en-US" dirty="0"/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/>
              <a:t>Educated women may have </a:t>
            </a:r>
            <a:r>
              <a:rPr lang="en-US" sz="2000" b="1" dirty="0"/>
              <a:t>greater awareness of rights</a:t>
            </a:r>
            <a:r>
              <a:rPr lang="en-US" sz="2000" dirty="0"/>
              <a:t>, better negotiation power, and more independence, reducing vulnerability.</a:t>
            </a:r>
            <a:br>
              <a:rPr lang="en-US" sz="2000" dirty="0"/>
            </a:br>
            <a:br>
              <a:rPr lang="en-US" dirty="0"/>
            </a:b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80633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13206" y="106533"/>
            <a:ext cx="87782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Gill Sans MT" panose="020B0502020104020203" pitchFamily="34" charset="0"/>
              </a:rPr>
              <a:t>Domestic Violence by Husband’s Education Level</a:t>
            </a:r>
            <a:endParaRPr lang="en-IN" sz="4000" b="1" dirty="0">
              <a:solidFill>
                <a:schemeClr val="accent2">
                  <a:lumMod val="50000"/>
                </a:schemeClr>
              </a:solidFill>
              <a:latin typeface="Gill Sans MT" panose="020B0502020104020203" pitchFamily="34" charset="0"/>
            </a:endParaRPr>
          </a:p>
        </p:txBody>
      </p:sp>
      <p:graphicFrame>
        <p:nvGraphicFramePr>
          <p:cNvPr id="3" name="Chart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84457131"/>
              </p:ext>
            </p:extLst>
          </p:nvPr>
        </p:nvGraphicFramePr>
        <p:xfrm>
          <a:off x="6625884" y="1888588"/>
          <a:ext cx="5160498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55203717"/>
              </p:ext>
            </p:extLst>
          </p:nvPr>
        </p:nvGraphicFramePr>
        <p:xfrm>
          <a:off x="6513340" y="2294794"/>
          <a:ext cx="5273042" cy="38949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ectangle 4"/>
          <p:cNvSpPr/>
          <p:nvPr/>
        </p:nvSpPr>
        <p:spPr>
          <a:xfrm>
            <a:off x="6513340" y="1888588"/>
            <a:ext cx="5433647" cy="437153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359898" y="1888588"/>
            <a:ext cx="6105381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000" dirty="0"/>
              <a:t>Domestic violence decreases as the </a:t>
            </a:r>
            <a:r>
              <a:rPr lang="en-US" sz="2000" b="1" dirty="0"/>
              <a:t>husband’s education increases</a:t>
            </a:r>
            <a:r>
              <a:rPr lang="en-US" sz="2000" dirty="0"/>
              <a:t>.</a:t>
            </a:r>
            <a:br>
              <a:rPr lang="en-US" sz="2000" dirty="0"/>
            </a:br>
            <a:endParaRPr lang="en-US" sz="20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000" dirty="0"/>
              <a:t>Women whose husbands have </a:t>
            </a:r>
            <a:r>
              <a:rPr lang="en-US" sz="2000" b="1" dirty="0"/>
              <a:t>no education</a:t>
            </a:r>
            <a:r>
              <a:rPr lang="en-US" sz="2000" dirty="0"/>
              <a:t> face the highest violence (</a:t>
            </a:r>
            <a:r>
              <a:rPr lang="en-US" sz="2000" b="1" dirty="0"/>
              <a:t>42.46%</a:t>
            </a:r>
            <a:r>
              <a:rPr lang="en-US" sz="2000" dirty="0"/>
              <a:t>).</a:t>
            </a:r>
            <a:br>
              <a:rPr lang="en-US" sz="2000" dirty="0"/>
            </a:br>
            <a:endParaRPr lang="en-US" sz="20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000" dirty="0"/>
              <a:t>Prevalence steadily declines:</a:t>
            </a:r>
            <a:endParaRPr 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37.25%</a:t>
            </a:r>
            <a:r>
              <a:rPr lang="en-US" dirty="0"/>
              <a:t> when husbands completed primary education,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29.28%</a:t>
            </a:r>
            <a:r>
              <a:rPr lang="en-US" dirty="0"/>
              <a:t> with secondary education,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19.84%</a:t>
            </a:r>
            <a:r>
              <a:rPr lang="en-US" dirty="0"/>
              <a:t> with higher education — </a:t>
            </a:r>
            <a:r>
              <a:rPr lang="en-US" b="1" dirty="0"/>
              <a:t>lowest violence level</a:t>
            </a:r>
            <a:br>
              <a:rPr lang="en-US" b="1" dirty="0"/>
            </a:br>
            <a:endParaRPr 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000" dirty="0"/>
              <a:t>Similar to women's education, husband’s education is an important </a:t>
            </a:r>
            <a:r>
              <a:rPr lang="en-US" sz="2000" b="1" dirty="0"/>
              <a:t>protective factor</a:t>
            </a:r>
            <a:r>
              <a:rPr lang="en-US" sz="2000" dirty="0"/>
              <a:t> against domestic violence.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9004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61846" y="247209"/>
            <a:ext cx="78497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Gill Sans MT" panose="020B0502020104020203" pitchFamily="34" charset="0"/>
              </a:rPr>
              <a:t>Domestic Violence by Marital Status </a:t>
            </a:r>
            <a:endParaRPr lang="en-IN" sz="4000" b="1" dirty="0">
              <a:solidFill>
                <a:schemeClr val="accent2">
                  <a:lumMod val="50000"/>
                </a:schemeClr>
              </a:solidFill>
              <a:latin typeface="Gill Sans MT" panose="020B0502020104020203" pitchFamily="34" charset="0"/>
            </a:endParaRPr>
          </a:p>
        </p:txBody>
      </p:sp>
      <p:graphicFrame>
        <p:nvGraphicFramePr>
          <p:cNvPr id="3" name="Chart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5360280"/>
              </p:ext>
            </p:extLst>
          </p:nvPr>
        </p:nvGraphicFramePr>
        <p:xfrm>
          <a:off x="6710289" y="2240281"/>
          <a:ext cx="5247250" cy="40339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Rectangle 3"/>
          <p:cNvSpPr/>
          <p:nvPr/>
        </p:nvSpPr>
        <p:spPr>
          <a:xfrm>
            <a:off x="6485206" y="2240281"/>
            <a:ext cx="5433647" cy="397763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270804" y="1841242"/>
            <a:ext cx="6175716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000" dirty="0"/>
              <a:t>Domestic violence varies sharply by marital status.</a:t>
            </a:r>
            <a:br>
              <a:rPr lang="en-US" sz="2000" dirty="0"/>
            </a:br>
            <a:endParaRPr lang="en-US" sz="20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000" b="1" dirty="0"/>
              <a:t>Married women</a:t>
            </a:r>
            <a:r>
              <a:rPr lang="en-US" sz="2000" dirty="0"/>
              <a:t> experience domestic violence at </a:t>
            </a:r>
            <a:r>
              <a:rPr lang="en-US" sz="2000" b="1" dirty="0"/>
              <a:t>30.76%</a:t>
            </a:r>
            <a:r>
              <a:rPr lang="en-US" sz="2000" dirty="0"/>
              <a:t>.</a:t>
            </a:r>
            <a:br>
              <a:rPr lang="en-US" sz="2000" dirty="0"/>
            </a:br>
            <a:endParaRPr lang="en-US" sz="20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000" dirty="0"/>
              <a:t>Prevalence increases when women are no longer in stable unions:</a:t>
            </a:r>
            <a:br>
              <a:rPr lang="en-US" sz="2000" dirty="0"/>
            </a:br>
            <a:endParaRPr lang="en-US" sz="2000" dirty="0"/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sz="2000" b="1" dirty="0"/>
              <a:t>Widowed:</a:t>
            </a:r>
            <a:r>
              <a:rPr lang="en-US" sz="2000" dirty="0"/>
              <a:t> 36.00%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sz="2000" b="1" dirty="0"/>
              <a:t>Divorced:</a:t>
            </a:r>
            <a:r>
              <a:rPr lang="en-US" sz="2000" dirty="0"/>
              <a:t> 65.11%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sz="2000" b="1" dirty="0"/>
              <a:t>Separated / not living together:</a:t>
            </a:r>
            <a:r>
              <a:rPr lang="en-US" sz="2000" dirty="0"/>
              <a:t> </a:t>
            </a:r>
            <a:r>
              <a:rPr lang="en-US" sz="2000" b="1" dirty="0"/>
              <a:t>74.50%</a:t>
            </a:r>
            <a:r>
              <a:rPr lang="en-US" sz="2000" dirty="0"/>
              <a:t> </a:t>
            </a:r>
            <a:r>
              <a:rPr lang="en-US" sz="2000" i="1" dirty="0"/>
              <a:t>(highest)</a:t>
            </a:r>
            <a:r>
              <a:rPr lang="en-US" sz="2000" dirty="0"/>
              <a:t>.</a:t>
            </a:r>
            <a:br>
              <a:rPr lang="en-US" sz="2000" dirty="0"/>
            </a:b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Highest violence is among separated/divorced women, indicating that leaving a relationship is frequently a result of ongoing violence.</a:t>
            </a:r>
            <a:br>
              <a:rPr lang="en-US" sz="2000" dirty="0"/>
            </a:b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8804386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13206" y="106533"/>
            <a:ext cx="87782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Gill Sans MT" panose="020B0502020104020203" pitchFamily="34" charset="0"/>
              </a:rPr>
              <a:t>Domestic Violence by Women’s Employment Status</a:t>
            </a:r>
            <a:endParaRPr lang="en-IN" sz="4000" b="1" dirty="0">
              <a:solidFill>
                <a:schemeClr val="accent2">
                  <a:lumMod val="50000"/>
                </a:schemeClr>
              </a:solidFill>
              <a:latin typeface="Gill Sans MT" panose="020B0502020104020203" pitchFamily="34" charset="0"/>
            </a:endParaRPr>
          </a:p>
        </p:txBody>
      </p:sp>
      <p:graphicFrame>
        <p:nvGraphicFramePr>
          <p:cNvPr id="3" name="Chart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74988437"/>
              </p:ext>
            </p:extLst>
          </p:nvPr>
        </p:nvGraphicFramePr>
        <p:xfrm>
          <a:off x="6654019" y="2254348"/>
          <a:ext cx="5287107" cy="38088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Rectangle 3"/>
          <p:cNvSpPr/>
          <p:nvPr/>
        </p:nvSpPr>
        <p:spPr>
          <a:xfrm>
            <a:off x="6513340" y="2138288"/>
            <a:ext cx="5433647" cy="412183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166463" y="1730326"/>
            <a:ext cx="6276537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Women who are </a:t>
            </a:r>
            <a:r>
              <a:rPr lang="en-US" b="1" dirty="0"/>
              <a:t>currently working</a:t>
            </a:r>
            <a:r>
              <a:rPr lang="en-US" dirty="0"/>
              <a:t> face higher domestic violence (</a:t>
            </a:r>
            <a:r>
              <a:rPr lang="en-US" b="1" dirty="0"/>
              <a:t>36.95%</a:t>
            </a:r>
            <a:r>
              <a:rPr lang="en-US" dirty="0"/>
              <a:t>) compared to women who are </a:t>
            </a:r>
            <a:r>
              <a:rPr lang="en-US" b="1" dirty="0"/>
              <a:t>not working</a:t>
            </a:r>
            <a:r>
              <a:rPr lang="en-US" dirty="0"/>
              <a:t> (</a:t>
            </a:r>
            <a:r>
              <a:rPr lang="en-US" b="1" dirty="0"/>
              <a:t>27.39%</a:t>
            </a:r>
            <a:r>
              <a:rPr lang="en-US" dirty="0"/>
              <a:t>).</a:t>
            </a:r>
            <a:br>
              <a:rPr lang="en-US" dirty="0"/>
            </a:br>
            <a:endParaRPr 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This difference is </a:t>
            </a:r>
            <a:r>
              <a:rPr lang="en-US" b="1" dirty="0"/>
              <a:t>statistically significant</a:t>
            </a:r>
            <a:r>
              <a:rPr lang="en-US" dirty="0"/>
              <a:t> (Chi-square test, </a:t>
            </a:r>
            <a:r>
              <a:rPr lang="en-US" i="1" dirty="0"/>
              <a:t>p</a:t>
            </a:r>
            <a:r>
              <a:rPr lang="en-US" dirty="0"/>
              <a:t> &lt; 0.001).</a:t>
            </a:r>
            <a:br>
              <a:rPr lang="en-US" dirty="0"/>
            </a:br>
            <a:endParaRPr 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Contrary to expectation, employment does not protect women from violence. Instead, violence is higher among working women.</a:t>
            </a:r>
            <a:br>
              <a:rPr lang="en-US" dirty="0"/>
            </a:br>
            <a:endParaRPr 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This may be due to: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sz="1600" b="1" dirty="0"/>
              <a:t>Economic stress</a:t>
            </a:r>
            <a:r>
              <a:rPr lang="en-US" sz="1600" dirty="0"/>
              <a:t> or conflict over income contribution,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sz="1600" dirty="0"/>
              <a:t>Husbands feeling </a:t>
            </a:r>
            <a:r>
              <a:rPr lang="en-US" sz="1600" b="1" dirty="0"/>
              <a:t>threatened by women’s independence</a:t>
            </a:r>
            <a:r>
              <a:rPr lang="en-US" sz="1600" dirty="0"/>
              <a:t>, leading to control or violence,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Greater negotiation or assertiveness by working women that may trigger conflict in patriarchal settings.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937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13206" y="106533"/>
            <a:ext cx="87782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Gill Sans MT" panose="020B0502020104020203" pitchFamily="34" charset="0"/>
              </a:rPr>
              <a:t>Domestic Violence by Household Wealth Index</a:t>
            </a:r>
            <a:endParaRPr lang="en-IN" sz="4000" b="1" dirty="0">
              <a:solidFill>
                <a:schemeClr val="accent2">
                  <a:lumMod val="50000"/>
                </a:schemeClr>
              </a:solidFill>
              <a:latin typeface="Gill Sans MT" panose="020B0502020104020203" pitchFamily="34" charset="0"/>
            </a:endParaRPr>
          </a:p>
        </p:txBody>
      </p:sp>
      <p:graphicFrame>
        <p:nvGraphicFramePr>
          <p:cNvPr id="3" name="Chart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19097539"/>
              </p:ext>
            </p:extLst>
          </p:nvPr>
        </p:nvGraphicFramePr>
        <p:xfrm>
          <a:off x="6485206" y="2001129"/>
          <a:ext cx="5385581" cy="40198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Rectangle 3"/>
          <p:cNvSpPr/>
          <p:nvPr/>
        </p:nvSpPr>
        <p:spPr>
          <a:xfrm>
            <a:off x="6485206" y="2001129"/>
            <a:ext cx="5433647" cy="412183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436098" y="1814732"/>
            <a:ext cx="56692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/>
              <a:t>There is a </a:t>
            </a:r>
            <a:r>
              <a:rPr lang="en-US" sz="2000" b="1" dirty="0"/>
              <a:t>strong inverse relationship</a:t>
            </a:r>
            <a:r>
              <a:rPr lang="en-US" sz="2000" dirty="0"/>
              <a:t> between household wealth and domestic violence.</a:t>
            </a:r>
            <a:br>
              <a:rPr lang="en-US" sz="2000" dirty="0"/>
            </a:br>
            <a:endParaRPr lang="en-US" sz="2000" dirty="0"/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/>
              <a:t>Women in the </a:t>
            </a:r>
            <a:r>
              <a:rPr lang="en-US" sz="2000" b="1" dirty="0"/>
              <a:t>poorest wealth category</a:t>
            </a:r>
            <a:r>
              <a:rPr lang="en-US" sz="2000" dirty="0"/>
              <a:t> experience the highest violence (</a:t>
            </a:r>
            <a:r>
              <a:rPr lang="en-US" sz="2000" b="1" dirty="0"/>
              <a:t>40.78%</a:t>
            </a:r>
            <a:r>
              <a:rPr lang="en-US" sz="2000" dirty="0"/>
              <a:t>).</a:t>
            </a:r>
            <a:br>
              <a:rPr lang="en-US" sz="2000" dirty="0"/>
            </a:br>
            <a:endParaRPr lang="en-US" sz="2000" dirty="0"/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/>
              <a:t>Violence decreases steadily as wealth increases:</a:t>
            </a:r>
          </a:p>
          <a:p>
            <a:pPr fontAlgn="base"/>
            <a:endParaRPr lang="en-US" dirty="0"/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dirty="0"/>
              <a:t>Poorer: </a:t>
            </a:r>
            <a:r>
              <a:rPr lang="en-US" b="1" dirty="0"/>
              <a:t>37.64%</a:t>
            </a:r>
            <a:endParaRPr lang="en-US" dirty="0"/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dirty="0"/>
              <a:t>Middle: </a:t>
            </a:r>
            <a:r>
              <a:rPr lang="en-US" b="1" dirty="0"/>
              <a:t>32.36%</a:t>
            </a:r>
            <a:endParaRPr lang="en-US" dirty="0"/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dirty="0"/>
              <a:t>Richer: </a:t>
            </a:r>
            <a:r>
              <a:rPr lang="en-US" b="1" dirty="0"/>
              <a:t>26.51%</a:t>
            </a:r>
            <a:endParaRPr lang="en-US" dirty="0"/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dirty="0"/>
              <a:t>Richest: </a:t>
            </a:r>
            <a:r>
              <a:rPr lang="en-US" b="1" dirty="0"/>
              <a:t>19.62%</a:t>
            </a:r>
            <a:r>
              <a:rPr lang="en-US" dirty="0"/>
              <a:t> (lowest)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Domestic violence is most prevalent in economically disadvantaged households.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6271497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13206" y="106533"/>
            <a:ext cx="87782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Gill Sans MT" panose="020B0502020104020203" pitchFamily="34" charset="0"/>
              </a:rPr>
              <a:t>Domestic Violence by Husband’s Alcohol Consumption</a:t>
            </a:r>
            <a:endParaRPr lang="en-IN" sz="4000" b="1" dirty="0">
              <a:solidFill>
                <a:schemeClr val="accent2">
                  <a:lumMod val="50000"/>
                </a:schemeClr>
              </a:solidFill>
              <a:latin typeface="Gill Sans MT" panose="020B0502020104020203" pitchFamily="34" charset="0"/>
            </a:endParaRPr>
          </a:p>
        </p:txBody>
      </p:sp>
      <p:graphicFrame>
        <p:nvGraphicFramePr>
          <p:cNvPr id="3" name="Chart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63200473"/>
              </p:ext>
            </p:extLst>
          </p:nvPr>
        </p:nvGraphicFramePr>
        <p:xfrm>
          <a:off x="6485206" y="2043332"/>
          <a:ext cx="5540326" cy="41323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Rectangle 3"/>
          <p:cNvSpPr/>
          <p:nvPr/>
        </p:nvSpPr>
        <p:spPr>
          <a:xfrm>
            <a:off x="6513340" y="1888588"/>
            <a:ext cx="5433647" cy="437153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703385" y="2082289"/>
            <a:ext cx="5416061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Domestic violence is significantly higher when husbands consume alcohol.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47.08% of </a:t>
            </a:r>
            <a:r>
              <a:rPr lang="en-US" sz="2000" dirty="0"/>
              <a:t>women whose husband drinks experienced domestic violence, compared to only </a:t>
            </a:r>
            <a:r>
              <a:rPr lang="en-US" sz="2000" b="1" dirty="0"/>
              <a:t>23.70% </a:t>
            </a:r>
            <a:r>
              <a:rPr lang="en-US" sz="2000" dirty="0"/>
              <a:t>among those whose husband does not drink.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Chi-square test shows a significant association (χ², p &lt; 0.001).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Husband alcohol use is a strong predictor of domestic violence.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5988734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36762" y="233141"/>
            <a:ext cx="78497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chemeClr val="accent2">
                    <a:lumMod val="50000"/>
                  </a:schemeClr>
                </a:solidFill>
                <a:latin typeface="Gill Sans MT" panose="020B0502020104020203" pitchFamily="34" charset="0"/>
              </a:rP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3" y="1376079"/>
            <a:ext cx="710535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30.23%</a:t>
            </a:r>
            <a:r>
              <a:rPr lang="en-US" dirty="0"/>
              <a:t> of women experienced domestic violence (NFHS-5 DV sample).</a:t>
            </a:r>
            <a:br>
              <a:rPr lang="en-US" dirty="0"/>
            </a:br>
            <a:endParaRPr 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Violence almost doubles when the husband drinks (47% vs 23%).</a:t>
            </a:r>
            <a:br>
              <a:rPr lang="en-US" dirty="0"/>
            </a:br>
            <a:endParaRPr 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Domestic violence is </a:t>
            </a:r>
            <a:r>
              <a:rPr lang="en-US" b="1" dirty="0"/>
              <a:t>highest among women aged 30–49 years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Lower education (woman or husband) is linked with </a:t>
            </a:r>
            <a:r>
              <a:rPr lang="en-US" b="1" dirty="0"/>
              <a:t>higher domestic violence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Working women face </a:t>
            </a:r>
            <a:r>
              <a:rPr lang="en-US" b="1" dirty="0"/>
              <a:t>more violence</a:t>
            </a:r>
            <a:r>
              <a:rPr lang="en-US" dirty="0"/>
              <a:t> (36.95%) than non-working women (27.39%).</a:t>
            </a:r>
            <a:br>
              <a:rPr lang="en-US" dirty="0"/>
            </a:br>
            <a:endParaRPr 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Rural women face more violence</a:t>
            </a:r>
            <a:r>
              <a:rPr lang="en-US" dirty="0"/>
              <a:t> (33.71%) than urban women (27.12%).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Women who are </a:t>
            </a:r>
            <a:r>
              <a:rPr lang="en-US" b="1" dirty="0"/>
              <a:t>divorced / separated / not living together</a:t>
            </a:r>
            <a:r>
              <a:rPr lang="en-US" dirty="0"/>
              <a:t> report the </a:t>
            </a:r>
            <a:r>
              <a:rPr lang="en-US" b="1" dirty="0"/>
              <a:t>highest violence rates</a:t>
            </a:r>
            <a:r>
              <a:rPr lang="en-US" dirty="0"/>
              <a:t>.</a:t>
            </a:r>
            <a:br>
              <a:rPr lang="en-US" dirty="0"/>
            </a:b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7548" y="1744591"/>
            <a:ext cx="4254452" cy="425445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471119" y="1514201"/>
            <a:ext cx="4567310" cy="471523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71952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36762" y="233141"/>
            <a:ext cx="78497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chemeClr val="accent2">
                    <a:lumMod val="50000"/>
                  </a:schemeClr>
                </a:solidFill>
                <a:latin typeface="Gill Sans MT" panose="020B0502020104020203" pitchFamily="34" charset="0"/>
              </a:rPr>
              <a:t>Policy / Program Implications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5250" y="1505243"/>
            <a:ext cx="5809957" cy="5893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1900" dirty="0"/>
              <a:t>Strengthen </a:t>
            </a:r>
            <a:r>
              <a:rPr lang="en-US" sz="1900" b="1" dirty="0"/>
              <a:t>alcohol abuse control programs</a:t>
            </a:r>
            <a:r>
              <a:rPr lang="en-US" sz="1900" dirty="0"/>
              <a:t> targeting men.</a:t>
            </a:r>
            <a:br>
              <a:rPr lang="en-US" sz="1900" dirty="0"/>
            </a:br>
            <a:endParaRPr lang="en-US" sz="1900" dirty="0"/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1900" dirty="0"/>
              <a:t>Expand women’s support services such as helplines, legal aid, and shelter homes.</a:t>
            </a:r>
            <a:br>
              <a:rPr lang="en-US" sz="1900" dirty="0"/>
            </a:br>
            <a:endParaRPr lang="en-US" sz="1900" dirty="0"/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1900" dirty="0"/>
              <a:t>Promote </a:t>
            </a:r>
            <a:r>
              <a:rPr lang="en-US" sz="1900" b="1" dirty="0"/>
              <a:t>education and awareness campaigns</a:t>
            </a:r>
            <a:r>
              <a:rPr lang="en-US" sz="1900" dirty="0"/>
              <a:t> on gender equality.</a:t>
            </a:r>
            <a:br>
              <a:rPr lang="en-US" sz="1900" dirty="0"/>
            </a:br>
            <a:endParaRPr lang="en-US" sz="1900" dirty="0"/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1900" dirty="0"/>
              <a:t>Empower women economically </a:t>
            </a:r>
            <a:r>
              <a:rPr lang="en-US" sz="1900" b="1" dirty="0"/>
              <a:t>with safety mechanisms</a:t>
            </a:r>
            <a:r>
              <a:rPr lang="en-US" sz="1900" dirty="0"/>
              <a:t>, not just employment.</a:t>
            </a:r>
            <a:br>
              <a:rPr lang="en-US" sz="1900" dirty="0"/>
            </a:br>
            <a:endParaRPr lang="en-US" sz="1900" dirty="0"/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1900" dirty="0"/>
              <a:t>Increase </a:t>
            </a:r>
            <a:r>
              <a:rPr lang="en-US" sz="1900" b="1" dirty="0"/>
              <a:t>community-based interventions</a:t>
            </a:r>
            <a:r>
              <a:rPr lang="en-US" sz="1900" dirty="0"/>
              <a:t>, especially in high-prevalence states.</a:t>
            </a:r>
            <a:br>
              <a:rPr lang="en-US" sz="1900" dirty="0"/>
            </a:br>
            <a:endParaRPr lang="en-US" sz="1900" dirty="0"/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1900" dirty="0"/>
              <a:t>Encourage routine </a:t>
            </a:r>
            <a:r>
              <a:rPr lang="en-US" sz="1900" b="1" dirty="0"/>
              <a:t>screening for violence</a:t>
            </a:r>
            <a:r>
              <a:rPr lang="en-US" sz="1900" dirty="0"/>
              <a:t> in hospitals and health facilities.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1304" y="2096087"/>
            <a:ext cx="5021275" cy="37779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780627" y="1927273"/>
            <a:ext cx="5257801" cy="41359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50244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236762" y="233141"/>
            <a:ext cx="78497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chemeClr val="accent2">
                    <a:lumMod val="50000"/>
                  </a:schemeClr>
                </a:solidFill>
                <a:latin typeface="Gill Sans MT" panose="020B0502020104020203" pitchFamily="34" charset="0"/>
              </a:rPr>
              <a:t>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665" y="1547447"/>
            <a:ext cx="965043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400" dirty="0"/>
              <a:t>Data is </a:t>
            </a:r>
            <a:r>
              <a:rPr lang="en-US" sz="2400" b="1" dirty="0"/>
              <a:t>self-reported</a:t>
            </a:r>
            <a:r>
              <a:rPr lang="en-US" sz="2400" dirty="0"/>
              <a:t>; women may underreport due to fear or stigma.</a:t>
            </a:r>
            <a:br>
              <a:rPr lang="en-US" sz="2400" dirty="0"/>
            </a:br>
            <a:endParaRPr lang="en-US" sz="24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400" dirty="0"/>
              <a:t>NFHS is cross-sectional, so it shows association but cannot prove cause and effect.</a:t>
            </a:r>
            <a:br>
              <a:rPr lang="en-US" sz="2400" dirty="0"/>
            </a:br>
            <a:endParaRPr lang="en-US" sz="24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400" dirty="0"/>
              <a:t>Only women eligible for </a:t>
            </a:r>
            <a:r>
              <a:rPr lang="en-US" sz="2400" b="1" dirty="0"/>
              <a:t>DV module (v044 = 1)</a:t>
            </a:r>
            <a:r>
              <a:rPr lang="en-US" sz="2400" dirty="0"/>
              <a:t> included, not the entire NFHS sample.</a:t>
            </a:r>
            <a:br>
              <a:rPr lang="en-US" sz="2400" dirty="0"/>
            </a:br>
            <a:endParaRPr lang="en-US" sz="24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400" dirty="0"/>
              <a:t>Some sensitive variables (like alcohol and sexual violence) </a:t>
            </a:r>
            <a:r>
              <a:rPr lang="en-US" sz="2400" b="1" dirty="0"/>
              <a:t>may be underreported</a:t>
            </a:r>
            <a:r>
              <a:rPr lang="en-US" sz="2400" dirty="0"/>
              <a:t>.</a:t>
            </a:r>
            <a:br>
              <a:rPr lang="en-US" sz="2400" dirty="0"/>
            </a:b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NFHS does not capture </a:t>
            </a:r>
            <a:r>
              <a:rPr lang="en-US" sz="2400" b="1" dirty="0"/>
              <a:t>psychological trauma or long-term consequences</a:t>
            </a:r>
            <a:r>
              <a:rPr lang="en-US" sz="2400" dirty="0"/>
              <a:t>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1138470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36762" y="233141"/>
            <a:ext cx="78497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chemeClr val="accent2">
                    <a:lumMod val="50000"/>
                  </a:schemeClr>
                </a:solidFill>
                <a:latin typeface="Gill Sans MT" panose="020B0502020104020203" pitchFamily="34" charset="0"/>
              </a:rPr>
              <a:t> 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6983" y="1540193"/>
            <a:ext cx="6352442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/>
              <a:t>Domestic violence in India remains a </a:t>
            </a:r>
            <a:r>
              <a:rPr lang="en-US" sz="2000" b="1" dirty="0"/>
              <a:t>major public health and human rights issue</a:t>
            </a:r>
            <a:r>
              <a:rPr lang="en-US" sz="2000" dirty="0"/>
              <a:t>.</a:t>
            </a:r>
            <a:br>
              <a:rPr lang="en-US" sz="2000" dirty="0"/>
            </a:br>
            <a:endParaRPr lang="en-US" sz="2000" dirty="0"/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/>
              <a:t>Violence is influenced by </a:t>
            </a:r>
            <a:r>
              <a:rPr lang="en-US" sz="2000" b="1" dirty="0"/>
              <a:t>husband’s alcohol use, education, wealth, and marital status</a:t>
            </a:r>
            <a:r>
              <a:rPr lang="en-US" sz="2000" dirty="0"/>
              <a:t>.</a:t>
            </a:r>
            <a:br>
              <a:rPr lang="en-US" sz="2000" dirty="0"/>
            </a:br>
            <a:endParaRPr lang="en-US" sz="2000" dirty="0"/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/>
              <a:t>Economic independence alone is not enough. Societal norms must change.</a:t>
            </a:r>
            <a:br>
              <a:rPr lang="en-US" sz="2000" dirty="0"/>
            </a:br>
            <a:endParaRPr lang="en-US" sz="2000" dirty="0"/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/>
              <a:t>Urgent need for </a:t>
            </a:r>
            <a:r>
              <a:rPr lang="en-US" sz="2000" b="1" dirty="0"/>
              <a:t>targeted policies</a:t>
            </a:r>
            <a:r>
              <a:rPr lang="en-US" sz="2000" dirty="0"/>
              <a:t>, community awareness, and support services.</a:t>
            </a:r>
            <a:br>
              <a:rPr lang="en-US" sz="2000" dirty="0"/>
            </a:br>
            <a:endParaRPr lang="en-US" sz="2000" dirty="0"/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/>
              <a:t>Empowering women and addressing male alcohol consumption can </a:t>
            </a:r>
            <a:r>
              <a:rPr lang="en-US" sz="2000" b="1" dirty="0"/>
              <a:t>significantly reduce domestic violence</a:t>
            </a:r>
            <a:r>
              <a:rPr lang="en-US" sz="2000" dirty="0"/>
              <a:t>.</a:t>
            </a:r>
            <a:br>
              <a:rPr lang="en-US" sz="2000" dirty="0"/>
            </a:br>
            <a:br>
              <a:rPr lang="en-US" sz="2000" dirty="0"/>
            </a:br>
            <a:endParaRPr lang="en-US" sz="2000" dirty="0"/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65" t="20442" r="2794"/>
          <a:stretch/>
        </p:blipFill>
        <p:spPr>
          <a:xfrm>
            <a:off x="7076049" y="1927274"/>
            <a:ext cx="4937760" cy="3953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2433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355631" y="2692059"/>
            <a:ext cx="585737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b="1" dirty="0">
                <a:solidFill>
                  <a:schemeClr val="accent2">
                    <a:lumMod val="50000"/>
                  </a:schemeClr>
                </a:solidFill>
                <a:latin typeface="Gill Sans MT" panose="020B0502020104020203" pitchFamily="34" charset="0"/>
                <a:cs typeface="Times New Roman" panose="02020603050405020304" pitchFamily="18" charset="0"/>
              </a:rPr>
              <a:t>THANK  YOU</a:t>
            </a:r>
          </a:p>
        </p:txBody>
      </p:sp>
    </p:spTree>
    <p:extLst>
      <p:ext uri="{BB962C8B-B14F-4D97-AF65-F5344CB8AC3E}">
        <p14:creationId xmlns:p14="http://schemas.microsoft.com/office/powerpoint/2010/main" val="17635791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1676</Words>
  <Application>Microsoft Office PowerPoint</Application>
  <PresentationFormat>Widescreen</PresentationFormat>
  <Paragraphs>202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Gill Sans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Nikhil Kumar</cp:lastModifiedBy>
  <cp:revision>28</cp:revision>
  <dcterms:created xsi:type="dcterms:W3CDTF">2025-11-09T13:35:24Z</dcterms:created>
  <dcterms:modified xsi:type="dcterms:W3CDTF">2025-11-10T05:58:50Z</dcterms:modified>
</cp:coreProperties>
</file>